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11_1C53B26B.xml" ContentType="application/vnd.ms-powerpoint.comments+xml"/>
  <Override PartName="/ppt/notesSlides/notesSlide4.xml" ContentType="application/vnd.openxmlformats-officedocument.presentationml.notesSlide+xml"/>
  <Override PartName="/ppt/comments/modernComment_106_0.xml" ContentType="application/vnd.ms-powerpoint.comments+xml"/>
  <Override PartName="/ppt/notesSlides/notesSlide5.xml" ContentType="application/vnd.openxmlformats-officedocument.presentationml.notesSlide+xml"/>
  <Override PartName="/ppt/comments/modernComment_113_FA4A340F.xml" ContentType="application/vnd.ms-powerpoint.comments+xml"/>
  <Override PartName="/ppt/notesSlides/notesSlide6.xml" ContentType="application/vnd.openxmlformats-officedocument.presentationml.notesSlide+xml"/>
  <Override PartName="/ppt/comments/modernComment_114_7145AA0E.xml" ContentType="application/vnd.ms-powerpoint.comments+xml"/>
  <Override PartName="/ppt/notesSlides/notesSlide7.xml" ContentType="application/vnd.openxmlformats-officedocument.presentationml.notesSlide+xml"/>
  <Override PartName="/ppt/comments/modernComment_116_85D8DBFF.xml" ContentType="application/vnd.ms-powerpoint.comments+xml"/>
  <Override PartName="/ppt/notesSlides/notesSlide8.xml" ContentType="application/vnd.openxmlformats-officedocument.presentationml.notesSlide+xml"/>
  <Override PartName="/ppt/comments/modernComment_117_5CDA1FD6.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1A_E07BE212.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0F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18"/>
  </p:notesMasterIdLst>
  <p:sldIdLst>
    <p:sldId id="256" r:id="rId3"/>
    <p:sldId id="272" r:id="rId4"/>
    <p:sldId id="273" r:id="rId5"/>
    <p:sldId id="262" r:id="rId6"/>
    <p:sldId id="275" r:id="rId7"/>
    <p:sldId id="276" r:id="rId8"/>
    <p:sldId id="278" r:id="rId9"/>
    <p:sldId id="279" r:id="rId10"/>
    <p:sldId id="280" r:id="rId11"/>
    <p:sldId id="281" r:id="rId12"/>
    <p:sldId id="282" r:id="rId13"/>
    <p:sldId id="283" r:id="rId14"/>
    <p:sldId id="284" r:id="rId15"/>
    <p:sldId id="285" r:id="rId16"/>
    <p:sldId id="271" r:id="rId17"/>
  </p:sldIdLst>
  <p:sldSz cx="9144000" cy="5143500" type="screen16x9"/>
  <p:notesSz cx="6858000" cy="9144000"/>
  <p:embeddedFontLst>
    <p:embeddedFont>
      <p:font typeface="Montserrat" panose="00000500000000000000" pitchFamily="2" charset="0"/>
      <p:regular r:id="rId19"/>
      <p:bold r:id="rId20"/>
      <p:italic r:id="rId21"/>
      <p:boldItalic r:id="rId22"/>
    </p:embeddedFont>
    <p:embeddedFont>
      <p:font typeface="Montserrat Medium" panose="00000600000000000000" pitchFamily="2" charset="0"/>
      <p:regular r:id="rId23"/>
      <p:bold r:id="rId24"/>
      <p:italic r:id="rId25"/>
      <p:boldItalic r:id="rId26"/>
    </p:embeddedFont>
    <p:embeddedFont>
      <p:font typeface="Montserrat SemiBold" panose="000007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DE80061E-237B-6E8C-00C2-9406B0E42C15}" name="Thao Bui" initials="TB" userId="S::buithao1@cityuniversity.edu::5e3b10dc-5377-4629-a5c8-cbba4c99cb93" providerId="AD"/>
  <p188:author id="{6CDF9B4B-1D01-0AD7-93BF-1659138B622C}" name="Khanh Duy Bui" initials="KB" userId="S::buikhanhduy@cityuniversity.edu::d2184455-83bf-491c-a21b-eea7847e211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0000"/>
    <a:srgbClr val="7F3F00"/>
    <a:srgbClr val="004E9A"/>
    <a:srgbClr val="007BB8"/>
    <a:srgbClr val="A66500"/>
    <a:srgbClr val="005E00"/>
    <a:srgbClr val="A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C5C766-B2E5-0EDB-8423-0B11A6EA7E33}" v="115" dt="2026-09-07T02:18:06.431"/>
    <p1510:client id="{6963C3A3-CC4A-08ED-E6B2-9B96B93771A6}" v="27" dt="2026-09-08T02:03:27.349"/>
    <p1510:client id="{B9FB6EC5-0EC2-81D7-8101-E64B3487332A}" v="2" dt="2026-09-06T18:56:40.089"/>
    <p1510:client id="{C34D9987-3A63-EBA6-0C1F-4B1A05337475}" v="406" dt="2026-09-07T04:26:49.336"/>
  </p1510:revLst>
</p1510:revInfo>
</file>

<file path=ppt/tableStyles.xml><?xml version="1.0" encoding="utf-8"?>
<a:tblStyleLst xmlns:a="http://schemas.openxmlformats.org/drawingml/2006/main" def="{86803A34-6F86-4DFE-85D6-938519955848}">
  <a:tblStyle styleId="{86803A34-6F86-4DFE-85D6-93851995584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font" Target="fonts/font10.fntdata"/><Relationship Id="rId36" Type="http://schemas.microsoft.com/office/2018/10/relationships/authors" Target="authors.xml"/><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microsoft.com/office/2015/10/relationships/revisionInfo" Target="revisionInfo.xml"/><Relationship Id="rId8" Type="http://schemas.openxmlformats.org/officeDocument/2006/relationships/slide" Target="slides/slide6.xml"/></Relationships>
</file>

<file path=ppt/comments/modernComment_10F_0.xml><?xml version="1.0" encoding="utf-8"?>
<p188:cmLst xmlns:a="http://schemas.openxmlformats.org/drawingml/2006/main" xmlns:r="http://schemas.openxmlformats.org/officeDocument/2006/relationships" xmlns:p188="http://schemas.microsoft.com/office/powerpoint/2018/8/main">
  <p188:cm id="{3118F517-4696-4434-B1B7-741F4115280A}" authorId="{6CDF9B4B-1D01-0AD7-93BF-1659138B622C}" created="2026-09-04T03:07:03.506">
    <pc:sldMkLst xmlns:pc="http://schemas.microsoft.com/office/powerpoint/2013/main/command">
      <pc:docMk/>
      <pc:sldMk cId="0" sldId="271"/>
    </pc:sldMkLst>
    <p188:replyLst>
      <p188:reply id="{FABE60EE-A145-428D-B70C-AB4301A48307}" authorId="{DE80061E-237B-6E8C-00C2-9406B0E42C15}" created="2026-09-05T01:01:09.334">
        <p188:txBody>
          <a:bodyPr/>
          <a:lstStyle/>
          <a:p>
            <a:r>
              <a:rPr lang="en-US"/>
              <a:t>CN t chay code r chup bo vo sau slide 13</a:t>
            </a:r>
          </a:p>
        </p188:txBody>
      </p188:reply>
      <p188:reply id="{38742741-DBC7-48F5-9CB4-8E6879576BF5}" authorId="{6CDF9B4B-1D01-0AD7-93BF-1659138B622C}" created="2026-09-06T18:56:40.089">
        <p188:txBody>
          <a:bodyPr/>
          <a:lstStyle/>
          <a:p>
            <a:r>
              <a:rPr lang="en-US"/>
              <a:t>ok</a:t>
            </a:r>
          </a:p>
        </p188:txBody>
      </p188:reply>
    </p188:replyLst>
    <p188:txBody>
      <a:bodyPr/>
      <a:lstStyle/>
      <a:p>
        <a:r>
          <a:rPr lang="en-US"/>
          <a:t>tổng hiện tại là 14 slides, tao nghĩ mình có thể bỏ ra 2-3 slides hiện screenshots cho các code snippets/webpages/emails trong app.</a:t>
        </a:r>
      </a:p>
    </p188:txBody>
  </p188:cm>
  <p188:cm id="{6D1D59E0-15AC-4D8B-8D53-3F8A1B4457CE}" authorId="{6CDF9B4B-1D01-0AD7-93BF-1659138B622C}" status="resolved" created="2026-09-04T03:15:47.934" complete="100000">
    <pc:sldMkLst xmlns:pc="http://schemas.microsoft.com/office/powerpoint/2013/main/command">
      <pc:docMk/>
      <pc:sldMk cId="0" sldId="271"/>
    </pc:sldMkLst>
    <p188:replyLst>
      <p188:reply id="{F106347F-E829-4A1D-9ADE-7DC7432DD0C2}" authorId="{DE80061E-237B-6E8C-00C2-9406B0E42C15}" created="2026-09-05T00:52:18.613">
        <p188:txBody>
          <a:bodyPr/>
          <a:lstStyle/>
          <a:p>
            <a:r>
              <a:rPr lang="en-US"/>
              <a:t>k can dau a</a:t>
            </a:r>
          </a:p>
        </p188:txBody>
      </p188:reply>
    </p188:replyLst>
    <p188:txBody>
      <a:bodyPr/>
      <a:lstStyle/>
      <a:p>
        <a:r>
          <a:rPr lang="en-US"/>
          <a:t>thêm trang ở góc trái
với tao không biết có cần logo university không</a:t>
        </a:r>
      </a:p>
    </p188:txBody>
  </p188:cm>
</p188:cmLst>
</file>

<file path=ppt/comments/modernComment_11A_E07BE212.xml><?xml version="1.0" encoding="utf-8"?>
<p188:cmLst xmlns:a="http://schemas.openxmlformats.org/drawingml/2006/main" xmlns:r="http://schemas.openxmlformats.org/officeDocument/2006/relationships" xmlns:p188="http://schemas.microsoft.com/office/powerpoint/2018/8/main">
  <p188:cm id="{0E3001DF-7269-439B-AD19-CCADC0B424D4}" authorId="{6CDF9B4B-1D01-0AD7-93BF-1659138B622C}" created="2026-09-04T03:04:26.238">
    <pc:sldMkLst xmlns:pc="http://schemas.microsoft.com/office/powerpoint/2013/main/command">
      <pc:docMk/>
      <pc:sldMk cId="3766215186" sldId="282"/>
    </pc:sldMkLst>
    <p188:replyLst>
      <p188:reply id="{5A68D549-4951-4E99-A7BE-5D84EE87785C}" authorId="{DE80061E-237B-6E8C-00C2-9406B0E42C15}" created="2026-09-05T01:00:29.944">
        <p188:txBody>
          <a:bodyPr/>
          <a:lstStyle/>
          <a:p>
            <a:r>
              <a:rPr lang="en-US"/>
              <a:t>de CN t chay r chup hinh bo vao</a:t>
            </a:r>
          </a:p>
        </p188:txBody>
      </p188:reply>
      <p188:reply id="{9DD70DC6-75D4-4293-9A8B-63E1998B3BBB}" authorId="{6CDF9B4B-1D01-0AD7-93BF-1659138B622C}" created="2026-09-06T18:56:26.448">
        <p188:txBody>
          <a:bodyPr/>
          <a:lstStyle/>
          <a:p>
            <a:r>
              <a:rPr lang="en-US"/>
              <a:t>ok</a:t>
            </a:r>
          </a:p>
        </p188:txBody>
      </p188:reply>
    </p188:replyLst>
    <p188:txBody>
      <a:bodyPr/>
      <a:lstStyle/>
      <a:p>
        <a:r>
          <a:rPr lang="en-US"/>
          <a:t>slide 9 10 11 về ý nghĩa ok.
cách trình bày tốt hơn (optional) là để them code, email, frontend biểu diễn một số phần quan trọng.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AACE30A9-A536-440F-93E9-9F4928352D98}" authorId="{6CDF9B4B-1D01-0AD7-93BF-1659138B622C}" status="resolved" created="2026-09-04T02:57:41.078" complete="100000">
    <pc:sldMkLst xmlns:pc="http://schemas.microsoft.com/office/powerpoint/2013/main/command">
      <pc:docMk/>
      <pc:sldMk cId="0" sldId="262"/>
    </pc:sldMkLst>
    <p188:txBody>
      <a:bodyPr/>
      <a:lstStyle/>
      <a:p>
        <a:r>
          <a:rPr lang="en-US"/>
          <a:t>logic chuẩn, lưu diagram code lại với điều chỉnh vị trí lại xíu cho dễ nhìn (làm mũi tên của diagram c ngắn lại cũng được)</a:t>
        </a:r>
      </a:p>
    </p188:txBody>
  </p188:cm>
</p188:cmLst>
</file>

<file path=ppt/comments/modernComment_111_1C53B26B.xml><?xml version="1.0" encoding="utf-8"?>
<p188:cmLst xmlns:a="http://schemas.openxmlformats.org/drawingml/2006/main" xmlns:r="http://schemas.openxmlformats.org/officeDocument/2006/relationships" xmlns:p188="http://schemas.microsoft.com/office/powerpoint/2018/8/main">
  <p188:cm id="{1E25A4CC-B9D8-42B2-9652-0E7D83573472}" authorId="{6CDF9B4B-1D01-0AD7-93BF-1659138B622C}" status="resolved" created="2026-09-04T02:55:23.358" complete="100000">
    <pc:sldMkLst xmlns:pc="http://schemas.microsoft.com/office/powerpoint/2013/main/command">
      <pc:docMk/>
      <pc:sldMk cId="475247211" sldId="273"/>
    </pc:sldMkLst>
    <p188:txBody>
      <a:bodyPr/>
      <a:lstStyle/>
      <a:p>
        <a:r>
          <a:rPr lang="en-US"/>
          <a:t>tao vừa clean folder á. Update lại cái mới nhất. Ưu tiên lấy hình trong repo để tránh mấy cái thừa thãi nha</a:t>
        </a:r>
      </a:p>
    </p188:txBody>
  </p188:cm>
</p188:cmLst>
</file>

<file path=ppt/comments/modernComment_113_FA4A340F.xml><?xml version="1.0" encoding="utf-8"?>
<p188:cmLst xmlns:a="http://schemas.openxmlformats.org/drawingml/2006/main" xmlns:r="http://schemas.openxmlformats.org/officeDocument/2006/relationships" xmlns:p188="http://schemas.microsoft.com/office/powerpoint/2018/8/main">
  <p188:cm id="{FA1098A1-E3C5-4A07-9BF4-C03BADD9F672}" authorId="{6CDF9B4B-1D01-0AD7-93BF-1659138B622C}" status="resolved" created="2026-09-04T02:58:47.875" complete="100000">
    <pc:sldMkLst xmlns:pc="http://schemas.microsoft.com/office/powerpoint/2013/main/command">
      <pc:docMk/>
      <pc:sldMk cId="4199166991" sldId="275"/>
    </pc:sldMkLst>
    <p188:replyLst>
      <p188:reply id="{B20F975B-40C0-4DB0-A923-FEF7748A666D}" authorId="{DE80061E-237B-6E8C-00C2-9406B0E42C15}" created="2026-09-05T00:59:58.021">
        <p188:txBody>
          <a:bodyPr/>
          <a:lstStyle/>
          <a:p>
            <a:r>
              <a:rPr lang="en-US"/>
              <a:t>t nghi v oke r, khuc nay noi so qua th a</a:t>
            </a:r>
          </a:p>
        </p188:txBody>
      </p188:reply>
    </p188:replyLst>
    <p188:txBody>
      <a:bodyPr/>
      <a:lstStyle/>
      <a:p>
        <a:r>
          <a:rPr lang="en-US"/>
          <a:t>cái này tùy, theo tao thì cách presentate tốt hơn là để logic diagram với một cái screenshot cho registration form kế bên (hạn chế chữ), nhưng như vầy cũng được</a:t>
        </a:r>
      </a:p>
    </p188:txBody>
  </p188:cm>
</p188:cmLst>
</file>

<file path=ppt/comments/modernComment_114_7145AA0E.xml><?xml version="1.0" encoding="utf-8"?>
<p188:cmLst xmlns:a="http://schemas.openxmlformats.org/drawingml/2006/main" xmlns:r="http://schemas.openxmlformats.org/officeDocument/2006/relationships" xmlns:p188="http://schemas.microsoft.com/office/powerpoint/2018/8/main">
  <p188:cm id="{37B657AD-245E-4D3F-A296-56EB14DDA226}" authorId="{6CDF9B4B-1D01-0AD7-93BF-1659138B622C}" status="resolved" created="2026-09-04T02:59:13.610" complete="100000">
    <pc:sldMkLst xmlns:pc="http://schemas.microsoft.com/office/powerpoint/2013/main/command">
      <pc:docMk/>
      <pc:sldMk cId="1900390926" sldId="276"/>
    </pc:sldMkLst>
    <p188:txBody>
      <a:bodyPr/>
      <a:lstStyle/>
      <a:p>
        <a:r>
          <a:rPr lang="en-US"/>
          <a:t>tương tự với slide trước</a:t>
        </a:r>
      </a:p>
    </p188:txBody>
  </p188:cm>
</p188:cmLst>
</file>

<file path=ppt/comments/modernComment_116_85D8DBFF.xml><?xml version="1.0" encoding="utf-8"?>
<p188:cmLst xmlns:a="http://schemas.openxmlformats.org/drawingml/2006/main" xmlns:r="http://schemas.openxmlformats.org/officeDocument/2006/relationships" xmlns:p188="http://schemas.microsoft.com/office/powerpoint/2018/8/main">
  <p188:cm id="{BF82A509-C8B2-4AEA-84FB-0F61B7D3B0BB}" authorId="{6CDF9B4B-1D01-0AD7-93BF-1659138B622C}" status="resolved" created="2026-09-04T03:00:41.033" complete="100000">
    <pc:sldMkLst xmlns:pc="http://schemas.microsoft.com/office/powerpoint/2013/main/command">
      <pc:docMk/>
      <pc:sldMk cId="2245581823" sldId="278"/>
    </pc:sldMkLst>
    <p188:txBody>
      <a:bodyPr/>
      <a:lstStyle/>
      <a:p>
        <a:r>
          <a:rPr lang="en-US"/>
          <a:t>về XSS, tao không chắc về dòng thứ 3
về CSRF, chuẩn</a:t>
        </a:r>
      </a:p>
    </p188:txBody>
  </p188:cm>
</p188:cmLst>
</file>

<file path=ppt/comments/modernComment_117_5CDA1FD6.xml><?xml version="1.0" encoding="utf-8"?>
<p188:cmLst xmlns:a="http://schemas.openxmlformats.org/drawingml/2006/main" xmlns:r="http://schemas.openxmlformats.org/officeDocument/2006/relationships" xmlns:p188="http://schemas.microsoft.com/office/powerpoint/2018/8/main">
  <p188:cm id="{2D9B9114-279A-4EE8-8232-87FCD24DDA50}" authorId="{6CDF9B4B-1D01-0AD7-93BF-1659138B622C}" status="resolved" created="2026-09-04T03:02:41.877" complete="100000">
    <pc:sldMkLst xmlns:pc="http://schemas.microsoft.com/office/powerpoint/2013/main/command">
      <pc:docMk/>
      <pc:sldMk cId="1557798870" sldId="279"/>
    </pc:sldMkLst>
    <p188:txBody>
      <a:bodyPr/>
      <a:lstStyle/>
      <a:p>
        <a:r>
          <a:rPr lang="en-US"/>
          <a:t>SQL injection: chuẩn
password hashing đúng (dòng 1 2). Nhưng PIN không được hash trong app này, nên bỏ dòng 3. Có thể thay thành một dòng nói ngắn gọn về thuật toán hashing căn bản của bcrypt áp dụng trong utils.py</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260c1179a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260c1179a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We're presenting our Multi-Factor Authentication system, built for CS504 Software Engineering. </a:t>
            </a:r>
          </a:p>
          <a:p>
            <a:pPr marL="0" lvl="0" indent="0" algn="l" rtl="0">
              <a:spcBef>
                <a:spcPts val="0"/>
              </a:spcBef>
              <a:spcAft>
                <a:spcPts val="0"/>
              </a:spcAft>
              <a:buNone/>
            </a:pPr>
            <a:endParaRPr lang="en-US"/>
          </a:p>
          <a:p>
            <a:pPr marL="0" lvl="0" indent="0" algn="l" rtl="0">
              <a:spcBef>
                <a:spcPts val="0"/>
              </a:spcBef>
              <a:spcAft>
                <a:spcPts val="0"/>
              </a:spcAft>
              <a:buNone/>
            </a:pPr>
            <a:r>
              <a:rPr lang="en-US"/>
              <a:t>This project walks through the design, implementation, and security evaluation of a Flask-based authentication system, from initial idea to what we have running today.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CB1C097-A057-603B-29AC-E28AFBCFD879}"/>
            </a:ext>
          </a:extLst>
        </p:cNvPr>
        <p:cNvGrpSpPr/>
        <p:nvPr/>
      </p:nvGrpSpPr>
      <p:grpSpPr>
        <a:xfrm>
          <a:off x="0" y="0"/>
          <a:ext cx="0" cy="0"/>
          <a:chOff x="0" y="0"/>
          <a:chExt cx="0" cy="0"/>
        </a:xfrm>
      </p:grpSpPr>
      <p:sp>
        <p:nvSpPr>
          <p:cNvPr id="272" name="Google Shape;272;g2199802a7ca_0_8:notes">
            <a:extLst>
              <a:ext uri="{FF2B5EF4-FFF2-40B4-BE49-F238E27FC236}">
                <a16:creationId xmlns:a16="http://schemas.microsoft.com/office/drawing/2014/main" id="{7C19C39F-0F33-D31D-B29D-0501387A68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199802a7ca_0_8:notes">
            <a:extLst>
              <a:ext uri="{FF2B5EF4-FFF2-40B4-BE49-F238E27FC236}">
                <a16:creationId xmlns:a16="http://schemas.microsoft.com/office/drawing/2014/main" id="{74246118-F880-0EB2-6A5E-A235FD9D4D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Here's how we'll walk through this. </a:t>
            </a:r>
          </a:p>
          <a:p>
            <a:pPr marL="0" lvl="0" indent="0" algn="l" rtl="0">
              <a:spcBef>
                <a:spcPts val="0"/>
              </a:spcBef>
              <a:spcAft>
                <a:spcPts val="0"/>
              </a:spcAft>
              <a:buNone/>
            </a:pPr>
            <a:endParaRPr lang="en-US"/>
          </a:p>
          <a:p>
            <a:pPr marL="0" lvl="0" indent="0" algn="l" rtl="0">
              <a:spcBef>
                <a:spcPts val="0"/>
              </a:spcBef>
              <a:spcAft>
                <a:spcPts val="0"/>
              </a:spcAft>
              <a:buNone/>
            </a:pPr>
            <a:r>
              <a:rPr lang="en-US"/>
              <a:t>We'll start with the architecture — how the app is structured. </a:t>
            </a:r>
          </a:p>
          <a:p>
            <a:pPr marL="0" lvl="0" indent="0" algn="l" rtl="0">
              <a:spcBef>
                <a:spcPts val="0"/>
              </a:spcBef>
              <a:spcAft>
                <a:spcPts val="0"/>
              </a:spcAft>
              <a:buNone/>
            </a:pPr>
            <a:endParaRPr lang="en-US"/>
          </a:p>
          <a:p>
            <a:pPr marL="0" lvl="0" indent="0" algn="l" rtl="0">
              <a:spcBef>
                <a:spcPts val="0"/>
              </a:spcBef>
              <a:spcAft>
                <a:spcPts val="0"/>
              </a:spcAft>
              <a:buNone/>
            </a:pPr>
            <a:r>
              <a:rPr lang="en-US"/>
              <a:t>Then the two core flows, registration and login. </a:t>
            </a:r>
          </a:p>
          <a:p>
            <a:pPr marL="0" lvl="0" indent="0" algn="l" rtl="0">
              <a:spcBef>
                <a:spcPts val="0"/>
              </a:spcBef>
              <a:spcAft>
                <a:spcPts val="0"/>
              </a:spcAft>
              <a:buNone/>
            </a:pPr>
            <a:endParaRPr lang="en-US"/>
          </a:p>
          <a:p>
            <a:pPr marL="0" lvl="0" indent="0" algn="l" rtl="0">
              <a:spcBef>
                <a:spcPts val="0"/>
              </a:spcBef>
              <a:spcAft>
                <a:spcPts val="0"/>
              </a:spcAft>
              <a:buNone/>
            </a:pPr>
            <a:r>
              <a:rPr lang="en-US"/>
              <a:t>From there we'll go deep into five specific security controls we implemented, followed by a closer look at our second factor and session management. </a:t>
            </a:r>
          </a:p>
          <a:p>
            <a:pPr marL="0" lvl="0" indent="0" algn="l" rtl="0">
              <a:spcBef>
                <a:spcPts val="0"/>
              </a:spcBef>
              <a:spcAft>
                <a:spcPts val="0"/>
              </a:spcAft>
              <a:buNone/>
            </a:pPr>
            <a:endParaRPr lang="en-US"/>
          </a:p>
          <a:p>
            <a:pPr marL="0" lvl="0" indent="0" algn="l" rtl="0">
              <a:spcBef>
                <a:spcPts val="0"/>
              </a:spcBef>
              <a:spcAft>
                <a:spcPts val="0"/>
              </a:spcAft>
              <a:buNone/>
            </a:pPr>
            <a:r>
              <a:rPr lang="en-US"/>
              <a:t>We'll close with what's still left to do, and if time allows, a live demo.</a:t>
            </a:r>
            <a:endParaRPr/>
          </a:p>
        </p:txBody>
      </p:sp>
    </p:spTree>
    <p:extLst>
      <p:ext uri="{BB962C8B-B14F-4D97-AF65-F5344CB8AC3E}">
        <p14:creationId xmlns:p14="http://schemas.microsoft.com/office/powerpoint/2010/main" val="104421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a:extLst>
            <a:ext uri="{FF2B5EF4-FFF2-40B4-BE49-F238E27FC236}">
              <a16:creationId xmlns:a16="http://schemas.microsoft.com/office/drawing/2014/main" id="{8C76BF0F-3D5D-9E6B-03C5-DB861BC07C80}"/>
            </a:ext>
          </a:extLst>
        </p:cNvPr>
        <p:cNvGrpSpPr/>
        <p:nvPr/>
      </p:nvGrpSpPr>
      <p:grpSpPr>
        <a:xfrm>
          <a:off x="0" y="0"/>
          <a:ext cx="0" cy="0"/>
          <a:chOff x="0" y="0"/>
          <a:chExt cx="0" cy="0"/>
        </a:xfrm>
      </p:grpSpPr>
      <p:sp>
        <p:nvSpPr>
          <p:cNvPr id="493" name="Google Shape;493;g2199802a7ca_0_82:notes">
            <a:extLst>
              <a:ext uri="{FF2B5EF4-FFF2-40B4-BE49-F238E27FC236}">
                <a16:creationId xmlns:a16="http://schemas.microsoft.com/office/drawing/2014/main" id="{0CC6BEB8-82B7-C54E-8F98-BFDCEA3F51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199802a7ca_0_82:notes">
            <a:extLst>
              <a:ext uri="{FF2B5EF4-FFF2-40B4-BE49-F238E27FC236}">
                <a16:creationId xmlns:a16="http://schemas.microsoft.com/office/drawing/2014/main" id="{3FCB2EC0-0640-6B02-1A49-730FA278DA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This is how our codebase is organized. </a:t>
            </a:r>
          </a:p>
          <a:p>
            <a:pPr marL="0" lvl="0" indent="0" algn="l" rtl="0">
              <a:spcBef>
                <a:spcPts val="0"/>
              </a:spcBef>
              <a:spcAft>
                <a:spcPts val="0"/>
              </a:spcAft>
              <a:buNone/>
            </a:pPr>
            <a:endParaRPr lang="en-US"/>
          </a:p>
          <a:p>
            <a:pPr marL="0" lvl="0" indent="0" algn="l" rtl="0">
              <a:spcBef>
                <a:spcPts val="0"/>
              </a:spcBef>
              <a:spcAft>
                <a:spcPts val="0"/>
              </a:spcAft>
              <a:buNone/>
            </a:pPr>
            <a:r>
              <a:rPr lang="en-US"/>
              <a:t>Everything lives under an “</a:t>
            </a:r>
            <a:r>
              <a:rPr lang="en-US">
                <a:solidFill>
                  <a:srgbClr val="ED0000"/>
                </a:solidFill>
              </a:rPr>
              <a:t>app/”</a:t>
            </a:r>
            <a:r>
              <a:rPr lang="en-US"/>
              <a:t> package, built with Flask's application factory pattern. </a:t>
            </a:r>
          </a:p>
          <a:p>
            <a:pPr marL="0" lvl="0" indent="0" algn="l" rtl="0">
              <a:spcBef>
                <a:spcPts val="0"/>
              </a:spcBef>
              <a:spcAft>
                <a:spcPts val="0"/>
              </a:spcAft>
              <a:buNone/>
            </a:pPr>
            <a:endParaRPr lang="en-US"/>
          </a:p>
          <a:p>
            <a:pPr marL="0" lvl="0" indent="0" algn="l" rtl="0">
              <a:spcBef>
                <a:spcPts val="0"/>
              </a:spcBef>
              <a:spcAft>
                <a:spcPts val="0"/>
              </a:spcAft>
              <a:buNone/>
            </a:pPr>
            <a:r>
              <a:rPr lang="en-US"/>
              <a:t>Inside, “main/” holds our routes, forms, and error handling as a Blueprint.</a:t>
            </a:r>
          </a:p>
          <a:p>
            <a:pPr marL="0" lvl="0" indent="0" algn="l" rtl="0">
              <a:spcBef>
                <a:spcPts val="0"/>
              </a:spcBef>
              <a:spcAft>
                <a:spcPts val="0"/>
              </a:spcAft>
              <a:buNone/>
            </a:pPr>
            <a:endParaRPr lang="en-US"/>
          </a:p>
          <a:p>
            <a:pPr marL="0" lvl="0" indent="0" algn="l" rtl="0">
              <a:spcBef>
                <a:spcPts val="0"/>
              </a:spcBef>
              <a:spcAft>
                <a:spcPts val="0"/>
              </a:spcAft>
              <a:buNone/>
            </a:pPr>
            <a:r>
              <a:rPr lang="en-US"/>
              <a:t>“models.py” defines our database structure, </a:t>
            </a:r>
          </a:p>
          <a:p>
            <a:pPr marL="0" lvl="0" indent="0" algn="l" rtl="0">
              <a:spcBef>
                <a:spcPts val="0"/>
              </a:spcBef>
              <a:spcAft>
                <a:spcPts val="0"/>
              </a:spcAft>
              <a:buNone/>
            </a:pPr>
            <a:r>
              <a:rPr lang="en-US"/>
              <a:t>“email.py” handles outbound email, </a:t>
            </a:r>
          </a:p>
          <a:p>
            <a:pPr marL="0" lvl="0" indent="0" algn="l" rtl="0">
              <a:spcBef>
                <a:spcPts val="0"/>
              </a:spcBef>
              <a:spcAft>
                <a:spcPts val="0"/>
              </a:spcAft>
              <a:buNone/>
            </a:pPr>
            <a:r>
              <a:rPr lang="en-US"/>
              <a:t>and “config.py” keeps secrets separate from the application logic.</a:t>
            </a:r>
            <a:endParaRPr/>
          </a:p>
        </p:txBody>
      </p:sp>
    </p:spTree>
    <p:extLst>
      <p:ext uri="{BB962C8B-B14F-4D97-AF65-F5344CB8AC3E}">
        <p14:creationId xmlns:p14="http://schemas.microsoft.com/office/powerpoint/2010/main" val="1685122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2199802a7ca_0_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2199802a7ca_0_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Our app follows a standard three-layer architecture. </a:t>
            </a:r>
          </a:p>
          <a:p>
            <a:pPr marL="0" lvl="0" indent="0" algn="l" rtl="0">
              <a:spcBef>
                <a:spcPts val="0"/>
              </a:spcBef>
              <a:spcAft>
                <a:spcPts val="0"/>
              </a:spcAft>
              <a:buNone/>
            </a:pPr>
            <a:endParaRPr lang="en-US"/>
          </a:p>
          <a:p>
            <a:pPr marL="0" lvl="0" indent="0" algn="l" rtl="0">
              <a:spcBef>
                <a:spcPts val="0"/>
              </a:spcBef>
              <a:spcAft>
                <a:spcPts val="0"/>
              </a:spcAft>
              <a:buNone/>
            </a:pPr>
            <a:r>
              <a:rPr lang="en-US"/>
              <a:t>Presentation — what the user sees — is HTML rendered through Jinja2 templates. </a:t>
            </a:r>
          </a:p>
          <a:p>
            <a:pPr marL="0" lvl="0" indent="0" algn="l" rtl="0">
              <a:spcBef>
                <a:spcPts val="0"/>
              </a:spcBef>
              <a:spcAft>
                <a:spcPts val="0"/>
              </a:spcAft>
              <a:buNone/>
            </a:pPr>
            <a:endParaRPr lang="en-US"/>
          </a:p>
          <a:p>
            <a:pPr marL="0" lvl="0" indent="0" algn="l" rtl="0">
              <a:spcBef>
                <a:spcPts val="0"/>
              </a:spcBef>
              <a:spcAft>
                <a:spcPts val="0"/>
              </a:spcAft>
              <a:buNone/>
            </a:pPr>
            <a:r>
              <a:rPr lang="en-US"/>
              <a:t>Application logic is Flask itself, handling requests and routing. </a:t>
            </a:r>
          </a:p>
          <a:p>
            <a:pPr marL="0" lvl="0" indent="0" algn="l" rtl="0">
              <a:spcBef>
                <a:spcPts val="0"/>
              </a:spcBef>
              <a:spcAft>
                <a:spcPts val="0"/>
              </a:spcAft>
              <a:buNone/>
            </a:pPr>
            <a:endParaRPr lang="en-US"/>
          </a:p>
          <a:p>
            <a:pPr marL="0" lvl="0" indent="0" algn="l" rtl="0">
              <a:spcBef>
                <a:spcPts val="0"/>
              </a:spcBef>
              <a:spcAft>
                <a:spcPts val="0"/>
              </a:spcAft>
              <a:buNone/>
            </a:pPr>
            <a:r>
              <a:rPr lang="en-US"/>
              <a:t>And the data layer is SQLite, accessed through </a:t>
            </a:r>
            <a:r>
              <a:rPr lang="en-US" err="1"/>
              <a:t>SQLAlchemy's</a:t>
            </a:r>
            <a:r>
              <a:rPr lang="en-US"/>
              <a:t> ORM rather than raw SQL. </a:t>
            </a:r>
          </a:p>
          <a:p>
            <a:pPr marL="0" lvl="0" indent="0" algn="l" rtl="0">
              <a:spcBef>
                <a:spcPts val="0"/>
              </a:spcBef>
              <a:spcAft>
                <a:spcPts val="0"/>
              </a:spcAft>
              <a:buNone/>
            </a:pPr>
            <a:endParaRPr lang="en-US"/>
          </a:p>
          <a:p>
            <a:pPr marL="0" lvl="0" indent="0" algn="l" rtl="0">
              <a:spcBef>
                <a:spcPts val="0"/>
              </a:spcBef>
              <a:spcAft>
                <a:spcPts val="0"/>
              </a:spcAft>
              <a:buNone/>
            </a:pPr>
            <a:r>
              <a:rPr lang="en-US"/>
              <a:t>Separating these layers means we can change how something looks without touching the logic underneath, </a:t>
            </a:r>
          </a:p>
          <a:p>
            <a:pPr marL="0" lvl="0" indent="0" algn="l" rtl="0">
              <a:spcBef>
                <a:spcPts val="0"/>
              </a:spcBef>
              <a:spcAft>
                <a:spcPts val="0"/>
              </a:spcAft>
              <a:buNone/>
            </a:pPr>
            <a:r>
              <a:rPr lang="en-US"/>
              <a:t>or change how we query the database without touching our routes.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3F2E8698-0AB2-CA13-9E48-1975B0B76CC3}"/>
            </a:ext>
          </a:extLst>
        </p:cNvPr>
        <p:cNvGrpSpPr/>
        <p:nvPr/>
      </p:nvGrpSpPr>
      <p:grpSpPr>
        <a:xfrm>
          <a:off x="0" y="0"/>
          <a:ext cx="0" cy="0"/>
          <a:chOff x="0" y="0"/>
          <a:chExt cx="0" cy="0"/>
        </a:xfrm>
      </p:grpSpPr>
      <p:sp>
        <p:nvSpPr>
          <p:cNvPr id="163" name="Google Shape;163;g218b79e9735_0_32:notes">
            <a:extLst>
              <a:ext uri="{FF2B5EF4-FFF2-40B4-BE49-F238E27FC236}">
                <a16:creationId xmlns:a16="http://schemas.microsoft.com/office/drawing/2014/main" id="{84F1FF05-873B-1C95-8843-8A45BA3674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18b79e9735_0_32:notes">
            <a:extLst>
              <a:ext uri="{FF2B5EF4-FFF2-40B4-BE49-F238E27FC236}">
                <a16:creationId xmlns:a16="http://schemas.microsoft.com/office/drawing/2014/main" id="{60731959-A476-C629-236F-7FF2BA9276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Registration starts simple: username, password, and email. </a:t>
            </a:r>
          </a:p>
          <a:p>
            <a:pPr marL="0" lvl="0" indent="0" algn="l" rtl="0">
              <a:spcBef>
                <a:spcPts val="0"/>
              </a:spcBef>
              <a:spcAft>
                <a:spcPts val="0"/>
              </a:spcAft>
              <a:buNone/>
            </a:pPr>
            <a:endParaRPr lang="en-US"/>
          </a:p>
          <a:p>
            <a:pPr marL="0" lvl="0" indent="0" algn="l" rtl="0">
              <a:spcBef>
                <a:spcPts val="0"/>
              </a:spcBef>
              <a:spcAft>
                <a:spcPts val="0"/>
              </a:spcAft>
              <a:buNone/>
            </a:pPr>
            <a:r>
              <a:rPr lang="en-US"/>
              <a:t>But the account isn't active yet — we create it as pending. </a:t>
            </a:r>
          </a:p>
          <a:p>
            <a:pPr marL="0" lvl="0" indent="0" algn="l" rtl="0">
              <a:spcBef>
                <a:spcPts val="0"/>
              </a:spcBef>
              <a:spcAft>
                <a:spcPts val="0"/>
              </a:spcAft>
              <a:buNone/>
            </a:pPr>
            <a:endParaRPr lang="en-US"/>
          </a:p>
          <a:p>
            <a:pPr marL="0" lvl="0" indent="0" algn="l" rtl="0">
              <a:spcBef>
                <a:spcPts val="0"/>
              </a:spcBef>
              <a:spcAft>
                <a:spcPts val="0"/>
              </a:spcAft>
              <a:buNone/>
            </a:pPr>
            <a:r>
              <a:rPr lang="en-US"/>
              <a:t>We immediately send a verification email with a link that expires in 60 minutes.</a:t>
            </a:r>
          </a:p>
          <a:p>
            <a:pPr marL="0" lvl="0" indent="0" algn="l" rtl="0">
              <a:spcBef>
                <a:spcPts val="0"/>
              </a:spcBef>
              <a:spcAft>
                <a:spcPts val="0"/>
              </a:spcAft>
              <a:buNone/>
            </a:pPr>
            <a:endParaRPr lang="en-US"/>
          </a:p>
          <a:p>
            <a:pPr marL="0" lvl="0" indent="0" algn="l" rtl="0">
              <a:spcBef>
                <a:spcPts val="0"/>
              </a:spcBef>
              <a:spcAft>
                <a:spcPts val="0"/>
              </a:spcAft>
              <a:buNone/>
            </a:pPr>
            <a:r>
              <a:rPr lang="en-US"/>
              <a:t>Until the user clicks that link, they cannot log in at all. </a:t>
            </a:r>
          </a:p>
          <a:p>
            <a:pPr marL="0" lvl="0" indent="0" algn="l" rtl="0">
              <a:spcBef>
                <a:spcPts val="0"/>
              </a:spcBef>
              <a:spcAft>
                <a:spcPts val="0"/>
              </a:spcAft>
              <a:buNone/>
            </a:pPr>
            <a:endParaRPr lang="en-US"/>
          </a:p>
          <a:p>
            <a:pPr marL="0" lvl="0" indent="0" algn="l" rtl="0">
              <a:spcBef>
                <a:spcPts val="0"/>
              </a:spcBef>
              <a:spcAft>
                <a:spcPts val="0"/>
              </a:spcAft>
              <a:buNone/>
            </a:pPr>
            <a:r>
              <a:rPr lang="en-US"/>
              <a:t>This gives us confidence that the email address is real and actually belongs to the person registering.</a:t>
            </a:r>
            <a:endParaRPr/>
          </a:p>
        </p:txBody>
      </p:sp>
    </p:spTree>
    <p:extLst>
      <p:ext uri="{BB962C8B-B14F-4D97-AF65-F5344CB8AC3E}">
        <p14:creationId xmlns:p14="http://schemas.microsoft.com/office/powerpoint/2010/main" val="1377766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9EA774B7-44B9-EDDD-D441-44803547DA35}"/>
            </a:ext>
          </a:extLst>
        </p:cNvPr>
        <p:cNvGrpSpPr/>
        <p:nvPr/>
      </p:nvGrpSpPr>
      <p:grpSpPr>
        <a:xfrm>
          <a:off x="0" y="0"/>
          <a:ext cx="0" cy="0"/>
          <a:chOff x="0" y="0"/>
          <a:chExt cx="0" cy="0"/>
        </a:xfrm>
      </p:grpSpPr>
      <p:sp>
        <p:nvSpPr>
          <p:cNvPr id="163" name="Google Shape;163;g218b79e9735_0_32:notes">
            <a:extLst>
              <a:ext uri="{FF2B5EF4-FFF2-40B4-BE49-F238E27FC236}">
                <a16:creationId xmlns:a16="http://schemas.microsoft.com/office/drawing/2014/main" id="{699EBB0E-3642-661F-F49D-1771D28A23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18b79e9735_0_32:notes">
            <a:extLst>
              <a:ext uri="{FF2B5EF4-FFF2-40B4-BE49-F238E27FC236}">
                <a16:creationId xmlns:a16="http://schemas.microsoft.com/office/drawing/2014/main" id="{F65C69DB-A5D7-0862-A36F-4C3D542D4B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Once verified, login starts with username and password. </a:t>
            </a:r>
          </a:p>
          <a:p>
            <a:pPr marL="0" lvl="0" indent="0" algn="l" rtl="0">
              <a:spcBef>
                <a:spcPts val="0"/>
              </a:spcBef>
              <a:spcAft>
                <a:spcPts val="0"/>
              </a:spcAft>
              <a:buNone/>
            </a:pPr>
            <a:endParaRPr lang="en-US"/>
          </a:p>
          <a:p>
            <a:pPr marL="0" lvl="0" indent="0" algn="l" rtl="0">
              <a:spcBef>
                <a:spcPts val="0"/>
              </a:spcBef>
              <a:spcAft>
                <a:spcPts val="0"/>
              </a:spcAft>
              <a:buNone/>
            </a:pPr>
            <a:r>
              <a:rPr lang="en-US"/>
              <a:t>If those check out, we generate a one-time PIN and email it. </a:t>
            </a:r>
          </a:p>
          <a:p>
            <a:pPr marL="0" lvl="0" indent="0" algn="l" rtl="0">
              <a:spcBef>
                <a:spcPts val="0"/>
              </a:spcBef>
              <a:spcAft>
                <a:spcPts val="0"/>
              </a:spcAft>
              <a:buNone/>
            </a:pPr>
            <a:endParaRPr lang="en-US"/>
          </a:p>
          <a:p>
            <a:pPr marL="0" lvl="0" indent="0" algn="l" rtl="0">
              <a:spcBef>
                <a:spcPts val="0"/>
              </a:spcBef>
              <a:spcAft>
                <a:spcPts val="0"/>
              </a:spcAft>
              <a:buNone/>
            </a:pPr>
            <a:r>
              <a:rPr lang="en-US"/>
              <a:t>The user enters that PIN, and only then do we start their session using Flask-Login. </a:t>
            </a:r>
          </a:p>
          <a:p>
            <a:pPr marL="0" lvl="0" indent="0" algn="l" rtl="0">
              <a:spcBef>
                <a:spcPts val="0"/>
              </a:spcBef>
              <a:spcAft>
                <a:spcPts val="0"/>
              </a:spcAft>
              <a:buNone/>
            </a:pPr>
            <a:endParaRPr lang="en-US"/>
          </a:p>
          <a:p>
            <a:pPr marL="0" lvl="0" indent="0" algn="l" rtl="0">
              <a:spcBef>
                <a:spcPts val="0"/>
              </a:spcBef>
              <a:spcAft>
                <a:spcPts val="0"/>
              </a:spcAft>
              <a:buNone/>
            </a:pPr>
            <a:r>
              <a:rPr lang="en-US"/>
              <a:t>Logging out is just as deliberate: it calls </a:t>
            </a:r>
            <a:r>
              <a:rPr lang="en-US" sz="1100" b="0" i="0" u="none" strike="noStrike" cap="none" spc="0" err="1">
                <a:solidFill>
                  <a:srgbClr val="000000"/>
                </a:solidFill>
                <a:latin typeface="Arial"/>
                <a:ea typeface="Arial"/>
                <a:cs typeface="Arial"/>
                <a:sym typeface="Arial"/>
              </a:rPr>
              <a:t>logout_user</a:t>
            </a:r>
            <a:r>
              <a:rPr lang="en-US" sz="1100" b="0" i="0" u="none" strike="noStrike" cap="none" spc="0">
                <a:solidFill>
                  <a:srgbClr val="000000"/>
                </a:solidFill>
                <a:latin typeface="Arial"/>
                <a:ea typeface="Arial"/>
                <a:cs typeface="Arial"/>
                <a:sym typeface="Arial"/>
              </a:rPr>
              <a:t>()</a:t>
            </a:r>
            <a:r>
              <a:rPr lang="en-US"/>
              <a:t>, which invalidates the session so the cookie can no longer be used.</a:t>
            </a:r>
            <a:endParaRPr/>
          </a:p>
        </p:txBody>
      </p:sp>
    </p:spTree>
    <p:extLst>
      <p:ext uri="{BB962C8B-B14F-4D97-AF65-F5344CB8AC3E}">
        <p14:creationId xmlns:p14="http://schemas.microsoft.com/office/powerpoint/2010/main" val="4133331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CA322D3D-D6B9-CDF5-440E-BEB68573AA3C}"/>
            </a:ext>
          </a:extLst>
        </p:cNvPr>
        <p:cNvGrpSpPr/>
        <p:nvPr/>
      </p:nvGrpSpPr>
      <p:grpSpPr>
        <a:xfrm>
          <a:off x="0" y="0"/>
          <a:ext cx="0" cy="0"/>
          <a:chOff x="0" y="0"/>
          <a:chExt cx="0" cy="0"/>
        </a:xfrm>
      </p:grpSpPr>
      <p:sp>
        <p:nvSpPr>
          <p:cNvPr id="163" name="Google Shape;163;g218b79e9735_0_32:notes">
            <a:extLst>
              <a:ext uri="{FF2B5EF4-FFF2-40B4-BE49-F238E27FC236}">
                <a16:creationId xmlns:a16="http://schemas.microsoft.com/office/drawing/2014/main" id="{F7A5A6D8-4D67-DAC0-670F-23CB7B47B1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18b79e9735_0_32:notes">
            <a:extLst>
              <a:ext uri="{FF2B5EF4-FFF2-40B4-BE49-F238E27FC236}">
                <a16:creationId xmlns:a16="http://schemas.microsoft.com/office/drawing/2014/main" id="{F1BE6AF4-8CB2-80D9-EC63-25B5FE068B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a:t>XSS</a:t>
            </a:r>
          </a:p>
          <a:p>
            <a:pPr marL="228600" lvl="0" indent="-228600" algn="l" rtl="0">
              <a:spcBef>
                <a:spcPts val="0"/>
              </a:spcBef>
              <a:spcAft>
                <a:spcPts val="0"/>
              </a:spcAft>
              <a:buAutoNum type="arabicPeriod"/>
            </a:pPr>
            <a:endParaRPr lang="en-US"/>
          </a:p>
          <a:p>
            <a:pPr marL="0" lvl="0" indent="0" algn="l" rtl="0">
              <a:spcBef>
                <a:spcPts val="0"/>
              </a:spcBef>
              <a:spcAft>
                <a:spcPts val="0"/>
              </a:spcAft>
              <a:buNone/>
            </a:pPr>
            <a:r>
              <a:rPr lang="en-US"/>
              <a:t>XSS happens when an attacker sneaks a script into content that later gets rendered in someone else's browser — say, through a username field. </a:t>
            </a:r>
          </a:p>
          <a:p>
            <a:pPr marL="0" lvl="0" indent="0" algn="l" rtl="0">
              <a:spcBef>
                <a:spcPts val="0"/>
              </a:spcBef>
              <a:spcAft>
                <a:spcPts val="0"/>
              </a:spcAft>
              <a:buNone/>
            </a:pPr>
            <a:endParaRPr lang="en-US"/>
          </a:p>
          <a:p>
            <a:pPr marL="0" lvl="0" indent="0" algn="l" rtl="0">
              <a:spcBef>
                <a:spcPts val="0"/>
              </a:spcBef>
              <a:spcAft>
                <a:spcPts val="0"/>
              </a:spcAft>
              <a:buNone/>
            </a:pPr>
            <a:r>
              <a:rPr lang="en-US"/>
              <a:t>Our defense here is mostly automatic: Jinja2, our templating engine, escapes every variable by default. </a:t>
            </a:r>
          </a:p>
          <a:p>
            <a:pPr marL="0" lvl="0" indent="0" algn="l" rtl="0">
              <a:spcBef>
                <a:spcPts val="0"/>
              </a:spcBef>
              <a:spcAft>
                <a:spcPts val="0"/>
              </a:spcAft>
              <a:buNone/>
            </a:pPr>
            <a:endParaRPr lang="en-US"/>
          </a:p>
          <a:p>
            <a:pPr marL="0" lvl="0" indent="0" algn="l" rtl="0">
              <a:spcBef>
                <a:spcPts val="0"/>
              </a:spcBef>
              <a:spcAft>
                <a:spcPts val="0"/>
              </a:spcAft>
              <a:buNone/>
            </a:pPr>
            <a:r>
              <a:rPr lang="en-US"/>
              <a:t>So if someone tries to submit “</a:t>
            </a:r>
            <a:r>
              <a:rPr lang="en-US" sz="1100" b="0" i="0" u="none" strike="noStrike" cap="none" spc="0">
                <a:solidFill>
                  <a:srgbClr val="000000"/>
                </a:solidFill>
                <a:latin typeface="Arial"/>
                <a:ea typeface="Arial"/>
                <a:cs typeface="Arial"/>
                <a:sym typeface="Arial"/>
              </a:rPr>
              <a:t>&lt;script&gt;”</a:t>
            </a:r>
            <a:r>
              <a:rPr lang="en-US"/>
              <a:t> tags as their username, it just shows up as harmless text on the page. </a:t>
            </a:r>
          </a:p>
          <a:p>
            <a:pPr marL="0" lvl="0" indent="0" algn="l" rtl="0">
              <a:spcBef>
                <a:spcPts val="0"/>
              </a:spcBef>
              <a:spcAft>
                <a:spcPts val="0"/>
              </a:spcAft>
              <a:buNone/>
            </a:pPr>
            <a:endParaRPr lang="en-US"/>
          </a:p>
          <a:p>
            <a:pPr marL="0" lvl="0" indent="0" algn="l" rtl="0">
              <a:spcBef>
                <a:spcPts val="0"/>
              </a:spcBef>
              <a:spcAft>
                <a:spcPts val="0"/>
              </a:spcAft>
              <a:buNone/>
            </a:pPr>
            <a:r>
              <a:rPr lang="en-US"/>
              <a:t>The one rule we have to enforce ourselves is never using the “</a:t>
            </a:r>
            <a:r>
              <a:rPr lang="en-US" sz="1100" b="0" i="0" u="none" strike="noStrike" cap="none" spc="0">
                <a:solidFill>
                  <a:srgbClr val="000000"/>
                </a:solidFill>
                <a:latin typeface="Arial"/>
                <a:ea typeface="Arial"/>
                <a:cs typeface="Arial"/>
                <a:sym typeface="Arial"/>
              </a:rPr>
              <a:t>|safe”</a:t>
            </a:r>
            <a:r>
              <a:rPr lang="en-US"/>
              <a:t> filter on user input, since that's the one thing that turns escaping off.</a:t>
            </a:r>
          </a:p>
          <a:p>
            <a:pPr marL="0" lvl="0" indent="0" algn="l" rtl="0">
              <a:spcBef>
                <a:spcPts val="0"/>
              </a:spcBef>
              <a:spcAft>
                <a:spcPts val="0"/>
              </a:spcAft>
              <a:buNone/>
            </a:pPr>
            <a:endParaRPr lang="en-US"/>
          </a:p>
          <a:p>
            <a:pPr marL="0" lvl="0" indent="0" algn="l" rtl="0">
              <a:spcBef>
                <a:spcPts val="0"/>
              </a:spcBef>
              <a:spcAft>
                <a:spcPts val="0"/>
              </a:spcAft>
              <a:buNone/>
            </a:pPr>
            <a:r>
              <a:rPr lang="en-US"/>
              <a:t>2. CSRF</a:t>
            </a:r>
          </a:p>
          <a:p>
            <a:pPr marL="0" lvl="0" indent="0" algn="l" rtl="0">
              <a:spcBef>
                <a:spcPts val="0"/>
              </a:spcBef>
              <a:spcAft>
                <a:spcPts val="0"/>
              </a:spcAft>
              <a:buNone/>
            </a:pPr>
            <a:endParaRPr lang="en-US"/>
          </a:p>
          <a:p>
            <a:pPr marL="0" lvl="0" indent="0" algn="l" rtl="0">
              <a:spcBef>
                <a:spcPts val="0"/>
              </a:spcBef>
              <a:spcAft>
                <a:spcPts val="0"/>
              </a:spcAft>
              <a:buNone/>
            </a:pPr>
            <a:r>
              <a:rPr lang="en-US"/>
              <a:t>CSRF is when an attacker tricks your browser into submitting a request you never intended — while you're still logged in elsewhere. </a:t>
            </a:r>
          </a:p>
          <a:p>
            <a:pPr marL="0" lvl="0" indent="0" algn="l" rtl="0">
              <a:spcBef>
                <a:spcPts val="0"/>
              </a:spcBef>
              <a:spcAft>
                <a:spcPts val="0"/>
              </a:spcAft>
              <a:buNone/>
            </a:pPr>
            <a:endParaRPr lang="en-US"/>
          </a:p>
          <a:p>
            <a:pPr marL="0" lvl="0" indent="0" algn="l" rtl="0">
              <a:spcBef>
                <a:spcPts val="0"/>
              </a:spcBef>
              <a:spcAft>
                <a:spcPts val="0"/>
              </a:spcAft>
              <a:buNone/>
            </a:pPr>
            <a:r>
              <a:rPr lang="en-US"/>
              <a:t>Our forms inherit from Flask-WTF’s “</a:t>
            </a:r>
            <a:r>
              <a:rPr lang="en-US" sz="1100" b="0" i="0" u="none" strike="noStrike" cap="none" spc="0" err="1">
                <a:solidFill>
                  <a:srgbClr val="000000"/>
                </a:solidFill>
                <a:latin typeface="Arial"/>
                <a:ea typeface="Arial"/>
                <a:cs typeface="Arial"/>
                <a:sym typeface="Arial"/>
              </a:rPr>
              <a:t>FlaskForm</a:t>
            </a:r>
            <a:r>
              <a:rPr lang="en-US" sz="1100" b="0" i="0" u="none" strike="noStrike" cap="none" spc="0">
                <a:solidFill>
                  <a:srgbClr val="000000"/>
                </a:solidFill>
                <a:latin typeface="Arial"/>
                <a:ea typeface="Arial"/>
                <a:cs typeface="Arial"/>
                <a:sym typeface="Arial"/>
              </a:rPr>
              <a:t>”</a:t>
            </a:r>
            <a:r>
              <a:rPr lang="en-US"/>
              <a:t> class, which gives us CSRF tokens automatically. </a:t>
            </a:r>
          </a:p>
          <a:p>
            <a:pPr marL="0" lvl="0" indent="0" algn="l" rtl="0">
              <a:spcBef>
                <a:spcPts val="0"/>
              </a:spcBef>
              <a:spcAft>
                <a:spcPts val="0"/>
              </a:spcAft>
              <a:buNone/>
            </a:pPr>
            <a:endParaRPr lang="en-US"/>
          </a:p>
          <a:p>
            <a:pPr marL="0" lvl="0" indent="0" algn="l" rtl="0">
              <a:spcBef>
                <a:spcPts val="0"/>
              </a:spcBef>
              <a:spcAft>
                <a:spcPts val="0"/>
              </a:spcAft>
              <a:buNone/>
            </a:pPr>
            <a:r>
              <a:rPr lang="en-US"/>
              <a:t>Every form embeds one with “</a:t>
            </a:r>
            <a:r>
              <a:rPr lang="en-US" sz="1100" b="0" i="0" u="none" strike="noStrike" cap="none" spc="0" err="1">
                <a:solidFill>
                  <a:srgbClr val="000000"/>
                </a:solidFill>
                <a:latin typeface="Arial"/>
                <a:ea typeface="Arial"/>
                <a:cs typeface="Arial"/>
                <a:sym typeface="Arial"/>
              </a:rPr>
              <a:t>form.hidden_tag</a:t>
            </a:r>
            <a:r>
              <a:rPr lang="en-US" sz="1100" b="0" i="0" u="none" strike="noStrike" cap="none" spc="0">
                <a:solidFill>
                  <a:srgbClr val="000000"/>
                </a:solidFill>
                <a:latin typeface="Arial"/>
                <a:ea typeface="Arial"/>
                <a:cs typeface="Arial"/>
                <a:sym typeface="Arial"/>
              </a:rPr>
              <a:t>()”</a:t>
            </a:r>
            <a:r>
              <a:rPr lang="en-US"/>
              <a:t>, and we check it with “</a:t>
            </a:r>
            <a:r>
              <a:rPr lang="en-US" sz="1100" b="0" i="0" u="none" strike="noStrike" cap="none" spc="0" err="1">
                <a:solidFill>
                  <a:srgbClr val="000000"/>
                </a:solidFill>
                <a:latin typeface="Arial"/>
                <a:ea typeface="Arial"/>
                <a:cs typeface="Arial"/>
                <a:sym typeface="Arial"/>
              </a:rPr>
              <a:t>form.validate_on_submit</a:t>
            </a:r>
            <a:r>
              <a:rPr lang="en-US" sz="1100" b="0" i="0" u="none" strike="noStrike" cap="none" spc="0">
                <a:solidFill>
                  <a:srgbClr val="000000"/>
                </a:solidFill>
                <a:latin typeface="Arial"/>
                <a:ea typeface="Arial"/>
                <a:cs typeface="Arial"/>
                <a:sym typeface="Arial"/>
              </a:rPr>
              <a:t>()”</a:t>
            </a:r>
            <a:r>
              <a:rPr lang="en-US"/>
              <a:t> before any login or registration logic runs. </a:t>
            </a:r>
          </a:p>
          <a:p>
            <a:pPr marL="0" lvl="0" indent="0" algn="l" rtl="0">
              <a:spcBef>
                <a:spcPts val="0"/>
              </a:spcBef>
              <a:spcAft>
                <a:spcPts val="0"/>
              </a:spcAft>
              <a:buNone/>
            </a:pPr>
            <a:endParaRPr lang="en-US"/>
          </a:p>
          <a:p>
            <a:pPr marL="0" lvl="0" indent="0" algn="l" rtl="0">
              <a:spcBef>
                <a:spcPts val="0"/>
              </a:spcBef>
              <a:spcAft>
                <a:spcPts val="0"/>
              </a:spcAft>
              <a:buNone/>
            </a:pPr>
            <a:r>
              <a:rPr lang="en-US"/>
              <a:t>No valid token, no request goes through.</a:t>
            </a:r>
            <a:endParaRPr/>
          </a:p>
        </p:txBody>
      </p:sp>
    </p:spTree>
    <p:extLst>
      <p:ext uri="{BB962C8B-B14F-4D97-AF65-F5344CB8AC3E}">
        <p14:creationId xmlns:p14="http://schemas.microsoft.com/office/powerpoint/2010/main" val="2503477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07D42584-D110-3BD1-472B-6B506D05DCB7}"/>
            </a:ext>
          </a:extLst>
        </p:cNvPr>
        <p:cNvGrpSpPr/>
        <p:nvPr/>
      </p:nvGrpSpPr>
      <p:grpSpPr>
        <a:xfrm>
          <a:off x="0" y="0"/>
          <a:ext cx="0" cy="0"/>
          <a:chOff x="0" y="0"/>
          <a:chExt cx="0" cy="0"/>
        </a:xfrm>
      </p:grpSpPr>
      <p:sp>
        <p:nvSpPr>
          <p:cNvPr id="163" name="Google Shape;163;g218b79e9735_0_32:notes">
            <a:extLst>
              <a:ext uri="{FF2B5EF4-FFF2-40B4-BE49-F238E27FC236}">
                <a16:creationId xmlns:a16="http://schemas.microsoft.com/office/drawing/2014/main" id="{9D604BAF-07F0-727D-4BB5-E2551C7BA6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18b79e9735_0_32:notes">
            <a:extLst>
              <a:ext uri="{FF2B5EF4-FFF2-40B4-BE49-F238E27FC236}">
                <a16:creationId xmlns:a16="http://schemas.microsoft.com/office/drawing/2014/main" id="{A72C9780-E18E-2C41-B7A9-5102FF0652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3. SQL Injection</a:t>
            </a:r>
          </a:p>
          <a:p>
            <a:pPr marL="0" lvl="0" indent="0" algn="l" rtl="0">
              <a:spcBef>
                <a:spcPts val="0"/>
              </a:spcBef>
              <a:spcAft>
                <a:spcPts val="0"/>
              </a:spcAft>
              <a:buNone/>
            </a:pPr>
            <a:endParaRPr lang="en-US"/>
          </a:p>
          <a:p>
            <a:pPr marL="0" lvl="0" indent="0" algn="l" rtl="0">
              <a:spcBef>
                <a:spcPts val="0"/>
              </a:spcBef>
              <a:spcAft>
                <a:spcPts val="0"/>
              </a:spcAft>
              <a:buNone/>
            </a:pPr>
            <a:r>
              <a:rPr lang="en-US"/>
              <a:t>SQL injection happens when user input gets concatenated directly into a SQL query, letting an attacker change what that query actually does. </a:t>
            </a:r>
          </a:p>
          <a:p>
            <a:pPr marL="0" lvl="0" indent="0" algn="l" rtl="0">
              <a:spcBef>
                <a:spcPts val="0"/>
              </a:spcBef>
              <a:spcAft>
                <a:spcPts val="0"/>
              </a:spcAft>
              <a:buNone/>
            </a:pPr>
            <a:endParaRPr lang="en-US"/>
          </a:p>
          <a:p>
            <a:pPr marL="0" lvl="0" indent="0" algn="l" rtl="0">
              <a:spcBef>
                <a:spcPts val="0"/>
              </a:spcBef>
              <a:spcAft>
                <a:spcPts val="0"/>
              </a:spcAft>
              <a:buNone/>
            </a:pPr>
            <a:r>
              <a:rPr lang="en-US"/>
              <a:t>We avoid that entirely by using </a:t>
            </a:r>
            <a:r>
              <a:rPr lang="en-US" err="1"/>
              <a:t>SQLAlchemy's</a:t>
            </a:r>
            <a:r>
              <a:rPr lang="en-US"/>
              <a:t> ORM. </a:t>
            </a:r>
          </a:p>
          <a:p>
            <a:pPr marL="0" lvl="0" indent="0" algn="l" rtl="0">
              <a:spcBef>
                <a:spcPts val="0"/>
              </a:spcBef>
              <a:spcAft>
                <a:spcPts val="0"/>
              </a:spcAft>
              <a:buNone/>
            </a:pPr>
            <a:endParaRPr lang="en-US"/>
          </a:p>
          <a:p>
            <a:pPr marL="0" lvl="0" indent="0" algn="l" rtl="0">
              <a:spcBef>
                <a:spcPts val="0"/>
              </a:spcBef>
              <a:spcAft>
                <a:spcPts val="0"/>
              </a:spcAft>
              <a:buNone/>
            </a:pPr>
            <a:r>
              <a:rPr lang="en-US"/>
              <a:t>Instead of writing SQL strings, we write things like “</a:t>
            </a:r>
            <a:r>
              <a:rPr lang="en-US" err="1"/>
              <a:t>User.query.filter_by</a:t>
            </a:r>
            <a:r>
              <a:rPr lang="en-US"/>
              <a:t>(username=username)” — the input is always treated as a value, never as part of the command itself.</a:t>
            </a:r>
          </a:p>
          <a:p>
            <a:pPr marL="0" lvl="0" indent="0" algn="l" rtl="0">
              <a:spcBef>
                <a:spcPts val="0"/>
              </a:spcBef>
              <a:spcAft>
                <a:spcPts val="0"/>
              </a:spcAft>
              <a:buNone/>
            </a:pPr>
            <a:endParaRPr lang="en-US"/>
          </a:p>
          <a:p>
            <a:pPr marL="0" lvl="0" indent="0" algn="l" rtl="0">
              <a:spcBef>
                <a:spcPts val="0"/>
              </a:spcBef>
              <a:spcAft>
                <a:spcPts val="0"/>
              </a:spcAft>
              <a:buNone/>
            </a:pPr>
            <a:r>
              <a:rPr lang="en-US"/>
              <a:t>4. Password &amp; PIN Hashing</a:t>
            </a:r>
          </a:p>
          <a:p>
            <a:pPr marL="0" lvl="0" indent="0" algn="l" rtl="0">
              <a:spcBef>
                <a:spcPts val="0"/>
              </a:spcBef>
              <a:spcAft>
                <a:spcPts val="0"/>
              </a:spcAft>
              <a:buNone/>
            </a:pPr>
            <a:endParaRPr lang="en-US"/>
          </a:p>
          <a:p>
            <a:pPr marL="0" lvl="0" indent="0" algn="l" rtl="0">
              <a:spcBef>
                <a:spcPts val="0"/>
              </a:spcBef>
              <a:spcAft>
                <a:spcPts val="0"/>
              </a:spcAft>
              <a:buNone/>
            </a:pPr>
            <a:r>
              <a:rPr lang="en-US"/>
              <a:t>Both the password and the PIN are hashed with </a:t>
            </a:r>
            <a:r>
              <a:rPr lang="en-US" err="1"/>
              <a:t>bcrypt</a:t>
            </a:r>
            <a:r>
              <a:rPr lang="en-US"/>
              <a:t> before they're ever stored. </a:t>
            </a:r>
          </a:p>
          <a:p>
            <a:pPr marL="0" lvl="0" indent="0" algn="l" rtl="0">
              <a:spcBef>
                <a:spcPts val="0"/>
              </a:spcBef>
              <a:spcAft>
                <a:spcPts val="0"/>
              </a:spcAft>
              <a:buNone/>
            </a:pPr>
            <a:endParaRPr lang="en-US"/>
          </a:p>
          <a:p>
            <a:pPr marL="0" lvl="0" indent="0" algn="l" rtl="0">
              <a:spcBef>
                <a:spcPts val="0"/>
              </a:spcBef>
              <a:spcAft>
                <a:spcPts val="0"/>
              </a:spcAft>
              <a:buNone/>
            </a:pPr>
            <a:r>
              <a:rPr lang="en-US"/>
              <a:t>This was actually a fix — earlier in development, the PIN was being compared with a plain equality check, </a:t>
            </a:r>
            <a:r>
              <a:rPr lang="en-US" err="1"/>
              <a:t>unhashed</a:t>
            </a:r>
            <a:r>
              <a:rPr lang="en-US"/>
              <a:t>. </a:t>
            </a:r>
          </a:p>
          <a:p>
            <a:pPr marL="0" lvl="0" indent="0" algn="l" rtl="0">
              <a:spcBef>
                <a:spcPts val="0"/>
              </a:spcBef>
              <a:spcAft>
                <a:spcPts val="0"/>
              </a:spcAft>
              <a:buNone/>
            </a:pPr>
            <a:endParaRPr lang="en-US"/>
          </a:p>
          <a:p>
            <a:pPr marL="0" lvl="0" indent="0" algn="l" rtl="0">
              <a:spcBef>
                <a:spcPts val="0"/>
              </a:spcBef>
              <a:spcAft>
                <a:spcPts val="0"/>
              </a:spcAft>
              <a:buNone/>
            </a:pPr>
            <a:r>
              <a:rPr lang="en-US"/>
              <a:t>We caught that and moved both hashing operations into our model layer, so neither credential is ever stored or compared in plain text.</a:t>
            </a:r>
          </a:p>
          <a:p>
            <a:pPr marL="0" lvl="0" indent="0" algn="l" rtl="0">
              <a:spcBef>
                <a:spcPts val="0"/>
              </a:spcBef>
              <a:spcAft>
                <a:spcPts val="0"/>
              </a:spcAft>
              <a:buNone/>
            </a:pPr>
            <a:endParaRPr lang="en-US"/>
          </a:p>
          <a:p>
            <a:pPr marL="0" lvl="0" indent="0" algn="l" rtl="0">
              <a:spcBef>
                <a:spcPts val="0"/>
              </a:spcBef>
              <a:spcAft>
                <a:spcPts val="0"/>
              </a:spcAft>
              <a:buNone/>
            </a:pPr>
            <a:r>
              <a:rPr lang="en-US"/>
              <a:t>5. Input Validation</a:t>
            </a:r>
          </a:p>
          <a:p>
            <a:pPr marL="0" lvl="0" indent="0" algn="l" rtl="0">
              <a:spcBef>
                <a:spcPts val="0"/>
              </a:spcBef>
              <a:spcAft>
                <a:spcPts val="0"/>
              </a:spcAft>
              <a:buNone/>
            </a:pPr>
            <a:endParaRPr lang="en-US"/>
          </a:p>
          <a:p>
            <a:pPr marL="0" lvl="0" indent="0" algn="l" rtl="0">
              <a:spcBef>
                <a:spcPts val="0"/>
              </a:spcBef>
              <a:spcAft>
                <a:spcPts val="0"/>
              </a:spcAft>
              <a:buNone/>
            </a:pPr>
            <a:r>
              <a:rPr lang="en-US"/>
              <a:t>All of our field-level validation — required fields, formatting, uniqueness checks — lives in “forms.py”, not scattered through our route handlers. </a:t>
            </a:r>
          </a:p>
          <a:p>
            <a:pPr marL="0" lvl="0" indent="0" algn="l" rtl="0">
              <a:spcBef>
                <a:spcPts val="0"/>
              </a:spcBef>
              <a:spcAft>
                <a:spcPts val="0"/>
              </a:spcAft>
              <a:buNone/>
            </a:pPr>
            <a:endParaRPr lang="en-US"/>
          </a:p>
          <a:p>
            <a:pPr marL="0" lvl="0" indent="0" algn="l" rtl="0">
              <a:spcBef>
                <a:spcPts val="0"/>
              </a:spcBef>
              <a:spcAft>
                <a:spcPts val="0"/>
              </a:spcAft>
              <a:buNone/>
            </a:pPr>
            <a:r>
              <a:rPr lang="en-US"/>
              <a:t>That keeps “views.py” focused purely on routing and rendering, </a:t>
            </a:r>
          </a:p>
          <a:p>
            <a:pPr marL="0" lvl="0" indent="0" algn="l" rtl="0">
              <a:spcBef>
                <a:spcPts val="0"/>
              </a:spcBef>
              <a:spcAft>
                <a:spcPts val="0"/>
              </a:spcAft>
              <a:buNone/>
            </a:pPr>
            <a:r>
              <a:rPr lang="en-US"/>
              <a:t>and it means if we ever need to change a validation rule, there's exactly one place to look.</a:t>
            </a:r>
            <a:endParaRPr/>
          </a:p>
        </p:txBody>
      </p:sp>
    </p:spTree>
    <p:extLst>
      <p:ext uri="{BB962C8B-B14F-4D97-AF65-F5344CB8AC3E}">
        <p14:creationId xmlns:p14="http://schemas.microsoft.com/office/powerpoint/2010/main" val="546991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1E89F997-3AAF-CCCE-C347-86D24F4E3C08}"/>
            </a:ext>
          </a:extLst>
        </p:cNvPr>
        <p:cNvGrpSpPr/>
        <p:nvPr/>
      </p:nvGrpSpPr>
      <p:grpSpPr>
        <a:xfrm>
          <a:off x="0" y="0"/>
          <a:ext cx="0" cy="0"/>
          <a:chOff x="0" y="0"/>
          <a:chExt cx="0" cy="0"/>
        </a:xfrm>
      </p:grpSpPr>
      <p:sp>
        <p:nvSpPr>
          <p:cNvPr id="163" name="Google Shape;163;g218b79e9735_0_32:notes">
            <a:extLst>
              <a:ext uri="{FF2B5EF4-FFF2-40B4-BE49-F238E27FC236}">
                <a16:creationId xmlns:a16="http://schemas.microsoft.com/office/drawing/2014/main" id="{6F0EFC92-DA35-D479-7097-852B6563EA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18b79e9735_0_32:notes">
            <a:extLst>
              <a:ext uri="{FF2B5EF4-FFF2-40B4-BE49-F238E27FC236}">
                <a16:creationId xmlns:a16="http://schemas.microsoft.com/office/drawing/2014/main" id="{AC8C09C3-FABD-F679-88F6-7DCE9D52C8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To support our second factor, we added two new fields to our User model: “</a:t>
            </a:r>
            <a:r>
              <a:rPr lang="en-US" sz="1100" b="0" i="0" u="none" strike="noStrike" cap="none" spc="0">
                <a:solidFill>
                  <a:srgbClr val="000000"/>
                </a:solidFill>
                <a:latin typeface="Arial"/>
                <a:ea typeface="Arial"/>
                <a:cs typeface="Arial"/>
                <a:sym typeface="Arial"/>
              </a:rPr>
              <a:t>email”</a:t>
            </a:r>
            <a:r>
              <a:rPr lang="en-US"/>
              <a:t>, and “</a:t>
            </a:r>
            <a:r>
              <a:rPr lang="en-US" sz="1100" b="0" i="0" u="none" strike="noStrike" cap="none" spc="0" err="1">
                <a:solidFill>
                  <a:srgbClr val="000000"/>
                </a:solidFill>
                <a:latin typeface="Arial"/>
                <a:ea typeface="Arial"/>
                <a:cs typeface="Arial"/>
                <a:sym typeface="Arial"/>
              </a:rPr>
              <a:t>is_email_verified</a:t>
            </a:r>
            <a:r>
              <a:rPr lang="en-US" sz="1100" b="0" i="0" u="none" strike="noStrike" cap="none" spc="0">
                <a:solidFill>
                  <a:srgbClr val="000000"/>
                </a:solidFill>
                <a:latin typeface="Arial"/>
                <a:ea typeface="Arial"/>
                <a:cs typeface="Arial"/>
                <a:sym typeface="Arial"/>
              </a:rPr>
              <a:t>”</a:t>
            </a:r>
            <a:r>
              <a:rPr lang="en-US"/>
              <a:t>. </a:t>
            </a:r>
          </a:p>
          <a:p>
            <a:pPr marL="0" lvl="0" indent="0" algn="l" rtl="0">
              <a:spcBef>
                <a:spcPts val="0"/>
              </a:spcBef>
              <a:spcAft>
                <a:spcPts val="0"/>
              </a:spcAft>
              <a:buNone/>
            </a:pPr>
            <a:endParaRPr lang="en-US"/>
          </a:p>
          <a:p>
            <a:pPr marL="0" lvl="0" indent="0" algn="l" rtl="0">
              <a:spcBef>
                <a:spcPts val="0"/>
              </a:spcBef>
              <a:spcAft>
                <a:spcPts val="0"/>
              </a:spcAft>
              <a:buNone/>
            </a:pPr>
            <a:r>
              <a:rPr lang="en-US"/>
              <a:t>The verification link uses a signed, time-limited token </a:t>
            </a:r>
          </a:p>
          <a:p>
            <a:pPr marL="0" lvl="0" indent="0" algn="l" rtl="0">
              <a:spcBef>
                <a:spcPts val="0"/>
              </a:spcBef>
              <a:spcAft>
                <a:spcPts val="0"/>
              </a:spcAft>
              <a:buNone/>
            </a:pPr>
            <a:r>
              <a:rPr lang="en-US"/>
              <a:t>— it expires after 60 minutes, so an old link can't be reused indefinitely. </a:t>
            </a:r>
          </a:p>
          <a:p>
            <a:pPr marL="0" lvl="0" indent="0" algn="l" rtl="0">
              <a:spcBef>
                <a:spcPts val="0"/>
              </a:spcBef>
              <a:spcAft>
                <a:spcPts val="0"/>
              </a:spcAft>
              <a:buNone/>
            </a:pPr>
            <a:endParaRPr lang="en-US"/>
          </a:p>
          <a:p>
            <a:pPr marL="0" lvl="0" indent="0" algn="l" rtl="0">
              <a:spcBef>
                <a:spcPts val="0"/>
              </a:spcBef>
              <a:spcAft>
                <a:spcPts val="0"/>
              </a:spcAft>
              <a:buNone/>
            </a:pPr>
            <a:r>
              <a:rPr lang="en-US"/>
              <a:t>Until that flag flips to true, the account simply can't log in.</a:t>
            </a:r>
            <a:endParaRPr/>
          </a:p>
        </p:txBody>
      </p:sp>
    </p:spTree>
    <p:extLst>
      <p:ext uri="{BB962C8B-B14F-4D97-AF65-F5344CB8AC3E}">
        <p14:creationId xmlns:p14="http://schemas.microsoft.com/office/powerpoint/2010/main" val="3428694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B0F4BDF3-A467-7416-8EA3-8CE9AFDF5429}"/>
            </a:ext>
          </a:extLst>
        </p:cNvPr>
        <p:cNvGrpSpPr/>
        <p:nvPr/>
      </p:nvGrpSpPr>
      <p:grpSpPr>
        <a:xfrm>
          <a:off x="0" y="0"/>
          <a:ext cx="0" cy="0"/>
          <a:chOff x="0" y="0"/>
          <a:chExt cx="0" cy="0"/>
        </a:xfrm>
      </p:grpSpPr>
      <p:sp>
        <p:nvSpPr>
          <p:cNvPr id="163" name="Google Shape;163;g218b79e9735_0_32:notes">
            <a:extLst>
              <a:ext uri="{FF2B5EF4-FFF2-40B4-BE49-F238E27FC236}">
                <a16:creationId xmlns:a16="http://schemas.microsoft.com/office/drawing/2014/main" id="{6C2E3FE2-A6F4-46B7-3FE9-A9EDE9E024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18b79e9735_0_32:notes">
            <a:extLst>
              <a:ext uri="{FF2B5EF4-FFF2-40B4-BE49-F238E27FC236}">
                <a16:creationId xmlns:a16="http://schemas.microsoft.com/office/drawing/2014/main" id="{AFD8AB4A-2566-22BE-B140-B9472FCB16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Here's where our second factor lives — and it's changed since our earlier design. </a:t>
            </a:r>
          </a:p>
          <a:p>
            <a:pPr marL="0" lvl="0" indent="0" algn="l" rtl="0">
              <a:spcBef>
                <a:spcPts val="0"/>
              </a:spcBef>
              <a:spcAft>
                <a:spcPts val="0"/>
              </a:spcAft>
              <a:buNone/>
            </a:pPr>
            <a:endParaRPr lang="en-US"/>
          </a:p>
          <a:p>
            <a:pPr marL="0" lvl="0" indent="0" algn="l" rtl="0">
              <a:spcBef>
                <a:spcPts val="0"/>
              </a:spcBef>
              <a:spcAft>
                <a:spcPts val="0"/>
              </a:spcAft>
              <a:buNone/>
            </a:pPr>
            <a:r>
              <a:rPr lang="en-US"/>
              <a:t>Originally, the PIN was something the user picked themselves at registration, alongside their password. </a:t>
            </a:r>
          </a:p>
          <a:p>
            <a:pPr marL="0" lvl="0" indent="0" algn="l" rtl="0">
              <a:spcBef>
                <a:spcPts val="0"/>
              </a:spcBef>
              <a:spcAft>
                <a:spcPts val="0"/>
              </a:spcAft>
              <a:buNone/>
            </a:pPr>
            <a:endParaRPr lang="en-US"/>
          </a:p>
          <a:p>
            <a:pPr marL="0" lvl="0" indent="0" algn="l" rtl="0">
              <a:spcBef>
                <a:spcPts val="0"/>
              </a:spcBef>
              <a:spcAft>
                <a:spcPts val="0"/>
              </a:spcAft>
              <a:buNone/>
            </a:pPr>
            <a:r>
              <a:rPr lang="en-US"/>
              <a:t>Now, the PIN is generated by the system — a random six-digit code — and emailed at login time. </a:t>
            </a:r>
          </a:p>
          <a:p>
            <a:pPr marL="0" lvl="0" indent="0" algn="l" rtl="0">
              <a:spcBef>
                <a:spcPts val="0"/>
              </a:spcBef>
              <a:spcAft>
                <a:spcPts val="0"/>
              </a:spcAft>
              <a:buNone/>
            </a:pPr>
            <a:endParaRPr lang="en-US"/>
          </a:p>
          <a:p>
            <a:pPr marL="0" lvl="0" indent="0" algn="l" rtl="0">
              <a:spcBef>
                <a:spcPts val="0"/>
              </a:spcBef>
              <a:spcAft>
                <a:spcPts val="0"/>
              </a:spcAft>
              <a:buNone/>
            </a:pPr>
            <a:r>
              <a:rPr lang="en-US"/>
              <a:t>This matters for a specific reason: a self-chosen PIN is still just something you know, the same category as your password. </a:t>
            </a:r>
          </a:p>
          <a:p>
            <a:pPr marL="0" lvl="0" indent="0" algn="l" rtl="0">
              <a:spcBef>
                <a:spcPts val="0"/>
              </a:spcBef>
              <a:spcAft>
                <a:spcPts val="0"/>
              </a:spcAft>
              <a:buNone/>
            </a:pPr>
            <a:endParaRPr lang="en-US"/>
          </a:p>
          <a:p>
            <a:pPr marL="0" lvl="0" indent="0" algn="l" rtl="0">
              <a:spcBef>
                <a:spcPts val="0"/>
              </a:spcBef>
              <a:spcAft>
                <a:spcPts val="0"/>
              </a:spcAft>
              <a:buNone/>
            </a:pPr>
            <a:r>
              <a:rPr lang="en-US"/>
              <a:t>A system-generated PIN sent to your inbox is closer to something you have, which is what a real second factor is supposed to be.</a:t>
            </a:r>
            <a:endParaRPr/>
          </a:p>
        </p:txBody>
      </p:sp>
    </p:spTree>
    <p:extLst>
      <p:ext uri="{BB962C8B-B14F-4D97-AF65-F5344CB8AC3E}">
        <p14:creationId xmlns:p14="http://schemas.microsoft.com/office/powerpoint/2010/main" val="3245300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a:extLst>
            <a:ext uri="{FF2B5EF4-FFF2-40B4-BE49-F238E27FC236}">
              <a16:creationId xmlns:a16="http://schemas.microsoft.com/office/drawing/2014/main" id="{94786D8C-5EEF-6090-FED2-42CA02065809}"/>
            </a:ext>
          </a:extLst>
        </p:cNvPr>
        <p:cNvGrpSpPr/>
        <p:nvPr/>
      </p:nvGrpSpPr>
      <p:grpSpPr>
        <a:xfrm>
          <a:off x="0" y="0"/>
          <a:ext cx="0" cy="0"/>
          <a:chOff x="0" y="0"/>
          <a:chExt cx="0" cy="0"/>
        </a:xfrm>
      </p:grpSpPr>
      <p:sp>
        <p:nvSpPr>
          <p:cNvPr id="163" name="Google Shape;163;g218b79e9735_0_32:notes">
            <a:extLst>
              <a:ext uri="{FF2B5EF4-FFF2-40B4-BE49-F238E27FC236}">
                <a16:creationId xmlns:a16="http://schemas.microsoft.com/office/drawing/2014/main" id="{4DB3FA4D-FE8D-4BD8-617F-314C22C367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218b79e9735_0_32:notes">
            <a:extLst>
              <a:ext uri="{FF2B5EF4-FFF2-40B4-BE49-F238E27FC236}">
                <a16:creationId xmlns:a16="http://schemas.microsoft.com/office/drawing/2014/main" id="{0D6533EC-AFA0-C8E7-FB47-0519FFF240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Once both factors pass, we use Flask-Login to manage the session. </a:t>
            </a:r>
          </a:p>
          <a:p>
            <a:pPr marL="0" lvl="0" indent="0" algn="l" rtl="0">
              <a:spcBef>
                <a:spcPts val="0"/>
              </a:spcBef>
              <a:spcAft>
                <a:spcPts val="0"/>
              </a:spcAft>
              <a:buNone/>
            </a:pPr>
            <a:endParaRPr lang="en-US" sz="1100" b="0" i="0" u="none" strike="noStrike" cap="none" spc="0">
              <a:solidFill>
                <a:srgbClr val="000000"/>
              </a:solidFill>
              <a:latin typeface="Arial"/>
              <a:ea typeface="Arial"/>
              <a:cs typeface="Arial"/>
              <a:sym typeface="Arial"/>
            </a:endParaRPr>
          </a:p>
          <a:p>
            <a:pPr marL="0" lvl="0" indent="0" algn="l" rtl="0">
              <a:spcBef>
                <a:spcPts val="0"/>
              </a:spcBef>
              <a:spcAft>
                <a:spcPts val="0"/>
              </a:spcAft>
              <a:buNone/>
            </a:pPr>
            <a:r>
              <a:rPr lang="en-US" sz="1100" b="0" i="0" u="none" strike="noStrike" cap="none" spc="0">
                <a:solidFill>
                  <a:srgbClr val="000000"/>
                </a:solidFill>
                <a:latin typeface="Arial"/>
                <a:ea typeface="Arial"/>
                <a:cs typeface="Arial"/>
                <a:sym typeface="Arial"/>
              </a:rPr>
              <a:t>“</a:t>
            </a:r>
            <a:r>
              <a:rPr lang="en-US" sz="1100" b="0" i="0" u="none" strike="noStrike" cap="none" spc="0" err="1">
                <a:solidFill>
                  <a:srgbClr val="000000"/>
                </a:solidFill>
                <a:latin typeface="Arial"/>
                <a:ea typeface="Arial"/>
                <a:cs typeface="Arial"/>
                <a:sym typeface="Arial"/>
              </a:rPr>
              <a:t>login_user</a:t>
            </a:r>
            <a:r>
              <a:rPr lang="en-US" sz="1100" b="0" i="0" u="none" strike="noStrike" cap="none" spc="0">
                <a:solidFill>
                  <a:srgbClr val="000000"/>
                </a:solidFill>
                <a:latin typeface="Arial"/>
                <a:ea typeface="Arial"/>
                <a:cs typeface="Arial"/>
                <a:sym typeface="Arial"/>
              </a:rPr>
              <a:t>()”</a:t>
            </a:r>
            <a:r>
              <a:rPr lang="en-US"/>
              <a:t> sets a signed cookie containing the user's identity. </a:t>
            </a:r>
          </a:p>
          <a:p>
            <a:pPr marL="0" lvl="0" indent="0" algn="l" rtl="0">
              <a:spcBef>
                <a:spcPts val="0"/>
              </a:spcBef>
              <a:spcAft>
                <a:spcPts val="0"/>
              </a:spcAft>
              <a:buNone/>
            </a:pPr>
            <a:endParaRPr lang="en-US"/>
          </a:p>
          <a:p>
            <a:pPr marL="0" lvl="0" indent="0" algn="l" rtl="0">
              <a:spcBef>
                <a:spcPts val="0"/>
              </a:spcBef>
              <a:spcAft>
                <a:spcPts val="0"/>
              </a:spcAft>
              <a:buNone/>
            </a:pPr>
            <a:r>
              <a:rPr lang="en-US"/>
              <a:t>On every later request to a protected page, our “</a:t>
            </a:r>
            <a:r>
              <a:rPr lang="en-US" sz="1100" b="0" i="0" u="none" strike="noStrike" cap="none" spc="0">
                <a:solidFill>
                  <a:srgbClr val="000000"/>
                </a:solidFill>
                <a:latin typeface="Arial"/>
                <a:ea typeface="Arial"/>
                <a:cs typeface="Arial"/>
                <a:sym typeface="Arial"/>
              </a:rPr>
              <a:t>@</a:t>
            </a:r>
            <a:r>
              <a:rPr lang="en-US" sz="1100" b="0" i="0" u="none" strike="noStrike" cap="none" spc="0" err="1">
                <a:solidFill>
                  <a:srgbClr val="000000"/>
                </a:solidFill>
                <a:latin typeface="Arial"/>
                <a:ea typeface="Arial"/>
                <a:cs typeface="Arial"/>
                <a:sym typeface="Arial"/>
              </a:rPr>
              <a:t>login_required</a:t>
            </a:r>
            <a:r>
              <a:rPr lang="en-US" sz="1100" b="0" i="0" u="none" strike="noStrike" cap="none" spc="0">
                <a:solidFill>
                  <a:srgbClr val="000000"/>
                </a:solidFill>
                <a:latin typeface="Arial"/>
                <a:ea typeface="Arial"/>
                <a:cs typeface="Arial"/>
                <a:sym typeface="Arial"/>
              </a:rPr>
              <a:t>”</a:t>
            </a:r>
            <a:r>
              <a:rPr lang="en-US"/>
              <a:t> decorator checks for that cookie, </a:t>
            </a:r>
          </a:p>
          <a:p>
            <a:pPr marL="0" lvl="0" indent="0" algn="l" rtl="0">
              <a:spcBef>
                <a:spcPts val="0"/>
              </a:spcBef>
              <a:spcAft>
                <a:spcPts val="0"/>
              </a:spcAft>
              <a:buNone/>
            </a:pPr>
            <a:r>
              <a:rPr lang="en-US"/>
              <a:t>and a </a:t>
            </a:r>
            <a:r>
              <a:rPr lang="en-US" sz="1100" b="0" i="0" u="none" strike="noStrike" cap="none" spc="0" err="1">
                <a:solidFill>
                  <a:srgbClr val="000000"/>
                </a:solidFill>
                <a:latin typeface="Arial"/>
                <a:ea typeface="Arial"/>
                <a:cs typeface="Arial"/>
                <a:sym typeface="Arial"/>
              </a:rPr>
              <a:t>user_loader</a:t>
            </a:r>
            <a:r>
              <a:rPr lang="en-US"/>
              <a:t> callback fetches the actual user record from the database. </a:t>
            </a:r>
          </a:p>
          <a:p>
            <a:pPr marL="0" lvl="0" indent="0" algn="l" rtl="0">
              <a:spcBef>
                <a:spcPts val="0"/>
              </a:spcBef>
              <a:spcAft>
                <a:spcPts val="0"/>
              </a:spcAft>
              <a:buNone/>
            </a:pPr>
            <a:endParaRPr lang="en-US"/>
          </a:p>
          <a:p>
            <a:pPr marL="0" lvl="0" indent="0" algn="l" rtl="0">
              <a:spcBef>
                <a:spcPts val="0"/>
              </a:spcBef>
              <a:spcAft>
                <a:spcPts val="0"/>
              </a:spcAft>
              <a:buNone/>
            </a:pPr>
            <a:r>
              <a:rPr lang="en-US"/>
              <a:t>If either step fails, access is denied — the cookie alone isn't enough, it has to resolve to a real user.</a:t>
            </a:r>
            <a:endParaRPr/>
          </a:p>
        </p:txBody>
      </p:sp>
    </p:spTree>
    <p:extLst>
      <p:ext uri="{BB962C8B-B14F-4D97-AF65-F5344CB8AC3E}">
        <p14:creationId xmlns:p14="http://schemas.microsoft.com/office/powerpoint/2010/main" val="3266343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a:extLst>
            <a:ext uri="{FF2B5EF4-FFF2-40B4-BE49-F238E27FC236}">
              <a16:creationId xmlns:a16="http://schemas.microsoft.com/office/drawing/2014/main" id="{F7F469D2-7F47-60A9-E1CA-A2650F1FF485}"/>
            </a:ext>
          </a:extLst>
        </p:cNvPr>
        <p:cNvGrpSpPr/>
        <p:nvPr/>
      </p:nvGrpSpPr>
      <p:grpSpPr>
        <a:xfrm>
          <a:off x="0" y="0"/>
          <a:ext cx="0" cy="0"/>
          <a:chOff x="0" y="0"/>
          <a:chExt cx="0" cy="0"/>
        </a:xfrm>
      </p:grpSpPr>
      <p:sp>
        <p:nvSpPr>
          <p:cNvPr id="438" name="Google Shape;438;g2199802a7ca_0_77:notes">
            <a:extLst>
              <a:ext uri="{FF2B5EF4-FFF2-40B4-BE49-F238E27FC236}">
                <a16:creationId xmlns:a16="http://schemas.microsoft.com/office/drawing/2014/main" id="{1B8FF552-4BAF-0DF0-0B06-A301F0853B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2199802a7ca_0_77:notes">
            <a:extLst>
              <a:ext uri="{FF2B5EF4-FFF2-40B4-BE49-F238E27FC236}">
                <a16:creationId xmlns:a16="http://schemas.microsoft.com/office/drawing/2014/main" id="{D9AF1AD6-17D4-BFD4-3646-A852C0EDA8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AutoNum type="arabicPeriod"/>
            </a:pPr>
            <a:r>
              <a:rPr lang="en-US"/>
              <a:t>Security</a:t>
            </a:r>
          </a:p>
          <a:p>
            <a:pPr marL="228600" lvl="0" indent="-228600" algn="l" rtl="0">
              <a:spcBef>
                <a:spcPts val="0"/>
              </a:spcBef>
              <a:spcAft>
                <a:spcPts val="0"/>
              </a:spcAft>
              <a:buAutoNum type="arabicPeriod"/>
            </a:pPr>
            <a:endParaRPr lang="en-US"/>
          </a:p>
          <a:p>
            <a:pPr marL="0" lvl="0" indent="0" algn="l" rtl="0">
              <a:spcBef>
                <a:spcPts val="0"/>
              </a:spcBef>
              <a:spcAft>
                <a:spcPts val="0"/>
              </a:spcAft>
              <a:buNone/>
            </a:pPr>
            <a:r>
              <a:rPr lang="en-US"/>
              <a:t>There's a few security gaps we're aware of and haven't closed yet. </a:t>
            </a:r>
          </a:p>
          <a:p>
            <a:pPr marL="0" lvl="0" indent="0" algn="l" rtl="0">
              <a:spcBef>
                <a:spcPts val="0"/>
              </a:spcBef>
              <a:spcAft>
                <a:spcPts val="0"/>
              </a:spcAft>
              <a:buNone/>
            </a:pPr>
            <a:endParaRPr lang="en-US"/>
          </a:p>
          <a:p>
            <a:pPr marL="0" lvl="0" indent="0" algn="l" rtl="0">
              <a:spcBef>
                <a:spcPts val="0"/>
              </a:spcBef>
              <a:spcAft>
                <a:spcPts val="0"/>
              </a:spcAft>
              <a:buNone/>
            </a:pPr>
            <a:r>
              <a:rPr lang="en-US"/>
              <a:t>We don't currently enforce password strength requirements. </a:t>
            </a:r>
          </a:p>
          <a:p>
            <a:pPr marL="0" lvl="0" indent="0" algn="l" rtl="0">
              <a:spcBef>
                <a:spcPts val="0"/>
              </a:spcBef>
              <a:spcAft>
                <a:spcPts val="0"/>
              </a:spcAft>
              <a:buNone/>
            </a:pPr>
            <a:endParaRPr lang="en-US"/>
          </a:p>
          <a:p>
            <a:pPr marL="0" lvl="0" indent="0" algn="l" rtl="0">
              <a:spcBef>
                <a:spcPts val="0"/>
              </a:spcBef>
              <a:spcAft>
                <a:spcPts val="0"/>
              </a:spcAft>
              <a:buNone/>
            </a:pPr>
            <a:r>
              <a:rPr lang="en-US"/>
              <a:t>Our deployment setup isn't production-hardened </a:t>
            </a:r>
          </a:p>
          <a:p>
            <a:pPr marL="0" lvl="0" indent="0" algn="l" rtl="0">
              <a:spcBef>
                <a:spcPts val="0"/>
              </a:spcBef>
              <a:spcAft>
                <a:spcPts val="0"/>
              </a:spcAft>
              <a:buNone/>
            </a:pPr>
            <a:r>
              <a:rPr lang="en-US"/>
              <a:t>— we're not yet using HTTPS or a proper secrets manager. </a:t>
            </a:r>
          </a:p>
          <a:p>
            <a:pPr marL="0" lvl="0" indent="0" algn="l" rtl="0">
              <a:spcBef>
                <a:spcPts val="0"/>
              </a:spcBef>
              <a:spcAft>
                <a:spcPts val="0"/>
              </a:spcAft>
              <a:buNone/>
            </a:pPr>
            <a:endParaRPr lang="en-US"/>
          </a:p>
          <a:p>
            <a:pPr marL="0" lvl="0" indent="0" algn="l" rtl="0">
              <a:spcBef>
                <a:spcPts val="0"/>
              </a:spcBef>
              <a:spcAft>
                <a:spcPts val="0"/>
              </a:spcAft>
              <a:buNone/>
            </a:pPr>
            <a:r>
              <a:rPr lang="en-US"/>
              <a:t>And long-term, we'd like to see authentication pulled out into its own standalone service rather than living inside the main application.</a:t>
            </a:r>
          </a:p>
          <a:p>
            <a:pPr marL="0" lvl="0" indent="0" algn="l" rtl="0">
              <a:spcBef>
                <a:spcPts val="0"/>
              </a:spcBef>
              <a:spcAft>
                <a:spcPts val="0"/>
              </a:spcAft>
              <a:buNone/>
            </a:pPr>
            <a:endParaRPr lang="en-US"/>
          </a:p>
          <a:p>
            <a:pPr marL="0" lvl="0" indent="0" algn="l" rtl="0">
              <a:spcBef>
                <a:spcPts val="0"/>
              </a:spcBef>
              <a:spcAft>
                <a:spcPts val="0"/>
              </a:spcAft>
              <a:buNone/>
            </a:pPr>
            <a:r>
              <a:rPr lang="en-US"/>
              <a:t>2. Architecture</a:t>
            </a:r>
          </a:p>
          <a:p>
            <a:pPr marL="0" lvl="0" indent="0" algn="l" rtl="0">
              <a:spcBef>
                <a:spcPts val="0"/>
              </a:spcBef>
              <a:spcAft>
                <a:spcPts val="0"/>
              </a:spcAft>
              <a:buNone/>
            </a:pPr>
            <a:endParaRPr lang="en-US"/>
          </a:p>
          <a:p>
            <a:pPr marL="0" lvl="0" indent="0" algn="l" rtl="0">
              <a:spcBef>
                <a:spcPts val="0"/>
              </a:spcBef>
              <a:spcAft>
                <a:spcPts val="0"/>
              </a:spcAft>
              <a:buNone/>
            </a:pPr>
            <a:r>
              <a:rPr lang="en-US"/>
              <a:t>Beyond security, there's architectural work left too. </a:t>
            </a:r>
          </a:p>
          <a:p>
            <a:pPr marL="0" lvl="0" indent="0" algn="l" rtl="0">
              <a:spcBef>
                <a:spcPts val="0"/>
              </a:spcBef>
              <a:spcAft>
                <a:spcPts val="0"/>
              </a:spcAft>
              <a:buNone/>
            </a:pPr>
            <a:endParaRPr lang="en-US"/>
          </a:p>
          <a:p>
            <a:pPr marL="0" lvl="0" indent="0" algn="l" rtl="0">
              <a:spcBef>
                <a:spcPts val="0"/>
              </a:spcBef>
              <a:spcAft>
                <a:spcPts val="0"/>
              </a:spcAft>
              <a:buNone/>
            </a:pPr>
            <a:r>
              <a:rPr lang="en-US"/>
              <a:t>The frontend needs real styling and navigation </a:t>
            </a:r>
          </a:p>
          <a:p>
            <a:pPr marL="0" lvl="0" indent="0" algn="l" rtl="0">
              <a:spcBef>
                <a:spcPts val="0"/>
              </a:spcBef>
              <a:spcAft>
                <a:spcPts val="0"/>
              </a:spcAft>
              <a:buNone/>
            </a:pPr>
            <a:r>
              <a:rPr lang="en-US"/>
              <a:t>— we haven't implemented that yet. </a:t>
            </a:r>
          </a:p>
          <a:p>
            <a:pPr marL="0" lvl="0" indent="0" algn="l" rtl="0">
              <a:spcBef>
                <a:spcPts val="0"/>
              </a:spcBef>
              <a:spcAft>
                <a:spcPts val="0"/>
              </a:spcAft>
              <a:buNone/>
            </a:pPr>
            <a:endParaRPr lang="en-US"/>
          </a:p>
          <a:p>
            <a:pPr marL="0" lvl="0" indent="0" algn="l" rtl="0">
              <a:spcBef>
                <a:spcPts val="0"/>
              </a:spcBef>
              <a:spcAft>
                <a:spcPts val="0"/>
              </a:spcAft>
              <a:buNone/>
            </a:pPr>
            <a:r>
              <a:rPr lang="en-US"/>
              <a:t>We'd also want to containerize the app with Docker for easier deployment, </a:t>
            </a:r>
          </a:p>
          <a:p>
            <a:pPr marL="0" lvl="0" indent="0" algn="l" rtl="0">
              <a:spcBef>
                <a:spcPts val="0"/>
              </a:spcBef>
              <a:spcAft>
                <a:spcPts val="0"/>
              </a:spcAft>
              <a:buNone/>
            </a:pPr>
            <a:r>
              <a:rPr lang="en-US"/>
              <a:t>and our test suite is still early-stage and needs to grow to cover more of the application.</a:t>
            </a:r>
            <a:endParaRPr/>
          </a:p>
        </p:txBody>
      </p:sp>
    </p:spTree>
    <p:extLst>
      <p:ext uri="{BB962C8B-B14F-4D97-AF65-F5344CB8AC3E}">
        <p14:creationId xmlns:p14="http://schemas.microsoft.com/office/powerpoint/2010/main" val="311237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31D5D0BA-FC4F-D998-04F2-6519275C50B7}"/>
            </a:ext>
          </a:extLst>
        </p:cNvPr>
        <p:cNvGrpSpPr/>
        <p:nvPr/>
      </p:nvGrpSpPr>
      <p:grpSpPr>
        <a:xfrm>
          <a:off x="0" y="0"/>
          <a:ext cx="0" cy="0"/>
          <a:chOff x="0" y="0"/>
          <a:chExt cx="0" cy="0"/>
        </a:xfrm>
      </p:grpSpPr>
      <p:sp>
        <p:nvSpPr>
          <p:cNvPr id="186" name="Google Shape;186;g218b79e9735_0_36:notes">
            <a:extLst>
              <a:ext uri="{FF2B5EF4-FFF2-40B4-BE49-F238E27FC236}">
                <a16:creationId xmlns:a16="http://schemas.microsoft.com/office/drawing/2014/main" id="{6CCC09ED-B40F-5942-E71B-4930818750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18b79e9735_0_36:notes">
            <a:extLst>
              <a:ext uri="{FF2B5EF4-FFF2-40B4-BE49-F238E27FC236}">
                <a16:creationId xmlns:a16="http://schemas.microsoft.com/office/drawing/2014/main" id="{C370FD5C-F0CD-F725-6FF7-7F81021BAE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5641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E34F12E6-7579-2782-D5F9-FAAA3D62170F}"/>
            </a:ext>
          </a:extLst>
        </p:cNvPr>
        <p:cNvGrpSpPr/>
        <p:nvPr/>
      </p:nvGrpSpPr>
      <p:grpSpPr>
        <a:xfrm>
          <a:off x="0" y="0"/>
          <a:ext cx="0" cy="0"/>
          <a:chOff x="0" y="0"/>
          <a:chExt cx="0" cy="0"/>
        </a:xfrm>
      </p:grpSpPr>
      <p:sp>
        <p:nvSpPr>
          <p:cNvPr id="186" name="Google Shape;186;g218b79e9735_0_36:notes">
            <a:extLst>
              <a:ext uri="{FF2B5EF4-FFF2-40B4-BE49-F238E27FC236}">
                <a16:creationId xmlns:a16="http://schemas.microsoft.com/office/drawing/2014/main" id="{321C0224-D556-E4A9-DE54-4FFFA75063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18b79e9735_0_36:notes">
            <a:extLst>
              <a:ext uri="{FF2B5EF4-FFF2-40B4-BE49-F238E27FC236}">
                <a16:creationId xmlns:a16="http://schemas.microsoft.com/office/drawing/2014/main" id="{D52A5819-FB7B-69A3-D61D-ECC88BAAA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3078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9"/>
        <p:cNvGrpSpPr/>
        <p:nvPr/>
      </p:nvGrpSpPr>
      <p:grpSpPr>
        <a:xfrm>
          <a:off x="0" y="0"/>
          <a:ext cx="0" cy="0"/>
          <a:chOff x="0" y="0"/>
          <a:chExt cx="0" cy="0"/>
        </a:xfrm>
      </p:grpSpPr>
      <p:sp>
        <p:nvSpPr>
          <p:cNvPr id="2430" name="Google Shape;2430;g216bb1b5a4c_0_4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1" name="Google Shape;2431;g216bb1b5a4c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7250" y="693600"/>
            <a:ext cx="5707200" cy="32043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91919"/>
              </a:buClr>
              <a:buSzPts val="5200"/>
              <a:buNone/>
              <a:defRPr sz="50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7250" y="3974100"/>
            <a:ext cx="5707200" cy="475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20000" y="2804275"/>
            <a:ext cx="6476700" cy="1343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20000" y="539500"/>
            <a:ext cx="2260200" cy="13434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720000" y="4005498"/>
            <a:ext cx="6476700" cy="59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17" name="Google Shape;17;p4"/>
          <p:cNvSpPr txBox="1">
            <a:spLocks noGrp="1"/>
          </p:cNvSpPr>
          <p:nvPr>
            <p:ph type="title"/>
          </p:nvPr>
        </p:nvSpPr>
        <p:spPr>
          <a:xfrm>
            <a:off x="713250" y="457200"/>
            <a:ext cx="7717500" cy="54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subTitle" idx="1"/>
          </p:nvPr>
        </p:nvSpPr>
        <p:spPr>
          <a:xfrm>
            <a:off x="5055279" y="2389551"/>
            <a:ext cx="2505600" cy="119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200" b="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0" name="Google Shape;20;p5"/>
          <p:cNvSpPr txBox="1">
            <a:spLocks noGrp="1"/>
          </p:cNvSpPr>
          <p:nvPr>
            <p:ph type="subTitle" idx="2"/>
          </p:nvPr>
        </p:nvSpPr>
        <p:spPr>
          <a:xfrm>
            <a:off x="1583300" y="2389551"/>
            <a:ext cx="2505600" cy="119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200" b="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21" name="Google Shape;21;p5"/>
          <p:cNvSpPr txBox="1">
            <a:spLocks noGrp="1"/>
          </p:cNvSpPr>
          <p:nvPr>
            <p:ph type="subTitle" idx="3"/>
          </p:nvPr>
        </p:nvSpPr>
        <p:spPr>
          <a:xfrm>
            <a:off x="5055275" y="208152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600"/>
              <a:buFont typeface="Montserrat SemiBold"/>
              <a:buNone/>
              <a:defRPr sz="1600">
                <a:solidFill>
                  <a:schemeClr val="dk1"/>
                </a:solidFill>
                <a:latin typeface="Montserrat SemiBold"/>
                <a:ea typeface="Montserrat SemiBold"/>
                <a:cs typeface="Montserrat SemiBold"/>
                <a:sym typeface="Montserrat SemiBold"/>
              </a:defRPr>
            </a:lvl1pPr>
            <a:lvl2pPr lvl="1"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2pPr>
            <a:lvl3pPr lvl="2"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3pPr>
            <a:lvl4pPr lvl="3"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4pPr>
            <a:lvl5pPr lvl="4"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5pPr>
            <a:lvl6pPr lvl="5"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6pPr>
            <a:lvl7pPr lvl="6"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7pPr>
            <a:lvl8pPr lvl="7"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8pPr>
            <a:lvl9pPr lvl="8"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9pPr>
          </a:lstStyle>
          <a:p>
            <a:endParaRPr/>
          </a:p>
        </p:txBody>
      </p:sp>
      <p:sp>
        <p:nvSpPr>
          <p:cNvPr id="22" name="Google Shape;22;p5"/>
          <p:cNvSpPr txBox="1">
            <a:spLocks noGrp="1"/>
          </p:cNvSpPr>
          <p:nvPr>
            <p:ph type="subTitle" idx="4"/>
          </p:nvPr>
        </p:nvSpPr>
        <p:spPr>
          <a:xfrm>
            <a:off x="1583300" y="2081525"/>
            <a:ext cx="2505600" cy="394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1600"/>
              <a:buFont typeface="Montserrat SemiBold"/>
              <a:buNone/>
              <a:defRPr sz="1600">
                <a:solidFill>
                  <a:schemeClr val="dk1"/>
                </a:solidFill>
                <a:latin typeface="Montserrat SemiBold"/>
                <a:ea typeface="Montserrat SemiBold"/>
                <a:cs typeface="Montserrat SemiBold"/>
                <a:sym typeface="Montserrat SemiBold"/>
              </a:defRPr>
            </a:lvl1pPr>
            <a:lvl2pPr lvl="1"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2pPr>
            <a:lvl3pPr lvl="2"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3pPr>
            <a:lvl4pPr lvl="3"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4pPr>
            <a:lvl5pPr lvl="4"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5pPr>
            <a:lvl6pPr lvl="5"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6pPr>
            <a:lvl7pPr lvl="6"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7pPr>
            <a:lvl8pPr lvl="7"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8pPr>
            <a:lvl9pPr lvl="8" algn="ctr" rtl="0">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9pPr>
          </a:lstStyle>
          <a:p>
            <a:endParaRPr/>
          </a:p>
        </p:txBody>
      </p:sp>
      <p:sp>
        <p:nvSpPr>
          <p:cNvPr id="23" name="Google Shape;23;p5"/>
          <p:cNvSpPr txBox="1">
            <a:spLocks noGrp="1"/>
          </p:cNvSpPr>
          <p:nvPr>
            <p:ph type="title"/>
          </p:nvPr>
        </p:nvSpPr>
        <p:spPr>
          <a:xfrm>
            <a:off x="713250" y="457200"/>
            <a:ext cx="7717500" cy="54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13250" y="457200"/>
            <a:ext cx="7717500" cy="54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
        <p:cNvGrpSpPr/>
        <p:nvPr/>
      </p:nvGrpSpPr>
      <p:grpSpPr>
        <a:xfrm>
          <a:off x="0" y="0"/>
          <a:ext cx="0" cy="0"/>
          <a:chOff x="0" y="0"/>
          <a:chExt cx="0" cy="0"/>
        </a:xfrm>
      </p:grpSpPr>
      <p:sp>
        <p:nvSpPr>
          <p:cNvPr id="27" name="Google Shape;27;p7"/>
          <p:cNvSpPr txBox="1">
            <a:spLocks noGrp="1"/>
          </p:cNvSpPr>
          <p:nvPr>
            <p:ph type="subTitle" idx="1"/>
          </p:nvPr>
        </p:nvSpPr>
        <p:spPr>
          <a:xfrm>
            <a:off x="720000" y="1541950"/>
            <a:ext cx="4294800" cy="3062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Nunito Light"/>
              <a:buChar char="●"/>
              <a:defRPr/>
            </a:lvl1pPr>
            <a:lvl2pPr lvl="1" algn="ctr" rtl="0">
              <a:lnSpc>
                <a:spcPct val="100000"/>
              </a:lnSpc>
              <a:spcBef>
                <a:spcPts val="0"/>
              </a:spcBef>
              <a:spcAft>
                <a:spcPts val="0"/>
              </a:spcAft>
              <a:buClr>
                <a:srgbClr val="E76A28"/>
              </a:buClr>
              <a:buSzPts val="1400"/>
              <a:buFont typeface="Nunito Light"/>
              <a:buChar char="○"/>
              <a:defRPr/>
            </a:lvl2pPr>
            <a:lvl3pPr lvl="2" algn="ctr" rtl="0">
              <a:lnSpc>
                <a:spcPct val="100000"/>
              </a:lnSpc>
              <a:spcBef>
                <a:spcPts val="0"/>
              </a:spcBef>
              <a:spcAft>
                <a:spcPts val="0"/>
              </a:spcAft>
              <a:buClr>
                <a:srgbClr val="E76A28"/>
              </a:buClr>
              <a:buSzPts val="1400"/>
              <a:buFont typeface="Nunito Light"/>
              <a:buChar char="■"/>
              <a:defRPr/>
            </a:lvl3pPr>
            <a:lvl4pPr lvl="3" algn="ctr" rtl="0">
              <a:lnSpc>
                <a:spcPct val="100000"/>
              </a:lnSpc>
              <a:spcBef>
                <a:spcPts val="0"/>
              </a:spcBef>
              <a:spcAft>
                <a:spcPts val="0"/>
              </a:spcAft>
              <a:buClr>
                <a:srgbClr val="E76A28"/>
              </a:buClr>
              <a:buSzPts val="14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400"/>
              <a:buFont typeface="Nunito Light"/>
              <a:buChar char="●"/>
              <a:defRPr/>
            </a:lvl7pPr>
            <a:lvl8pPr lvl="7" algn="ctr" rtl="0">
              <a:lnSpc>
                <a:spcPct val="100000"/>
              </a:lnSpc>
              <a:spcBef>
                <a:spcPts val="0"/>
              </a:spcBef>
              <a:spcAft>
                <a:spcPts val="0"/>
              </a:spcAft>
              <a:buClr>
                <a:srgbClr val="999999"/>
              </a:buClr>
              <a:buSzPts val="14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28" name="Google Shape;28;p7"/>
          <p:cNvSpPr>
            <a:spLocks noGrp="1"/>
          </p:cNvSpPr>
          <p:nvPr>
            <p:ph type="pic" idx="2"/>
          </p:nvPr>
        </p:nvSpPr>
        <p:spPr>
          <a:xfrm>
            <a:off x="5464675" y="1337600"/>
            <a:ext cx="2966100" cy="3266400"/>
          </a:xfrm>
          <a:prstGeom prst="rect">
            <a:avLst/>
          </a:prstGeom>
          <a:noFill/>
          <a:ln>
            <a:noFill/>
          </a:ln>
        </p:spPr>
      </p:sp>
      <p:sp>
        <p:nvSpPr>
          <p:cNvPr id="29" name="Google Shape;29;p7"/>
          <p:cNvSpPr txBox="1">
            <a:spLocks noGrp="1"/>
          </p:cNvSpPr>
          <p:nvPr>
            <p:ph type="title"/>
          </p:nvPr>
        </p:nvSpPr>
        <p:spPr>
          <a:xfrm>
            <a:off x="713250" y="457200"/>
            <a:ext cx="7717500" cy="54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713225" y="1307100"/>
            <a:ext cx="7717500" cy="25293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txBox="1">
            <a:spLocks noGrp="1"/>
          </p:cNvSpPr>
          <p:nvPr>
            <p:ph type="subTitle" idx="1"/>
          </p:nvPr>
        </p:nvSpPr>
        <p:spPr>
          <a:xfrm>
            <a:off x="5039701" y="1587400"/>
            <a:ext cx="3384300" cy="283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a:buNone/>
              <a:defRPr sz="1200">
                <a:latin typeface="Montserrat"/>
                <a:ea typeface="Montserrat"/>
                <a:cs typeface="Montserrat"/>
                <a:sym typeface="Montserrat"/>
              </a:defRPr>
            </a:lvl1pPr>
            <a:lvl2pPr lvl="1" algn="ctr" rtl="0">
              <a:lnSpc>
                <a:spcPct val="100000"/>
              </a:lnSpc>
              <a:spcBef>
                <a:spcPts val="0"/>
              </a:spcBef>
              <a:spcAft>
                <a:spcPts val="0"/>
              </a:spcAft>
              <a:buSzPts val="1200"/>
              <a:buFont typeface="Montserrat"/>
              <a:buNone/>
              <a:defRPr sz="1200">
                <a:latin typeface="Montserrat"/>
                <a:ea typeface="Montserrat"/>
                <a:cs typeface="Montserrat"/>
                <a:sym typeface="Montserrat"/>
              </a:defRPr>
            </a:lvl2pPr>
            <a:lvl3pPr lvl="2" algn="ctr" rtl="0">
              <a:lnSpc>
                <a:spcPct val="100000"/>
              </a:lnSpc>
              <a:spcBef>
                <a:spcPts val="0"/>
              </a:spcBef>
              <a:spcAft>
                <a:spcPts val="0"/>
              </a:spcAft>
              <a:buSzPts val="1200"/>
              <a:buFont typeface="Montserrat"/>
              <a:buNone/>
              <a:defRPr sz="1200">
                <a:latin typeface="Montserrat"/>
                <a:ea typeface="Montserrat"/>
                <a:cs typeface="Montserrat"/>
                <a:sym typeface="Montserrat"/>
              </a:defRPr>
            </a:lvl3pPr>
            <a:lvl4pPr lvl="3" algn="ctr" rtl="0">
              <a:lnSpc>
                <a:spcPct val="100000"/>
              </a:lnSpc>
              <a:spcBef>
                <a:spcPts val="0"/>
              </a:spcBef>
              <a:spcAft>
                <a:spcPts val="0"/>
              </a:spcAft>
              <a:buSzPts val="1200"/>
              <a:buFont typeface="Montserrat"/>
              <a:buNone/>
              <a:defRPr sz="1200">
                <a:latin typeface="Montserrat"/>
                <a:ea typeface="Montserrat"/>
                <a:cs typeface="Montserrat"/>
                <a:sym typeface="Montserrat"/>
              </a:defRPr>
            </a:lvl4pPr>
            <a:lvl5pPr lvl="4" algn="ctr" rtl="0">
              <a:lnSpc>
                <a:spcPct val="100000"/>
              </a:lnSpc>
              <a:spcBef>
                <a:spcPts val="0"/>
              </a:spcBef>
              <a:spcAft>
                <a:spcPts val="0"/>
              </a:spcAft>
              <a:buSzPts val="1200"/>
              <a:buFont typeface="Montserrat"/>
              <a:buNone/>
              <a:defRPr sz="1200">
                <a:latin typeface="Montserrat"/>
                <a:ea typeface="Montserrat"/>
                <a:cs typeface="Montserrat"/>
                <a:sym typeface="Montserrat"/>
              </a:defRPr>
            </a:lvl5pPr>
            <a:lvl6pPr lvl="5" algn="ctr" rtl="0">
              <a:lnSpc>
                <a:spcPct val="100000"/>
              </a:lnSpc>
              <a:spcBef>
                <a:spcPts val="0"/>
              </a:spcBef>
              <a:spcAft>
                <a:spcPts val="0"/>
              </a:spcAft>
              <a:buSzPts val="1200"/>
              <a:buFont typeface="Montserrat"/>
              <a:buNone/>
              <a:defRPr sz="1200">
                <a:latin typeface="Montserrat"/>
                <a:ea typeface="Montserrat"/>
                <a:cs typeface="Montserrat"/>
                <a:sym typeface="Montserrat"/>
              </a:defRPr>
            </a:lvl6pPr>
            <a:lvl7pPr lvl="6" algn="ctr" rtl="0">
              <a:lnSpc>
                <a:spcPct val="100000"/>
              </a:lnSpc>
              <a:spcBef>
                <a:spcPts val="0"/>
              </a:spcBef>
              <a:spcAft>
                <a:spcPts val="0"/>
              </a:spcAft>
              <a:buSzPts val="1200"/>
              <a:buFont typeface="Montserrat"/>
              <a:buNone/>
              <a:defRPr sz="1200">
                <a:latin typeface="Montserrat"/>
                <a:ea typeface="Montserrat"/>
                <a:cs typeface="Montserrat"/>
                <a:sym typeface="Montserrat"/>
              </a:defRPr>
            </a:lvl7pPr>
            <a:lvl8pPr lvl="7" algn="ctr" rtl="0">
              <a:lnSpc>
                <a:spcPct val="100000"/>
              </a:lnSpc>
              <a:spcBef>
                <a:spcPts val="0"/>
              </a:spcBef>
              <a:spcAft>
                <a:spcPts val="0"/>
              </a:spcAft>
              <a:buSzPts val="1200"/>
              <a:buFont typeface="Montserrat"/>
              <a:buNone/>
              <a:defRPr sz="1200">
                <a:latin typeface="Montserrat"/>
                <a:ea typeface="Montserrat"/>
                <a:cs typeface="Montserrat"/>
                <a:sym typeface="Montserrat"/>
              </a:defRPr>
            </a:lvl8pPr>
            <a:lvl9pPr lvl="8" algn="ctr" rtl="0">
              <a:lnSpc>
                <a:spcPct val="100000"/>
              </a:lnSpc>
              <a:spcBef>
                <a:spcPts val="0"/>
              </a:spcBef>
              <a:spcAft>
                <a:spcPts val="0"/>
              </a:spcAft>
              <a:buSzPts val="1200"/>
              <a:buFont typeface="Montserrat"/>
              <a:buNone/>
              <a:defRPr sz="1200">
                <a:latin typeface="Montserrat"/>
                <a:ea typeface="Montserrat"/>
                <a:cs typeface="Montserrat"/>
                <a:sym typeface="Montserrat"/>
              </a:defRPr>
            </a:lvl9pPr>
          </a:lstStyle>
          <a:p>
            <a:endParaRPr/>
          </a:p>
        </p:txBody>
      </p:sp>
      <p:sp>
        <p:nvSpPr>
          <p:cNvPr id="34" name="Google Shape;34;p9"/>
          <p:cNvSpPr txBox="1">
            <a:spLocks noGrp="1"/>
          </p:cNvSpPr>
          <p:nvPr>
            <p:ph type="subTitle" idx="2"/>
          </p:nvPr>
        </p:nvSpPr>
        <p:spPr>
          <a:xfrm>
            <a:off x="720000" y="1587400"/>
            <a:ext cx="3384300" cy="2837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Font typeface="Montserrat"/>
              <a:buNone/>
              <a:defRPr sz="1200">
                <a:latin typeface="Montserrat"/>
                <a:ea typeface="Montserrat"/>
                <a:cs typeface="Montserrat"/>
                <a:sym typeface="Montserrat"/>
              </a:defRPr>
            </a:lvl1pPr>
            <a:lvl2pPr lvl="1" algn="ctr" rtl="0">
              <a:lnSpc>
                <a:spcPct val="100000"/>
              </a:lnSpc>
              <a:spcBef>
                <a:spcPts val="0"/>
              </a:spcBef>
              <a:spcAft>
                <a:spcPts val="0"/>
              </a:spcAft>
              <a:buSzPts val="1200"/>
              <a:buFont typeface="Montserrat"/>
              <a:buNone/>
              <a:defRPr sz="1200">
                <a:latin typeface="Montserrat"/>
                <a:ea typeface="Montserrat"/>
                <a:cs typeface="Montserrat"/>
                <a:sym typeface="Montserrat"/>
              </a:defRPr>
            </a:lvl2pPr>
            <a:lvl3pPr lvl="2" algn="ctr" rtl="0">
              <a:lnSpc>
                <a:spcPct val="100000"/>
              </a:lnSpc>
              <a:spcBef>
                <a:spcPts val="0"/>
              </a:spcBef>
              <a:spcAft>
                <a:spcPts val="0"/>
              </a:spcAft>
              <a:buSzPts val="1200"/>
              <a:buFont typeface="Montserrat"/>
              <a:buNone/>
              <a:defRPr sz="1200">
                <a:latin typeface="Montserrat"/>
                <a:ea typeface="Montserrat"/>
                <a:cs typeface="Montserrat"/>
                <a:sym typeface="Montserrat"/>
              </a:defRPr>
            </a:lvl3pPr>
            <a:lvl4pPr lvl="3" algn="ctr" rtl="0">
              <a:lnSpc>
                <a:spcPct val="100000"/>
              </a:lnSpc>
              <a:spcBef>
                <a:spcPts val="0"/>
              </a:spcBef>
              <a:spcAft>
                <a:spcPts val="0"/>
              </a:spcAft>
              <a:buSzPts val="1200"/>
              <a:buFont typeface="Montserrat"/>
              <a:buNone/>
              <a:defRPr sz="1200">
                <a:latin typeface="Montserrat"/>
                <a:ea typeface="Montserrat"/>
                <a:cs typeface="Montserrat"/>
                <a:sym typeface="Montserrat"/>
              </a:defRPr>
            </a:lvl4pPr>
            <a:lvl5pPr lvl="4" algn="ctr" rtl="0">
              <a:lnSpc>
                <a:spcPct val="100000"/>
              </a:lnSpc>
              <a:spcBef>
                <a:spcPts val="0"/>
              </a:spcBef>
              <a:spcAft>
                <a:spcPts val="0"/>
              </a:spcAft>
              <a:buSzPts val="1200"/>
              <a:buFont typeface="Montserrat"/>
              <a:buNone/>
              <a:defRPr sz="1200">
                <a:latin typeface="Montserrat"/>
                <a:ea typeface="Montserrat"/>
                <a:cs typeface="Montserrat"/>
                <a:sym typeface="Montserrat"/>
              </a:defRPr>
            </a:lvl5pPr>
            <a:lvl6pPr lvl="5" algn="ctr" rtl="0">
              <a:lnSpc>
                <a:spcPct val="100000"/>
              </a:lnSpc>
              <a:spcBef>
                <a:spcPts val="0"/>
              </a:spcBef>
              <a:spcAft>
                <a:spcPts val="0"/>
              </a:spcAft>
              <a:buSzPts val="1200"/>
              <a:buFont typeface="Montserrat"/>
              <a:buNone/>
              <a:defRPr sz="1200">
                <a:latin typeface="Montserrat"/>
                <a:ea typeface="Montserrat"/>
                <a:cs typeface="Montserrat"/>
                <a:sym typeface="Montserrat"/>
              </a:defRPr>
            </a:lvl6pPr>
            <a:lvl7pPr lvl="6" algn="ctr" rtl="0">
              <a:lnSpc>
                <a:spcPct val="100000"/>
              </a:lnSpc>
              <a:spcBef>
                <a:spcPts val="0"/>
              </a:spcBef>
              <a:spcAft>
                <a:spcPts val="0"/>
              </a:spcAft>
              <a:buSzPts val="1200"/>
              <a:buFont typeface="Montserrat"/>
              <a:buNone/>
              <a:defRPr sz="1200">
                <a:latin typeface="Montserrat"/>
                <a:ea typeface="Montserrat"/>
                <a:cs typeface="Montserrat"/>
                <a:sym typeface="Montserrat"/>
              </a:defRPr>
            </a:lvl7pPr>
            <a:lvl8pPr lvl="7" algn="ctr" rtl="0">
              <a:lnSpc>
                <a:spcPct val="100000"/>
              </a:lnSpc>
              <a:spcBef>
                <a:spcPts val="0"/>
              </a:spcBef>
              <a:spcAft>
                <a:spcPts val="0"/>
              </a:spcAft>
              <a:buSzPts val="1200"/>
              <a:buFont typeface="Montserrat"/>
              <a:buNone/>
              <a:defRPr sz="1200">
                <a:latin typeface="Montserrat"/>
                <a:ea typeface="Montserrat"/>
                <a:cs typeface="Montserrat"/>
                <a:sym typeface="Montserrat"/>
              </a:defRPr>
            </a:lvl8pPr>
            <a:lvl9pPr lvl="8" algn="ctr" rtl="0">
              <a:lnSpc>
                <a:spcPct val="100000"/>
              </a:lnSpc>
              <a:spcBef>
                <a:spcPts val="0"/>
              </a:spcBef>
              <a:spcAft>
                <a:spcPts val="0"/>
              </a:spcAft>
              <a:buSzPts val="1200"/>
              <a:buFont typeface="Montserrat"/>
              <a:buNone/>
              <a:defRPr sz="1200">
                <a:latin typeface="Montserrat"/>
                <a:ea typeface="Montserrat"/>
                <a:cs typeface="Montserrat"/>
                <a:sym typeface="Montserrat"/>
              </a:defRPr>
            </a:lvl9pPr>
          </a:lstStyle>
          <a:p>
            <a:endParaRPr/>
          </a:p>
        </p:txBody>
      </p:sp>
      <p:sp>
        <p:nvSpPr>
          <p:cNvPr id="35" name="Google Shape;35;p9"/>
          <p:cNvSpPr txBox="1">
            <a:spLocks noGrp="1"/>
          </p:cNvSpPr>
          <p:nvPr>
            <p:ph type="title"/>
          </p:nvPr>
        </p:nvSpPr>
        <p:spPr>
          <a:xfrm>
            <a:off x="713250" y="457200"/>
            <a:ext cx="7717500" cy="54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720000" y="4014450"/>
            <a:ext cx="7704000" cy="5727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spcBef>
                <a:spcPts val="0"/>
              </a:spcBef>
              <a:spcAft>
                <a:spcPts val="0"/>
              </a:spcAft>
              <a:buSzPts val="2400"/>
              <a:buNone/>
              <a:defRPr/>
            </a:lvl2pPr>
            <a:lvl3pPr lvl="2" algn="ctr" rtl="0">
              <a:spcBef>
                <a:spcPts val="0"/>
              </a:spcBef>
              <a:spcAft>
                <a:spcPts val="0"/>
              </a:spcAft>
              <a:buSzPts val="2400"/>
              <a:buNone/>
              <a:defRPr/>
            </a:lvl3pPr>
            <a:lvl4pPr lvl="3" algn="ctr" rtl="0">
              <a:spcBef>
                <a:spcPts val="0"/>
              </a:spcBef>
              <a:spcAft>
                <a:spcPts val="0"/>
              </a:spcAft>
              <a:buSzPts val="2400"/>
              <a:buNone/>
              <a:defRPr/>
            </a:lvl4pPr>
            <a:lvl5pPr lvl="4" algn="ctr" rtl="0">
              <a:spcBef>
                <a:spcPts val="0"/>
              </a:spcBef>
              <a:spcAft>
                <a:spcPts val="0"/>
              </a:spcAft>
              <a:buSzPts val="2400"/>
              <a:buNone/>
              <a:defRPr/>
            </a:lvl5pPr>
            <a:lvl6pPr lvl="5" algn="ctr" rtl="0">
              <a:spcBef>
                <a:spcPts val="0"/>
              </a:spcBef>
              <a:spcAft>
                <a:spcPts val="0"/>
              </a:spcAft>
              <a:buSzPts val="2400"/>
              <a:buNone/>
              <a:defRPr/>
            </a:lvl6pPr>
            <a:lvl7pPr lvl="6" algn="ctr" rtl="0">
              <a:spcBef>
                <a:spcPts val="0"/>
              </a:spcBef>
              <a:spcAft>
                <a:spcPts val="0"/>
              </a:spcAft>
              <a:buSzPts val="2400"/>
              <a:buNone/>
              <a:defRPr/>
            </a:lvl7pPr>
            <a:lvl8pPr lvl="7" algn="ctr" rtl="0">
              <a:spcBef>
                <a:spcPts val="0"/>
              </a:spcBef>
              <a:spcAft>
                <a:spcPts val="0"/>
              </a:spcAft>
              <a:buSzPts val="2400"/>
              <a:buNone/>
              <a:defRPr/>
            </a:lvl8pPr>
            <a:lvl9pPr lvl="8" algn="ctr" rtl="0">
              <a:spcBef>
                <a:spcPts val="0"/>
              </a:spcBef>
              <a:spcAft>
                <a:spcPts val="0"/>
              </a:spcAft>
              <a:buSzPts val="2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8"/>
        <p:cNvGrpSpPr/>
        <p:nvPr/>
      </p:nvGrpSpPr>
      <p:grpSpPr>
        <a:xfrm>
          <a:off x="0" y="0"/>
          <a:ext cx="0" cy="0"/>
          <a:chOff x="0" y="0"/>
          <a:chExt cx="0" cy="0"/>
        </a:xfrm>
      </p:grpSpPr>
      <p:sp>
        <p:nvSpPr>
          <p:cNvPr id="39" name="Google Shape;39;p11"/>
          <p:cNvSpPr txBox="1">
            <a:spLocks noGrp="1"/>
          </p:cNvSpPr>
          <p:nvPr>
            <p:ph type="title" hasCustomPrompt="1"/>
          </p:nvPr>
        </p:nvSpPr>
        <p:spPr>
          <a:xfrm>
            <a:off x="1284000" y="1819581"/>
            <a:ext cx="6576000" cy="10071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40" name="Google Shape;40;p11"/>
          <p:cNvSpPr txBox="1">
            <a:spLocks noGrp="1"/>
          </p:cNvSpPr>
          <p:nvPr>
            <p:ph type="subTitle" idx="1"/>
          </p:nvPr>
        </p:nvSpPr>
        <p:spPr>
          <a:xfrm>
            <a:off x="1284000" y="2826800"/>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4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50"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2pPr>
            <a:lvl3pPr lvl="2"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3pPr>
            <a:lvl4pPr lvl="3"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4pPr>
            <a:lvl5pPr lvl="4"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5pPr>
            <a:lvl6pPr lvl="5"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6pPr>
            <a:lvl7pPr lvl="6"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7pPr>
            <a:lvl8pPr lvl="7"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8pPr>
            <a:lvl9pPr lvl="8" rtl="0">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1pPr>
            <a:lvl2pPr marL="914400" lvl="1"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4" name="Google Shape;44;p1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11_1C53B26B.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13_FA4A340F.xm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14_7145AA0E.xm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16_85D8DBFF.xm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17_5CDA1FD6.xml"/><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1A_E07BE212.xml"/><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0F_0.xml"/><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5"/>
          <p:cNvSpPr txBox="1">
            <a:spLocks noGrp="1"/>
          </p:cNvSpPr>
          <p:nvPr>
            <p:ph type="ctrTitle"/>
          </p:nvPr>
        </p:nvSpPr>
        <p:spPr>
          <a:xfrm>
            <a:off x="717250" y="875037"/>
            <a:ext cx="5707200" cy="3204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a:t>Multi-Factor Authentication System</a:t>
            </a:r>
            <a:br>
              <a:rPr lang="en-US"/>
            </a:br>
            <a:br>
              <a:rPr lang="en-US" sz="1800" b="0"/>
            </a:br>
            <a:r>
              <a:rPr lang="en-US" sz="1800" b="0"/>
              <a:t>CS504_01_IN Software Engineering</a:t>
            </a:r>
            <a:endParaRPr b="0"/>
          </a:p>
        </p:txBody>
      </p:sp>
      <p:sp>
        <p:nvSpPr>
          <p:cNvPr id="52" name="Google Shape;52;p15"/>
          <p:cNvSpPr/>
          <p:nvPr/>
        </p:nvSpPr>
        <p:spPr>
          <a:xfrm>
            <a:off x="7566655" y="1095796"/>
            <a:ext cx="860100" cy="860100"/>
          </a:xfrm>
          <a:prstGeom prst="roundRect">
            <a:avLst>
              <a:gd name="adj" fmla="val 1250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Montserrat SemiBold"/>
              <a:ea typeface="Montserrat SemiBold"/>
              <a:cs typeface="Montserrat SemiBold"/>
              <a:sym typeface="Montserrat SemiBold"/>
            </a:endParaRPr>
          </a:p>
        </p:txBody>
      </p:sp>
      <p:sp>
        <p:nvSpPr>
          <p:cNvPr id="53" name="Google Shape;53;p15"/>
          <p:cNvSpPr/>
          <p:nvPr/>
        </p:nvSpPr>
        <p:spPr>
          <a:xfrm>
            <a:off x="6424576" y="1095796"/>
            <a:ext cx="860100" cy="860100"/>
          </a:xfrm>
          <a:prstGeom prst="roundRect">
            <a:avLst>
              <a:gd name="adj" fmla="val 12505"/>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Montserrat SemiBold"/>
              <a:ea typeface="Montserrat SemiBold"/>
              <a:cs typeface="Montserrat SemiBold"/>
              <a:sym typeface="Montserrat SemiBold"/>
            </a:endParaRPr>
          </a:p>
        </p:txBody>
      </p:sp>
      <p:sp>
        <p:nvSpPr>
          <p:cNvPr id="54" name="Google Shape;54;p15"/>
          <p:cNvSpPr/>
          <p:nvPr/>
        </p:nvSpPr>
        <p:spPr>
          <a:xfrm>
            <a:off x="7566655" y="2141700"/>
            <a:ext cx="860100" cy="860100"/>
          </a:xfrm>
          <a:prstGeom prst="roundRect">
            <a:avLst>
              <a:gd name="adj" fmla="val 12505"/>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Montserrat SemiBold"/>
              <a:ea typeface="Montserrat SemiBold"/>
              <a:cs typeface="Montserrat SemiBold"/>
              <a:sym typeface="Montserrat SemiBold"/>
            </a:endParaRPr>
          </a:p>
        </p:txBody>
      </p:sp>
      <p:sp>
        <p:nvSpPr>
          <p:cNvPr id="55" name="Google Shape;55;p15"/>
          <p:cNvSpPr/>
          <p:nvPr/>
        </p:nvSpPr>
        <p:spPr>
          <a:xfrm>
            <a:off x="6424576" y="2141700"/>
            <a:ext cx="860100" cy="860100"/>
          </a:xfrm>
          <a:prstGeom prst="roundRect">
            <a:avLst>
              <a:gd name="adj" fmla="val 12505"/>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Montserrat SemiBold"/>
              <a:ea typeface="Montserrat SemiBold"/>
              <a:cs typeface="Montserrat SemiBold"/>
              <a:sym typeface="Montserrat SemiBold"/>
            </a:endParaRPr>
          </a:p>
        </p:txBody>
      </p:sp>
      <p:sp>
        <p:nvSpPr>
          <p:cNvPr id="56" name="Google Shape;56;p15"/>
          <p:cNvSpPr/>
          <p:nvPr/>
        </p:nvSpPr>
        <p:spPr>
          <a:xfrm>
            <a:off x="7566655" y="3187604"/>
            <a:ext cx="860100" cy="860100"/>
          </a:xfrm>
          <a:prstGeom prst="roundRect">
            <a:avLst>
              <a:gd name="adj" fmla="val 12505"/>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Montserrat SemiBold"/>
              <a:ea typeface="Montserrat SemiBold"/>
              <a:cs typeface="Montserrat SemiBold"/>
              <a:sym typeface="Montserrat SemiBold"/>
            </a:endParaRPr>
          </a:p>
        </p:txBody>
      </p:sp>
      <p:sp>
        <p:nvSpPr>
          <p:cNvPr id="57" name="Google Shape;57;p15"/>
          <p:cNvSpPr/>
          <p:nvPr/>
        </p:nvSpPr>
        <p:spPr>
          <a:xfrm>
            <a:off x="6424576" y="3187604"/>
            <a:ext cx="860100" cy="860100"/>
          </a:xfrm>
          <a:prstGeom prst="roundRect">
            <a:avLst>
              <a:gd name="adj" fmla="val 12505"/>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600">
              <a:solidFill>
                <a:schemeClr val="lt1"/>
              </a:solidFill>
              <a:latin typeface="Montserrat SemiBold"/>
              <a:ea typeface="Montserrat SemiBold"/>
              <a:cs typeface="Montserrat SemiBold"/>
              <a:sym typeface="Montserrat SemiBold"/>
            </a:endParaRPr>
          </a:p>
        </p:txBody>
      </p:sp>
      <p:grpSp>
        <p:nvGrpSpPr>
          <p:cNvPr id="58" name="Google Shape;58;p15"/>
          <p:cNvGrpSpPr/>
          <p:nvPr/>
        </p:nvGrpSpPr>
        <p:grpSpPr>
          <a:xfrm>
            <a:off x="6682199" y="1368098"/>
            <a:ext cx="344854" cy="315495"/>
            <a:chOff x="1032026" y="1605107"/>
            <a:chExt cx="344854" cy="315495"/>
          </a:xfrm>
        </p:grpSpPr>
        <p:sp>
          <p:nvSpPr>
            <p:cNvPr id="59" name="Google Shape;59;p15"/>
            <p:cNvSpPr/>
            <p:nvPr/>
          </p:nvSpPr>
          <p:spPr>
            <a:xfrm>
              <a:off x="1098809" y="1605107"/>
              <a:ext cx="210126" cy="108854"/>
            </a:xfrm>
            <a:custGeom>
              <a:avLst/>
              <a:gdLst/>
              <a:ahLst/>
              <a:cxnLst/>
              <a:rect l="l" t="t" r="r" b="b"/>
              <a:pathLst>
                <a:path w="6513" h="3374" extrusionOk="0">
                  <a:moveTo>
                    <a:pt x="2641" y="1"/>
                  </a:moveTo>
                  <a:cubicBezTo>
                    <a:pt x="2123" y="1"/>
                    <a:pt x="1677" y="322"/>
                    <a:pt x="1517" y="786"/>
                  </a:cubicBezTo>
                  <a:lnTo>
                    <a:pt x="1445" y="1000"/>
                  </a:lnTo>
                  <a:lnTo>
                    <a:pt x="1213" y="1000"/>
                  </a:lnTo>
                  <a:cubicBezTo>
                    <a:pt x="607" y="1018"/>
                    <a:pt x="107" y="1482"/>
                    <a:pt x="54" y="2088"/>
                  </a:cubicBezTo>
                  <a:cubicBezTo>
                    <a:pt x="0" y="2784"/>
                    <a:pt x="571" y="3373"/>
                    <a:pt x="1267" y="3373"/>
                  </a:cubicBezTo>
                  <a:lnTo>
                    <a:pt x="2962" y="3373"/>
                  </a:lnTo>
                  <a:lnTo>
                    <a:pt x="2962" y="1946"/>
                  </a:lnTo>
                  <a:lnTo>
                    <a:pt x="3587" y="1946"/>
                  </a:lnTo>
                  <a:lnTo>
                    <a:pt x="3587" y="3373"/>
                  </a:lnTo>
                  <a:lnTo>
                    <a:pt x="5781" y="3373"/>
                  </a:lnTo>
                  <a:cubicBezTo>
                    <a:pt x="6174" y="3373"/>
                    <a:pt x="6513" y="3052"/>
                    <a:pt x="6477" y="2642"/>
                  </a:cubicBezTo>
                  <a:cubicBezTo>
                    <a:pt x="6459" y="2285"/>
                    <a:pt x="6174" y="2017"/>
                    <a:pt x="5799" y="1999"/>
                  </a:cubicBezTo>
                  <a:lnTo>
                    <a:pt x="5567" y="1999"/>
                  </a:lnTo>
                  <a:lnTo>
                    <a:pt x="5514" y="1749"/>
                  </a:lnTo>
                  <a:cubicBezTo>
                    <a:pt x="5424" y="1321"/>
                    <a:pt x="5032" y="1000"/>
                    <a:pt x="4586" y="1000"/>
                  </a:cubicBezTo>
                  <a:cubicBezTo>
                    <a:pt x="4461" y="1000"/>
                    <a:pt x="4336" y="1018"/>
                    <a:pt x="4211" y="1071"/>
                  </a:cubicBezTo>
                  <a:lnTo>
                    <a:pt x="3890" y="1214"/>
                  </a:lnTo>
                  <a:lnTo>
                    <a:pt x="3801" y="875"/>
                  </a:lnTo>
                  <a:cubicBezTo>
                    <a:pt x="3658" y="358"/>
                    <a:pt x="3176" y="1"/>
                    <a:pt x="26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1315807" y="1662115"/>
              <a:ext cx="46103" cy="33424"/>
            </a:xfrm>
            <a:custGeom>
              <a:avLst/>
              <a:gdLst/>
              <a:ahLst/>
              <a:cxnLst/>
              <a:rect l="l" t="t" r="r" b="b"/>
              <a:pathLst>
                <a:path w="1429" h="1036" extrusionOk="0">
                  <a:moveTo>
                    <a:pt x="1" y="0"/>
                  </a:moveTo>
                  <a:cubicBezTo>
                    <a:pt x="233" y="250"/>
                    <a:pt x="376" y="571"/>
                    <a:pt x="376" y="928"/>
                  </a:cubicBezTo>
                  <a:cubicBezTo>
                    <a:pt x="376" y="964"/>
                    <a:pt x="358" y="999"/>
                    <a:pt x="358" y="1035"/>
                  </a:cubicBezTo>
                  <a:lnTo>
                    <a:pt x="1428" y="1035"/>
                  </a:lnTo>
                  <a:lnTo>
                    <a:pt x="14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1045834" y="1662115"/>
              <a:ext cx="316076" cy="217030"/>
            </a:xfrm>
            <a:custGeom>
              <a:avLst/>
              <a:gdLst/>
              <a:ahLst/>
              <a:cxnLst/>
              <a:rect l="l" t="t" r="r" b="b"/>
              <a:pathLst>
                <a:path w="9797" h="6727" extrusionOk="0">
                  <a:moveTo>
                    <a:pt x="18" y="0"/>
                  </a:moveTo>
                  <a:lnTo>
                    <a:pt x="18" y="1035"/>
                  </a:lnTo>
                  <a:lnTo>
                    <a:pt x="1178" y="1035"/>
                  </a:lnTo>
                  <a:cubicBezTo>
                    <a:pt x="1107" y="839"/>
                    <a:pt x="1071" y="625"/>
                    <a:pt x="1071" y="411"/>
                  </a:cubicBezTo>
                  <a:cubicBezTo>
                    <a:pt x="1071" y="268"/>
                    <a:pt x="1089" y="125"/>
                    <a:pt x="1107" y="0"/>
                  </a:cubicBezTo>
                  <a:close/>
                  <a:moveTo>
                    <a:pt x="1" y="1035"/>
                  </a:moveTo>
                  <a:lnTo>
                    <a:pt x="1" y="1660"/>
                  </a:lnTo>
                  <a:lnTo>
                    <a:pt x="18" y="1660"/>
                  </a:lnTo>
                  <a:lnTo>
                    <a:pt x="18" y="1035"/>
                  </a:lnTo>
                  <a:close/>
                  <a:moveTo>
                    <a:pt x="18" y="1660"/>
                  </a:moveTo>
                  <a:lnTo>
                    <a:pt x="18" y="6370"/>
                  </a:lnTo>
                  <a:lnTo>
                    <a:pt x="3676" y="6370"/>
                  </a:lnTo>
                  <a:lnTo>
                    <a:pt x="4033" y="6727"/>
                  </a:lnTo>
                  <a:lnTo>
                    <a:pt x="5710" y="6727"/>
                  </a:lnTo>
                  <a:lnTo>
                    <a:pt x="6067" y="6370"/>
                  </a:lnTo>
                  <a:lnTo>
                    <a:pt x="9796" y="6370"/>
                  </a:lnTo>
                  <a:lnTo>
                    <a:pt x="9796" y="1660"/>
                  </a:lnTo>
                  <a:lnTo>
                    <a:pt x="8529" y="1660"/>
                  </a:lnTo>
                  <a:cubicBezTo>
                    <a:pt x="8297" y="2016"/>
                    <a:pt x="7887" y="2248"/>
                    <a:pt x="7441" y="2248"/>
                  </a:cubicBezTo>
                  <a:lnTo>
                    <a:pt x="5229" y="2248"/>
                  </a:lnTo>
                  <a:lnTo>
                    <a:pt x="5229" y="3212"/>
                  </a:lnTo>
                  <a:lnTo>
                    <a:pt x="5603" y="2873"/>
                  </a:lnTo>
                  <a:lnTo>
                    <a:pt x="6031" y="3337"/>
                  </a:lnTo>
                  <a:lnTo>
                    <a:pt x="4907" y="4318"/>
                  </a:lnTo>
                  <a:lnTo>
                    <a:pt x="3801" y="3337"/>
                  </a:lnTo>
                  <a:lnTo>
                    <a:pt x="4212" y="2873"/>
                  </a:lnTo>
                  <a:lnTo>
                    <a:pt x="4604" y="3212"/>
                  </a:lnTo>
                  <a:lnTo>
                    <a:pt x="4604" y="2248"/>
                  </a:lnTo>
                  <a:lnTo>
                    <a:pt x="2891" y="2248"/>
                  </a:lnTo>
                  <a:cubicBezTo>
                    <a:pt x="2356" y="2248"/>
                    <a:pt x="1874" y="2016"/>
                    <a:pt x="1535" y="166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1032026" y="1887759"/>
              <a:ext cx="344854" cy="32843"/>
            </a:xfrm>
            <a:custGeom>
              <a:avLst/>
              <a:gdLst/>
              <a:ahLst/>
              <a:cxnLst/>
              <a:rect l="l" t="t" r="r" b="b"/>
              <a:pathLst>
                <a:path w="10689" h="1018" extrusionOk="0">
                  <a:moveTo>
                    <a:pt x="0" y="1"/>
                  </a:moveTo>
                  <a:lnTo>
                    <a:pt x="0" y="357"/>
                  </a:lnTo>
                  <a:lnTo>
                    <a:pt x="678" y="1018"/>
                  </a:lnTo>
                  <a:lnTo>
                    <a:pt x="10010" y="1018"/>
                  </a:lnTo>
                  <a:lnTo>
                    <a:pt x="10688" y="357"/>
                  </a:lnTo>
                  <a:lnTo>
                    <a:pt x="10688" y="1"/>
                  </a:lnTo>
                  <a:lnTo>
                    <a:pt x="6834" y="1"/>
                  </a:lnTo>
                  <a:lnTo>
                    <a:pt x="6477" y="357"/>
                  </a:lnTo>
                  <a:lnTo>
                    <a:pt x="4283" y="357"/>
                  </a:lnTo>
                  <a:lnTo>
                    <a:pt x="39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15"/>
          <p:cNvGrpSpPr/>
          <p:nvPr/>
        </p:nvGrpSpPr>
        <p:grpSpPr>
          <a:xfrm>
            <a:off x="7824278" y="3445517"/>
            <a:ext cx="344854" cy="344273"/>
            <a:chOff x="6270423" y="3778180"/>
            <a:chExt cx="344854" cy="344273"/>
          </a:xfrm>
        </p:grpSpPr>
        <p:sp>
          <p:nvSpPr>
            <p:cNvPr id="64" name="Google Shape;64;p15"/>
            <p:cNvSpPr/>
            <p:nvPr/>
          </p:nvSpPr>
          <p:spPr>
            <a:xfrm>
              <a:off x="6365985" y="3883517"/>
              <a:ext cx="32843" cy="82366"/>
            </a:xfrm>
            <a:custGeom>
              <a:avLst/>
              <a:gdLst/>
              <a:ahLst/>
              <a:cxnLst/>
              <a:rect l="l" t="t" r="r" b="b"/>
              <a:pathLst>
                <a:path w="1018" h="2553" extrusionOk="0">
                  <a:moveTo>
                    <a:pt x="714" y="1"/>
                  </a:moveTo>
                  <a:cubicBezTo>
                    <a:pt x="678" y="19"/>
                    <a:pt x="643" y="37"/>
                    <a:pt x="607" y="54"/>
                  </a:cubicBezTo>
                  <a:cubicBezTo>
                    <a:pt x="215" y="251"/>
                    <a:pt x="0" y="483"/>
                    <a:pt x="0" y="715"/>
                  </a:cubicBezTo>
                  <a:cubicBezTo>
                    <a:pt x="0" y="1428"/>
                    <a:pt x="393" y="2053"/>
                    <a:pt x="857" y="2552"/>
                  </a:cubicBezTo>
                  <a:lnTo>
                    <a:pt x="1017" y="1981"/>
                  </a:lnTo>
                  <a:cubicBezTo>
                    <a:pt x="821" y="1714"/>
                    <a:pt x="714" y="1375"/>
                    <a:pt x="714" y="1018"/>
                  </a:cubicBezTo>
                  <a:lnTo>
                    <a:pt x="7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a:off x="6478226" y="3969884"/>
              <a:ext cx="137051" cy="152569"/>
            </a:xfrm>
            <a:custGeom>
              <a:avLst/>
              <a:gdLst/>
              <a:ahLst/>
              <a:cxnLst/>
              <a:rect l="l" t="t" r="r" b="b"/>
              <a:pathLst>
                <a:path w="4248" h="4729" extrusionOk="0">
                  <a:moveTo>
                    <a:pt x="1125" y="0"/>
                  </a:moveTo>
                  <a:cubicBezTo>
                    <a:pt x="786" y="429"/>
                    <a:pt x="358" y="785"/>
                    <a:pt x="1" y="1053"/>
                  </a:cubicBezTo>
                  <a:lnTo>
                    <a:pt x="2409" y="1053"/>
                  </a:lnTo>
                  <a:lnTo>
                    <a:pt x="1910" y="4729"/>
                  </a:lnTo>
                  <a:lnTo>
                    <a:pt x="4247" y="4729"/>
                  </a:lnTo>
                  <a:lnTo>
                    <a:pt x="3569" y="714"/>
                  </a:lnTo>
                  <a:lnTo>
                    <a:pt x="11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a:off x="6486292" y="3883517"/>
              <a:ext cx="33424" cy="82366"/>
            </a:xfrm>
            <a:custGeom>
              <a:avLst/>
              <a:gdLst/>
              <a:ahLst/>
              <a:cxnLst/>
              <a:rect l="l" t="t" r="r" b="b"/>
              <a:pathLst>
                <a:path w="1036" h="2553" extrusionOk="0">
                  <a:moveTo>
                    <a:pt x="322" y="1"/>
                  </a:moveTo>
                  <a:lnTo>
                    <a:pt x="322" y="1018"/>
                  </a:lnTo>
                  <a:cubicBezTo>
                    <a:pt x="322" y="1375"/>
                    <a:pt x="197" y="1714"/>
                    <a:pt x="1" y="1981"/>
                  </a:cubicBezTo>
                  <a:lnTo>
                    <a:pt x="161" y="2552"/>
                  </a:lnTo>
                  <a:cubicBezTo>
                    <a:pt x="643" y="2053"/>
                    <a:pt x="1035" y="1428"/>
                    <a:pt x="1035" y="715"/>
                  </a:cubicBezTo>
                  <a:cubicBezTo>
                    <a:pt x="1035" y="483"/>
                    <a:pt x="803" y="251"/>
                    <a:pt x="429" y="54"/>
                  </a:cubicBezTo>
                  <a:cubicBezTo>
                    <a:pt x="393" y="37"/>
                    <a:pt x="357" y="19"/>
                    <a:pt x="3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a:off x="6352757" y="4024569"/>
              <a:ext cx="180186" cy="97884"/>
            </a:xfrm>
            <a:custGeom>
              <a:avLst/>
              <a:gdLst/>
              <a:ahLst/>
              <a:cxnLst/>
              <a:rect l="l" t="t" r="r" b="b"/>
              <a:pathLst>
                <a:path w="5585" h="3034" extrusionOk="0">
                  <a:moveTo>
                    <a:pt x="3122" y="1035"/>
                  </a:moveTo>
                  <a:lnTo>
                    <a:pt x="3122" y="1660"/>
                  </a:lnTo>
                  <a:lnTo>
                    <a:pt x="2462" y="1660"/>
                  </a:lnTo>
                  <a:lnTo>
                    <a:pt x="2462" y="1035"/>
                  </a:lnTo>
                  <a:close/>
                  <a:moveTo>
                    <a:pt x="0" y="0"/>
                  </a:moveTo>
                  <a:lnTo>
                    <a:pt x="410" y="3034"/>
                  </a:lnTo>
                  <a:lnTo>
                    <a:pt x="5174" y="3034"/>
                  </a:lnTo>
                  <a:lnTo>
                    <a:pt x="5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a:off x="6270423" y="3969884"/>
              <a:ext cx="137051" cy="152569"/>
            </a:xfrm>
            <a:custGeom>
              <a:avLst/>
              <a:gdLst/>
              <a:ahLst/>
              <a:cxnLst/>
              <a:rect l="l" t="t" r="r" b="b"/>
              <a:pathLst>
                <a:path w="4248" h="4729" extrusionOk="0">
                  <a:moveTo>
                    <a:pt x="3105" y="0"/>
                  </a:moveTo>
                  <a:lnTo>
                    <a:pt x="661" y="714"/>
                  </a:lnTo>
                  <a:lnTo>
                    <a:pt x="1" y="4729"/>
                  </a:lnTo>
                  <a:lnTo>
                    <a:pt x="2320" y="4729"/>
                  </a:lnTo>
                  <a:lnTo>
                    <a:pt x="1838" y="1053"/>
                  </a:lnTo>
                  <a:lnTo>
                    <a:pt x="4247" y="1053"/>
                  </a:lnTo>
                  <a:cubicBezTo>
                    <a:pt x="3872" y="785"/>
                    <a:pt x="3462" y="429"/>
                    <a:pt x="310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a:off x="6355629" y="3778180"/>
              <a:ext cx="174443" cy="104240"/>
            </a:xfrm>
            <a:custGeom>
              <a:avLst/>
              <a:gdLst/>
              <a:ahLst/>
              <a:cxnLst/>
              <a:rect l="l" t="t" r="r" b="b"/>
              <a:pathLst>
                <a:path w="5407" h="3231" extrusionOk="0">
                  <a:moveTo>
                    <a:pt x="2694" y="1"/>
                  </a:moveTo>
                  <a:cubicBezTo>
                    <a:pt x="2694" y="1"/>
                    <a:pt x="72" y="607"/>
                    <a:pt x="0" y="3230"/>
                  </a:cubicBezTo>
                  <a:cubicBezTo>
                    <a:pt x="161" y="3052"/>
                    <a:pt x="375" y="2891"/>
                    <a:pt x="643" y="2749"/>
                  </a:cubicBezTo>
                  <a:cubicBezTo>
                    <a:pt x="1196" y="2481"/>
                    <a:pt x="1927" y="2338"/>
                    <a:pt x="2694" y="2338"/>
                  </a:cubicBezTo>
                  <a:cubicBezTo>
                    <a:pt x="3462" y="2338"/>
                    <a:pt x="4193" y="2481"/>
                    <a:pt x="4746" y="2749"/>
                  </a:cubicBezTo>
                  <a:cubicBezTo>
                    <a:pt x="5014" y="2891"/>
                    <a:pt x="5246" y="3052"/>
                    <a:pt x="5407" y="3230"/>
                  </a:cubicBezTo>
                  <a:cubicBezTo>
                    <a:pt x="5317" y="607"/>
                    <a:pt x="2694" y="1"/>
                    <a:pt x="26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a:off x="6409733" y="3873742"/>
              <a:ext cx="66816" cy="76010"/>
            </a:xfrm>
            <a:custGeom>
              <a:avLst/>
              <a:gdLst/>
              <a:ahLst/>
              <a:cxnLst/>
              <a:rect l="l" t="t" r="r" b="b"/>
              <a:pathLst>
                <a:path w="2071" h="2356" extrusionOk="0">
                  <a:moveTo>
                    <a:pt x="1035" y="1"/>
                  </a:moveTo>
                  <a:cubicBezTo>
                    <a:pt x="678" y="1"/>
                    <a:pt x="322" y="36"/>
                    <a:pt x="0" y="108"/>
                  </a:cubicBezTo>
                  <a:lnTo>
                    <a:pt x="0" y="1321"/>
                  </a:lnTo>
                  <a:cubicBezTo>
                    <a:pt x="0" y="1606"/>
                    <a:pt x="107" y="1856"/>
                    <a:pt x="304" y="2053"/>
                  </a:cubicBezTo>
                  <a:cubicBezTo>
                    <a:pt x="500" y="2249"/>
                    <a:pt x="750" y="2356"/>
                    <a:pt x="1035" y="2356"/>
                  </a:cubicBezTo>
                  <a:cubicBezTo>
                    <a:pt x="1606" y="2356"/>
                    <a:pt x="2070" y="1892"/>
                    <a:pt x="2070" y="1321"/>
                  </a:cubicBezTo>
                  <a:lnTo>
                    <a:pt x="2070" y="108"/>
                  </a:lnTo>
                  <a:cubicBezTo>
                    <a:pt x="1749" y="36"/>
                    <a:pt x="1392" y="1"/>
                    <a:pt x="10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6410894" y="3962399"/>
              <a:ext cx="63912" cy="40328"/>
            </a:xfrm>
            <a:custGeom>
              <a:avLst/>
              <a:gdLst/>
              <a:ahLst/>
              <a:cxnLst/>
              <a:rect l="l" t="t" r="r" b="b"/>
              <a:pathLst>
                <a:path w="1981" h="1250" extrusionOk="0">
                  <a:moveTo>
                    <a:pt x="1820" y="0"/>
                  </a:moveTo>
                  <a:cubicBezTo>
                    <a:pt x="1570" y="143"/>
                    <a:pt x="1285" y="232"/>
                    <a:pt x="981" y="232"/>
                  </a:cubicBezTo>
                  <a:cubicBezTo>
                    <a:pt x="696" y="232"/>
                    <a:pt x="411" y="161"/>
                    <a:pt x="161" y="18"/>
                  </a:cubicBezTo>
                  <a:lnTo>
                    <a:pt x="0" y="589"/>
                  </a:lnTo>
                  <a:cubicBezTo>
                    <a:pt x="393" y="910"/>
                    <a:pt x="785" y="1142"/>
                    <a:pt x="981" y="1249"/>
                  </a:cubicBezTo>
                  <a:cubicBezTo>
                    <a:pt x="1196" y="1142"/>
                    <a:pt x="1570" y="910"/>
                    <a:pt x="1981" y="589"/>
                  </a:cubicBezTo>
                  <a:lnTo>
                    <a:pt x="18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72;p15"/>
          <p:cNvSpPr/>
          <p:nvPr/>
        </p:nvSpPr>
        <p:spPr>
          <a:xfrm>
            <a:off x="6680473" y="3445469"/>
            <a:ext cx="348306" cy="344370"/>
          </a:xfrm>
          <a:custGeom>
            <a:avLst/>
            <a:gdLst/>
            <a:ahLst/>
            <a:cxnLst/>
            <a:rect l="l" t="t" r="r" b="b"/>
            <a:pathLst>
              <a:path w="10796" h="10674" extrusionOk="0">
                <a:moveTo>
                  <a:pt x="4158" y="2945"/>
                </a:moveTo>
                <a:lnTo>
                  <a:pt x="4604" y="3391"/>
                </a:lnTo>
                <a:lnTo>
                  <a:pt x="3961" y="4033"/>
                </a:lnTo>
                <a:lnTo>
                  <a:pt x="4604" y="4693"/>
                </a:lnTo>
                <a:lnTo>
                  <a:pt x="4158" y="5122"/>
                </a:lnTo>
                <a:lnTo>
                  <a:pt x="3087" y="4033"/>
                </a:lnTo>
                <a:lnTo>
                  <a:pt x="4158" y="2945"/>
                </a:lnTo>
                <a:close/>
                <a:moveTo>
                  <a:pt x="6656" y="2945"/>
                </a:moveTo>
                <a:lnTo>
                  <a:pt x="7726" y="4033"/>
                </a:lnTo>
                <a:lnTo>
                  <a:pt x="6656" y="5122"/>
                </a:lnTo>
                <a:lnTo>
                  <a:pt x="6210" y="4693"/>
                </a:lnTo>
                <a:lnTo>
                  <a:pt x="6852" y="4033"/>
                </a:lnTo>
                <a:lnTo>
                  <a:pt x="6210" y="3391"/>
                </a:lnTo>
                <a:lnTo>
                  <a:pt x="6656" y="2945"/>
                </a:lnTo>
                <a:close/>
                <a:moveTo>
                  <a:pt x="5585" y="2909"/>
                </a:moveTo>
                <a:lnTo>
                  <a:pt x="6156" y="3177"/>
                </a:lnTo>
                <a:lnTo>
                  <a:pt x="5228" y="5157"/>
                </a:lnTo>
                <a:lnTo>
                  <a:pt x="4657" y="4890"/>
                </a:lnTo>
                <a:lnTo>
                  <a:pt x="5585" y="2909"/>
                </a:lnTo>
                <a:close/>
                <a:moveTo>
                  <a:pt x="4514" y="1"/>
                </a:moveTo>
                <a:cubicBezTo>
                  <a:pt x="3551" y="1"/>
                  <a:pt x="2659" y="572"/>
                  <a:pt x="2266" y="1446"/>
                </a:cubicBezTo>
                <a:cubicBezTo>
                  <a:pt x="1695" y="1500"/>
                  <a:pt x="1178" y="1767"/>
                  <a:pt x="785" y="2178"/>
                </a:cubicBezTo>
                <a:cubicBezTo>
                  <a:pt x="357" y="2606"/>
                  <a:pt x="107" y="3159"/>
                  <a:pt x="89" y="3766"/>
                </a:cubicBezTo>
                <a:cubicBezTo>
                  <a:pt x="0" y="5193"/>
                  <a:pt x="1142" y="6353"/>
                  <a:pt x="2570" y="6353"/>
                </a:cubicBezTo>
                <a:lnTo>
                  <a:pt x="2587" y="6353"/>
                </a:lnTo>
                <a:lnTo>
                  <a:pt x="2587" y="7548"/>
                </a:lnTo>
                <a:lnTo>
                  <a:pt x="1892" y="7548"/>
                </a:lnTo>
                <a:cubicBezTo>
                  <a:pt x="1767" y="7173"/>
                  <a:pt x="1428" y="6906"/>
                  <a:pt x="1017" y="6906"/>
                </a:cubicBezTo>
                <a:cubicBezTo>
                  <a:pt x="500" y="6906"/>
                  <a:pt x="72" y="7334"/>
                  <a:pt x="72" y="7852"/>
                </a:cubicBezTo>
                <a:cubicBezTo>
                  <a:pt x="72" y="8369"/>
                  <a:pt x="500" y="8797"/>
                  <a:pt x="1017" y="8797"/>
                </a:cubicBezTo>
                <a:cubicBezTo>
                  <a:pt x="1428" y="8797"/>
                  <a:pt x="1892" y="8155"/>
                  <a:pt x="1892" y="8155"/>
                </a:cubicBezTo>
                <a:lnTo>
                  <a:pt x="3212" y="8155"/>
                </a:lnTo>
                <a:lnTo>
                  <a:pt x="3212" y="6353"/>
                </a:lnTo>
                <a:lnTo>
                  <a:pt x="4158" y="6353"/>
                </a:lnTo>
                <a:lnTo>
                  <a:pt x="4158" y="9422"/>
                </a:lnTo>
                <a:lnTo>
                  <a:pt x="3480" y="9422"/>
                </a:lnTo>
                <a:cubicBezTo>
                  <a:pt x="3341" y="9059"/>
                  <a:pt x="2986" y="8796"/>
                  <a:pt x="2574" y="8796"/>
                </a:cubicBezTo>
                <a:cubicBezTo>
                  <a:pt x="2561" y="8796"/>
                  <a:pt x="2547" y="8797"/>
                  <a:pt x="2534" y="8797"/>
                </a:cubicBezTo>
                <a:cubicBezTo>
                  <a:pt x="2070" y="8815"/>
                  <a:pt x="1677" y="9190"/>
                  <a:pt x="1642" y="9654"/>
                </a:cubicBezTo>
                <a:cubicBezTo>
                  <a:pt x="1606" y="10207"/>
                  <a:pt x="2034" y="10671"/>
                  <a:pt x="2587" y="10671"/>
                </a:cubicBezTo>
                <a:cubicBezTo>
                  <a:pt x="2998" y="10671"/>
                  <a:pt x="3337" y="10421"/>
                  <a:pt x="3480" y="10046"/>
                </a:cubicBezTo>
                <a:lnTo>
                  <a:pt x="4782" y="10046"/>
                </a:lnTo>
                <a:lnTo>
                  <a:pt x="4782" y="6371"/>
                </a:lnTo>
                <a:lnTo>
                  <a:pt x="6031" y="6371"/>
                </a:lnTo>
                <a:lnTo>
                  <a:pt x="6031" y="10046"/>
                </a:lnTo>
                <a:lnTo>
                  <a:pt x="7351" y="10046"/>
                </a:lnTo>
                <a:cubicBezTo>
                  <a:pt x="7469" y="10400"/>
                  <a:pt x="7809" y="10674"/>
                  <a:pt x="8207" y="10674"/>
                </a:cubicBezTo>
                <a:cubicBezTo>
                  <a:pt x="8231" y="10674"/>
                  <a:pt x="8255" y="10673"/>
                  <a:pt x="8279" y="10671"/>
                </a:cubicBezTo>
                <a:cubicBezTo>
                  <a:pt x="8743" y="10653"/>
                  <a:pt x="9136" y="10278"/>
                  <a:pt x="9171" y="9814"/>
                </a:cubicBezTo>
                <a:cubicBezTo>
                  <a:pt x="9207" y="9261"/>
                  <a:pt x="8779" y="8797"/>
                  <a:pt x="8226" y="8797"/>
                </a:cubicBezTo>
                <a:cubicBezTo>
                  <a:pt x="7815" y="8797"/>
                  <a:pt x="7476" y="9065"/>
                  <a:pt x="7351" y="9422"/>
                </a:cubicBezTo>
                <a:lnTo>
                  <a:pt x="6656" y="9422"/>
                </a:lnTo>
                <a:lnTo>
                  <a:pt x="6656" y="6371"/>
                </a:lnTo>
                <a:lnTo>
                  <a:pt x="7601" y="6371"/>
                </a:lnTo>
                <a:lnTo>
                  <a:pt x="7601" y="8173"/>
                </a:lnTo>
                <a:lnTo>
                  <a:pt x="8922" y="8173"/>
                </a:lnTo>
                <a:cubicBezTo>
                  <a:pt x="9046" y="8530"/>
                  <a:pt x="9403" y="8797"/>
                  <a:pt x="9796" y="8797"/>
                </a:cubicBezTo>
                <a:cubicBezTo>
                  <a:pt x="10331" y="8797"/>
                  <a:pt x="10742" y="8369"/>
                  <a:pt x="10742" y="7852"/>
                </a:cubicBezTo>
                <a:cubicBezTo>
                  <a:pt x="10742" y="7334"/>
                  <a:pt x="10331" y="6906"/>
                  <a:pt x="9796" y="6906"/>
                </a:cubicBezTo>
                <a:cubicBezTo>
                  <a:pt x="9403" y="6906"/>
                  <a:pt x="8922" y="7530"/>
                  <a:pt x="8922" y="7530"/>
                </a:cubicBezTo>
                <a:lnTo>
                  <a:pt x="8244" y="7530"/>
                </a:lnTo>
                <a:lnTo>
                  <a:pt x="8244" y="6353"/>
                </a:lnTo>
                <a:lnTo>
                  <a:pt x="8975" y="6353"/>
                </a:lnTo>
                <a:cubicBezTo>
                  <a:pt x="9992" y="6353"/>
                  <a:pt x="10795" y="5532"/>
                  <a:pt x="10759" y="4515"/>
                </a:cubicBezTo>
                <a:cubicBezTo>
                  <a:pt x="10724" y="4105"/>
                  <a:pt x="10563" y="3694"/>
                  <a:pt x="10260" y="3391"/>
                </a:cubicBezTo>
                <a:cubicBezTo>
                  <a:pt x="9992" y="3123"/>
                  <a:pt x="9653" y="2945"/>
                  <a:pt x="9296" y="2891"/>
                </a:cubicBezTo>
                <a:cubicBezTo>
                  <a:pt x="9011" y="2035"/>
                  <a:pt x="8208" y="1428"/>
                  <a:pt x="7280" y="1428"/>
                </a:cubicBezTo>
                <a:cubicBezTo>
                  <a:pt x="7119" y="1428"/>
                  <a:pt x="6941" y="1446"/>
                  <a:pt x="6780" y="1482"/>
                </a:cubicBezTo>
                <a:cubicBezTo>
                  <a:pt x="6406" y="590"/>
                  <a:pt x="5514" y="1"/>
                  <a:pt x="4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 name="Google Shape;73;p15"/>
          <p:cNvGrpSpPr/>
          <p:nvPr/>
        </p:nvGrpSpPr>
        <p:grpSpPr>
          <a:xfrm>
            <a:off x="7824569" y="2399613"/>
            <a:ext cx="344273" cy="344273"/>
            <a:chOff x="4025405" y="2684449"/>
            <a:chExt cx="344273" cy="344273"/>
          </a:xfrm>
        </p:grpSpPr>
        <p:sp>
          <p:nvSpPr>
            <p:cNvPr id="74" name="Google Shape;74;p15"/>
            <p:cNvSpPr/>
            <p:nvPr/>
          </p:nvSpPr>
          <p:spPr>
            <a:xfrm>
              <a:off x="4207882" y="2789238"/>
              <a:ext cx="161796" cy="239485"/>
            </a:xfrm>
            <a:custGeom>
              <a:avLst/>
              <a:gdLst/>
              <a:ahLst/>
              <a:cxnLst/>
              <a:rect l="l" t="t" r="r" b="b"/>
              <a:pathLst>
                <a:path w="5015" h="7423" extrusionOk="0">
                  <a:moveTo>
                    <a:pt x="4211" y="0"/>
                  </a:moveTo>
                  <a:lnTo>
                    <a:pt x="3123" y="1089"/>
                  </a:lnTo>
                  <a:lnTo>
                    <a:pt x="2463" y="1089"/>
                  </a:lnTo>
                  <a:lnTo>
                    <a:pt x="2391" y="321"/>
                  </a:lnTo>
                  <a:lnTo>
                    <a:pt x="0" y="321"/>
                  </a:lnTo>
                  <a:lnTo>
                    <a:pt x="0" y="7423"/>
                  </a:lnTo>
                  <a:cubicBezTo>
                    <a:pt x="1142" y="7316"/>
                    <a:pt x="2088" y="6566"/>
                    <a:pt x="2516" y="5549"/>
                  </a:cubicBezTo>
                  <a:lnTo>
                    <a:pt x="3230" y="5549"/>
                  </a:lnTo>
                  <a:lnTo>
                    <a:pt x="4283" y="6620"/>
                  </a:lnTo>
                  <a:lnTo>
                    <a:pt x="4729" y="6174"/>
                  </a:lnTo>
                  <a:lnTo>
                    <a:pt x="3480" y="4925"/>
                  </a:lnTo>
                  <a:lnTo>
                    <a:pt x="2712" y="4925"/>
                  </a:lnTo>
                  <a:cubicBezTo>
                    <a:pt x="2766" y="4657"/>
                    <a:pt x="2784" y="4372"/>
                    <a:pt x="2748" y="4086"/>
                  </a:cubicBezTo>
                  <a:lnTo>
                    <a:pt x="2712" y="3676"/>
                  </a:lnTo>
                  <a:lnTo>
                    <a:pt x="3515" y="3676"/>
                  </a:lnTo>
                  <a:lnTo>
                    <a:pt x="4586" y="4746"/>
                  </a:lnTo>
                  <a:lnTo>
                    <a:pt x="5014" y="4300"/>
                  </a:lnTo>
                  <a:lnTo>
                    <a:pt x="3783" y="3051"/>
                  </a:lnTo>
                  <a:lnTo>
                    <a:pt x="2659" y="3051"/>
                  </a:lnTo>
                  <a:lnTo>
                    <a:pt x="2534" y="1749"/>
                  </a:lnTo>
                  <a:lnTo>
                    <a:pt x="3390" y="1749"/>
                  </a:lnTo>
                  <a:lnTo>
                    <a:pt x="4675" y="464"/>
                  </a:lnTo>
                  <a:lnTo>
                    <a:pt x="42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a:off x="4129000" y="2684449"/>
              <a:ext cx="138213" cy="95013"/>
            </a:xfrm>
            <a:custGeom>
              <a:avLst/>
              <a:gdLst/>
              <a:ahLst/>
              <a:cxnLst/>
              <a:rect l="l" t="t" r="r" b="b"/>
              <a:pathLst>
                <a:path w="4284" h="2945" extrusionOk="0">
                  <a:moveTo>
                    <a:pt x="536" y="1"/>
                  </a:moveTo>
                  <a:lnTo>
                    <a:pt x="1" y="322"/>
                  </a:lnTo>
                  <a:lnTo>
                    <a:pt x="964" y="1928"/>
                  </a:lnTo>
                  <a:cubicBezTo>
                    <a:pt x="857" y="2124"/>
                    <a:pt x="804" y="2356"/>
                    <a:pt x="804" y="2588"/>
                  </a:cubicBezTo>
                  <a:lnTo>
                    <a:pt x="804" y="2945"/>
                  </a:lnTo>
                  <a:lnTo>
                    <a:pt x="3480" y="2945"/>
                  </a:lnTo>
                  <a:lnTo>
                    <a:pt x="3480" y="2588"/>
                  </a:lnTo>
                  <a:cubicBezTo>
                    <a:pt x="3480" y="2356"/>
                    <a:pt x="3427" y="2124"/>
                    <a:pt x="3320" y="1928"/>
                  </a:cubicBezTo>
                  <a:lnTo>
                    <a:pt x="4283" y="322"/>
                  </a:lnTo>
                  <a:lnTo>
                    <a:pt x="3748" y="1"/>
                  </a:lnTo>
                  <a:lnTo>
                    <a:pt x="2874" y="1464"/>
                  </a:lnTo>
                  <a:cubicBezTo>
                    <a:pt x="2677" y="1321"/>
                    <a:pt x="2410" y="1232"/>
                    <a:pt x="2142" y="1232"/>
                  </a:cubicBezTo>
                  <a:cubicBezTo>
                    <a:pt x="1874" y="1232"/>
                    <a:pt x="1607" y="1321"/>
                    <a:pt x="1393" y="1464"/>
                  </a:cubicBezTo>
                  <a:lnTo>
                    <a:pt x="5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a:off x="4025405" y="2789238"/>
              <a:ext cx="162345" cy="239485"/>
            </a:xfrm>
            <a:custGeom>
              <a:avLst/>
              <a:gdLst/>
              <a:ahLst/>
              <a:cxnLst/>
              <a:rect l="l" t="t" r="r" b="b"/>
              <a:pathLst>
                <a:path w="5032" h="7423" extrusionOk="0">
                  <a:moveTo>
                    <a:pt x="821" y="0"/>
                  </a:moveTo>
                  <a:lnTo>
                    <a:pt x="357" y="464"/>
                  </a:lnTo>
                  <a:lnTo>
                    <a:pt x="1642" y="1749"/>
                  </a:lnTo>
                  <a:lnTo>
                    <a:pt x="2480" y="1749"/>
                  </a:lnTo>
                  <a:lnTo>
                    <a:pt x="2373" y="3051"/>
                  </a:lnTo>
                  <a:lnTo>
                    <a:pt x="1249" y="3051"/>
                  </a:lnTo>
                  <a:lnTo>
                    <a:pt x="0" y="4300"/>
                  </a:lnTo>
                  <a:lnTo>
                    <a:pt x="446" y="4746"/>
                  </a:lnTo>
                  <a:lnTo>
                    <a:pt x="1499" y="3676"/>
                  </a:lnTo>
                  <a:lnTo>
                    <a:pt x="2302" y="3676"/>
                  </a:lnTo>
                  <a:lnTo>
                    <a:pt x="2266" y="4086"/>
                  </a:lnTo>
                  <a:cubicBezTo>
                    <a:pt x="2248" y="4372"/>
                    <a:pt x="2266" y="4657"/>
                    <a:pt x="2320" y="4925"/>
                  </a:cubicBezTo>
                  <a:lnTo>
                    <a:pt x="1535" y="4925"/>
                  </a:lnTo>
                  <a:lnTo>
                    <a:pt x="304" y="6174"/>
                  </a:lnTo>
                  <a:lnTo>
                    <a:pt x="750" y="6620"/>
                  </a:lnTo>
                  <a:lnTo>
                    <a:pt x="1802" y="5549"/>
                  </a:lnTo>
                  <a:lnTo>
                    <a:pt x="2498" y="5549"/>
                  </a:lnTo>
                  <a:cubicBezTo>
                    <a:pt x="2926" y="6566"/>
                    <a:pt x="3890" y="7316"/>
                    <a:pt x="5032" y="7423"/>
                  </a:cubicBezTo>
                  <a:lnTo>
                    <a:pt x="5032" y="321"/>
                  </a:lnTo>
                  <a:lnTo>
                    <a:pt x="2641" y="321"/>
                  </a:lnTo>
                  <a:lnTo>
                    <a:pt x="2570" y="1089"/>
                  </a:lnTo>
                  <a:lnTo>
                    <a:pt x="1909" y="1089"/>
                  </a:lnTo>
                  <a:lnTo>
                    <a:pt x="8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5"/>
          <p:cNvSpPr/>
          <p:nvPr/>
        </p:nvSpPr>
        <p:spPr>
          <a:xfrm>
            <a:off x="8861898" y="-1819139"/>
            <a:ext cx="28262" cy="32843"/>
          </a:xfrm>
          <a:custGeom>
            <a:avLst/>
            <a:gdLst/>
            <a:ahLst/>
            <a:cxnLst/>
            <a:rect l="l" t="t" r="r" b="b"/>
            <a:pathLst>
              <a:path w="876" h="1018" extrusionOk="0">
                <a:moveTo>
                  <a:pt x="1" y="1"/>
                </a:moveTo>
                <a:lnTo>
                  <a:pt x="1" y="1018"/>
                </a:lnTo>
                <a:lnTo>
                  <a:pt x="875" y="1018"/>
                </a:lnTo>
                <a:lnTo>
                  <a:pt x="8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15"/>
          <p:cNvGrpSpPr/>
          <p:nvPr/>
        </p:nvGrpSpPr>
        <p:grpSpPr>
          <a:xfrm>
            <a:off x="6682199" y="2420923"/>
            <a:ext cx="344854" cy="301654"/>
            <a:chOff x="1780355" y="2158893"/>
            <a:chExt cx="344854" cy="301654"/>
          </a:xfrm>
        </p:grpSpPr>
        <p:sp>
          <p:nvSpPr>
            <p:cNvPr id="79" name="Google Shape;79;p15"/>
            <p:cNvSpPr/>
            <p:nvPr/>
          </p:nvSpPr>
          <p:spPr>
            <a:xfrm>
              <a:off x="1922535" y="2262133"/>
              <a:ext cx="61073" cy="60847"/>
            </a:xfrm>
            <a:custGeom>
              <a:avLst/>
              <a:gdLst/>
              <a:ahLst/>
              <a:cxnLst/>
              <a:rect l="l" t="t" r="r" b="b"/>
              <a:pathLst>
                <a:path w="1893" h="1886" extrusionOk="0">
                  <a:moveTo>
                    <a:pt x="936" y="1"/>
                  </a:moveTo>
                  <a:cubicBezTo>
                    <a:pt x="887" y="1"/>
                    <a:pt x="837" y="4"/>
                    <a:pt x="786" y="12"/>
                  </a:cubicBezTo>
                  <a:cubicBezTo>
                    <a:pt x="358" y="83"/>
                    <a:pt x="1" y="530"/>
                    <a:pt x="1" y="958"/>
                  </a:cubicBezTo>
                  <a:lnTo>
                    <a:pt x="1" y="1886"/>
                  </a:lnTo>
                  <a:lnTo>
                    <a:pt x="1892" y="1886"/>
                  </a:lnTo>
                  <a:lnTo>
                    <a:pt x="1892" y="940"/>
                  </a:lnTo>
                  <a:cubicBezTo>
                    <a:pt x="1892" y="418"/>
                    <a:pt x="1460" y="1"/>
                    <a:pt x="9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1780355" y="2158893"/>
              <a:ext cx="28262" cy="32843"/>
            </a:xfrm>
            <a:custGeom>
              <a:avLst/>
              <a:gdLst/>
              <a:ahLst/>
              <a:cxnLst/>
              <a:rect l="l" t="t" r="r" b="b"/>
              <a:pathLst>
                <a:path w="876" h="1018" extrusionOk="0">
                  <a:moveTo>
                    <a:pt x="1" y="0"/>
                  </a:moveTo>
                  <a:lnTo>
                    <a:pt x="1" y="1017"/>
                  </a:lnTo>
                  <a:lnTo>
                    <a:pt x="875" y="1017"/>
                  </a:lnTo>
                  <a:lnTo>
                    <a:pt x="8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1828135" y="2158893"/>
              <a:ext cx="28262" cy="32843"/>
            </a:xfrm>
            <a:custGeom>
              <a:avLst/>
              <a:gdLst/>
              <a:ahLst/>
              <a:cxnLst/>
              <a:rect l="l" t="t" r="r" b="b"/>
              <a:pathLst>
                <a:path w="876" h="1018" extrusionOk="0">
                  <a:moveTo>
                    <a:pt x="1" y="0"/>
                  </a:moveTo>
                  <a:lnTo>
                    <a:pt x="1" y="1017"/>
                  </a:lnTo>
                  <a:lnTo>
                    <a:pt x="875" y="1017"/>
                  </a:lnTo>
                  <a:lnTo>
                    <a:pt x="8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p:nvPr/>
          </p:nvSpPr>
          <p:spPr>
            <a:xfrm>
              <a:off x="1876497" y="2158893"/>
              <a:ext cx="248712" cy="32843"/>
            </a:xfrm>
            <a:custGeom>
              <a:avLst/>
              <a:gdLst/>
              <a:ahLst/>
              <a:cxnLst/>
              <a:rect l="l" t="t" r="r" b="b"/>
              <a:pathLst>
                <a:path w="7709" h="1018" extrusionOk="0">
                  <a:moveTo>
                    <a:pt x="1" y="0"/>
                  </a:moveTo>
                  <a:lnTo>
                    <a:pt x="1" y="1017"/>
                  </a:lnTo>
                  <a:lnTo>
                    <a:pt x="7709" y="1017"/>
                  </a:lnTo>
                  <a:lnTo>
                    <a:pt x="770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p:nvPr/>
          </p:nvSpPr>
          <p:spPr>
            <a:xfrm>
              <a:off x="1901823" y="2343112"/>
              <a:ext cx="101337" cy="61621"/>
            </a:xfrm>
            <a:custGeom>
              <a:avLst/>
              <a:gdLst/>
              <a:ahLst/>
              <a:cxnLst/>
              <a:rect l="l" t="t" r="r" b="b"/>
              <a:pathLst>
                <a:path w="3141" h="1910" extrusionOk="0">
                  <a:moveTo>
                    <a:pt x="1892" y="642"/>
                  </a:moveTo>
                  <a:lnTo>
                    <a:pt x="1892" y="1267"/>
                  </a:lnTo>
                  <a:lnTo>
                    <a:pt x="1267" y="1267"/>
                  </a:lnTo>
                  <a:lnTo>
                    <a:pt x="1267" y="642"/>
                  </a:lnTo>
                  <a:close/>
                  <a:moveTo>
                    <a:pt x="1" y="0"/>
                  </a:moveTo>
                  <a:lnTo>
                    <a:pt x="1" y="1909"/>
                  </a:lnTo>
                  <a:lnTo>
                    <a:pt x="3141" y="1909"/>
                  </a:lnTo>
                  <a:lnTo>
                    <a:pt x="31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1780355" y="2212416"/>
              <a:ext cx="344854" cy="248131"/>
            </a:xfrm>
            <a:custGeom>
              <a:avLst/>
              <a:gdLst/>
              <a:ahLst/>
              <a:cxnLst/>
              <a:rect l="l" t="t" r="r" b="b"/>
              <a:pathLst>
                <a:path w="10689" h="7691" extrusionOk="0">
                  <a:moveTo>
                    <a:pt x="5341" y="918"/>
                  </a:moveTo>
                  <a:cubicBezTo>
                    <a:pt x="6221" y="918"/>
                    <a:pt x="6924" y="1629"/>
                    <a:pt x="6924" y="2481"/>
                  </a:cubicBezTo>
                  <a:lnTo>
                    <a:pt x="6924" y="3427"/>
                  </a:lnTo>
                  <a:lnTo>
                    <a:pt x="7530" y="3427"/>
                  </a:lnTo>
                  <a:lnTo>
                    <a:pt x="7530" y="6585"/>
                  </a:lnTo>
                  <a:lnTo>
                    <a:pt x="3123" y="6585"/>
                  </a:lnTo>
                  <a:lnTo>
                    <a:pt x="3123" y="3427"/>
                  </a:lnTo>
                  <a:lnTo>
                    <a:pt x="3784" y="3427"/>
                  </a:lnTo>
                  <a:lnTo>
                    <a:pt x="3784" y="2517"/>
                  </a:lnTo>
                  <a:cubicBezTo>
                    <a:pt x="3784" y="1714"/>
                    <a:pt x="4372" y="1018"/>
                    <a:pt x="5157" y="929"/>
                  </a:cubicBezTo>
                  <a:cubicBezTo>
                    <a:pt x="5219" y="922"/>
                    <a:pt x="5280" y="918"/>
                    <a:pt x="5341" y="918"/>
                  </a:cubicBezTo>
                  <a:close/>
                  <a:moveTo>
                    <a:pt x="1" y="1"/>
                  </a:moveTo>
                  <a:lnTo>
                    <a:pt x="1" y="7691"/>
                  </a:lnTo>
                  <a:lnTo>
                    <a:pt x="10689" y="7691"/>
                  </a:lnTo>
                  <a:lnTo>
                    <a:pt x="106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15"/>
          <p:cNvGrpSpPr/>
          <p:nvPr/>
        </p:nvGrpSpPr>
        <p:grpSpPr>
          <a:xfrm>
            <a:off x="7824278" y="1375003"/>
            <a:ext cx="344854" cy="301687"/>
            <a:chOff x="1780355" y="1612011"/>
            <a:chExt cx="344854" cy="301687"/>
          </a:xfrm>
        </p:grpSpPr>
        <p:sp>
          <p:nvSpPr>
            <p:cNvPr id="86" name="Google Shape;86;p15"/>
            <p:cNvSpPr/>
            <p:nvPr/>
          </p:nvSpPr>
          <p:spPr>
            <a:xfrm>
              <a:off x="1901823" y="1795649"/>
              <a:ext cx="101337" cy="61621"/>
            </a:xfrm>
            <a:custGeom>
              <a:avLst/>
              <a:gdLst/>
              <a:ahLst/>
              <a:cxnLst/>
              <a:rect l="l" t="t" r="r" b="b"/>
              <a:pathLst>
                <a:path w="3141" h="1910" extrusionOk="0">
                  <a:moveTo>
                    <a:pt x="1892" y="625"/>
                  </a:moveTo>
                  <a:lnTo>
                    <a:pt x="1892" y="1250"/>
                  </a:lnTo>
                  <a:lnTo>
                    <a:pt x="1267" y="1250"/>
                  </a:lnTo>
                  <a:lnTo>
                    <a:pt x="1267" y="625"/>
                  </a:lnTo>
                  <a:close/>
                  <a:moveTo>
                    <a:pt x="1" y="1"/>
                  </a:moveTo>
                  <a:lnTo>
                    <a:pt x="1" y="1910"/>
                  </a:lnTo>
                  <a:lnTo>
                    <a:pt x="3141" y="1910"/>
                  </a:lnTo>
                  <a:lnTo>
                    <a:pt x="31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a:off x="1828135" y="1612011"/>
              <a:ext cx="28262" cy="32843"/>
            </a:xfrm>
            <a:custGeom>
              <a:avLst/>
              <a:gdLst/>
              <a:ahLst/>
              <a:cxnLst/>
              <a:rect l="l" t="t" r="r" b="b"/>
              <a:pathLst>
                <a:path w="876" h="1018" extrusionOk="0">
                  <a:moveTo>
                    <a:pt x="1" y="1"/>
                  </a:moveTo>
                  <a:lnTo>
                    <a:pt x="1" y="1018"/>
                  </a:lnTo>
                  <a:lnTo>
                    <a:pt x="875" y="1018"/>
                  </a:lnTo>
                  <a:lnTo>
                    <a:pt x="8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5"/>
            <p:cNvSpPr/>
            <p:nvPr/>
          </p:nvSpPr>
          <p:spPr>
            <a:xfrm>
              <a:off x="1780355" y="1612011"/>
              <a:ext cx="28262" cy="32843"/>
            </a:xfrm>
            <a:custGeom>
              <a:avLst/>
              <a:gdLst/>
              <a:ahLst/>
              <a:cxnLst/>
              <a:rect l="l" t="t" r="r" b="b"/>
              <a:pathLst>
                <a:path w="876" h="1018" extrusionOk="0">
                  <a:moveTo>
                    <a:pt x="1" y="1"/>
                  </a:moveTo>
                  <a:lnTo>
                    <a:pt x="1" y="1018"/>
                  </a:lnTo>
                  <a:lnTo>
                    <a:pt x="875" y="1018"/>
                  </a:lnTo>
                  <a:lnTo>
                    <a:pt x="8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1876497" y="1612011"/>
              <a:ext cx="248712" cy="32843"/>
            </a:xfrm>
            <a:custGeom>
              <a:avLst/>
              <a:gdLst/>
              <a:ahLst/>
              <a:cxnLst/>
              <a:rect l="l" t="t" r="r" b="b"/>
              <a:pathLst>
                <a:path w="7709" h="1018" extrusionOk="0">
                  <a:moveTo>
                    <a:pt x="1" y="1"/>
                  </a:moveTo>
                  <a:lnTo>
                    <a:pt x="1" y="1018"/>
                  </a:lnTo>
                  <a:lnTo>
                    <a:pt x="7709" y="1018"/>
                  </a:lnTo>
                  <a:lnTo>
                    <a:pt x="77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1780355" y="1665567"/>
              <a:ext cx="344854" cy="248131"/>
            </a:xfrm>
            <a:custGeom>
              <a:avLst/>
              <a:gdLst/>
              <a:ahLst/>
              <a:cxnLst/>
              <a:rect l="l" t="t" r="r" b="b"/>
              <a:pathLst>
                <a:path w="10689" h="7691" extrusionOk="0">
                  <a:moveTo>
                    <a:pt x="8084" y="1392"/>
                  </a:moveTo>
                  <a:lnTo>
                    <a:pt x="8530" y="1820"/>
                  </a:lnTo>
                  <a:lnTo>
                    <a:pt x="7852" y="2498"/>
                  </a:lnTo>
                  <a:lnTo>
                    <a:pt x="7406" y="2052"/>
                  </a:lnTo>
                  <a:lnTo>
                    <a:pt x="8084" y="1392"/>
                  </a:lnTo>
                  <a:close/>
                  <a:moveTo>
                    <a:pt x="8797" y="2659"/>
                  </a:moveTo>
                  <a:lnTo>
                    <a:pt x="8797" y="3283"/>
                  </a:lnTo>
                  <a:lnTo>
                    <a:pt x="7869" y="3283"/>
                  </a:lnTo>
                  <a:lnTo>
                    <a:pt x="7869" y="2659"/>
                  </a:lnTo>
                  <a:close/>
                  <a:moveTo>
                    <a:pt x="5364" y="921"/>
                  </a:moveTo>
                  <a:cubicBezTo>
                    <a:pt x="6224" y="921"/>
                    <a:pt x="6924" y="1621"/>
                    <a:pt x="6924" y="2480"/>
                  </a:cubicBezTo>
                  <a:lnTo>
                    <a:pt x="6924" y="2802"/>
                  </a:lnTo>
                  <a:lnTo>
                    <a:pt x="6281" y="2802"/>
                  </a:lnTo>
                  <a:lnTo>
                    <a:pt x="6281" y="2498"/>
                  </a:lnTo>
                  <a:cubicBezTo>
                    <a:pt x="6281" y="2034"/>
                    <a:pt x="5907" y="1606"/>
                    <a:pt x="5461" y="1553"/>
                  </a:cubicBezTo>
                  <a:cubicBezTo>
                    <a:pt x="5419" y="1548"/>
                    <a:pt x="5378" y="1545"/>
                    <a:pt x="5337" y="1545"/>
                  </a:cubicBezTo>
                  <a:cubicBezTo>
                    <a:pt x="4806" y="1545"/>
                    <a:pt x="4390" y="1967"/>
                    <a:pt x="4390" y="2480"/>
                  </a:cubicBezTo>
                  <a:lnTo>
                    <a:pt x="4390" y="3408"/>
                  </a:lnTo>
                  <a:lnTo>
                    <a:pt x="7530" y="3408"/>
                  </a:lnTo>
                  <a:lnTo>
                    <a:pt x="7530" y="6566"/>
                  </a:lnTo>
                  <a:lnTo>
                    <a:pt x="3123" y="6566"/>
                  </a:lnTo>
                  <a:lnTo>
                    <a:pt x="3123" y="3408"/>
                  </a:lnTo>
                  <a:lnTo>
                    <a:pt x="3784" y="3408"/>
                  </a:lnTo>
                  <a:lnTo>
                    <a:pt x="3784" y="2498"/>
                  </a:lnTo>
                  <a:cubicBezTo>
                    <a:pt x="3784" y="1695"/>
                    <a:pt x="4390" y="999"/>
                    <a:pt x="5211" y="928"/>
                  </a:cubicBezTo>
                  <a:cubicBezTo>
                    <a:pt x="5262" y="923"/>
                    <a:pt x="5314" y="921"/>
                    <a:pt x="5364" y="921"/>
                  </a:cubicBezTo>
                  <a:close/>
                  <a:moveTo>
                    <a:pt x="1" y="0"/>
                  </a:moveTo>
                  <a:lnTo>
                    <a:pt x="1" y="7690"/>
                  </a:lnTo>
                  <a:lnTo>
                    <a:pt x="10689" y="7690"/>
                  </a:lnTo>
                  <a:lnTo>
                    <a:pt x="106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1" name="Google Shape;91;p15"/>
          <p:cNvCxnSpPr>
            <a:stCxn id="53" idx="3"/>
            <a:endCxn id="52" idx="1"/>
          </p:cNvCxnSpPr>
          <p:nvPr/>
        </p:nvCxnSpPr>
        <p:spPr>
          <a:xfrm>
            <a:off x="7284676" y="1525846"/>
            <a:ext cx="282000" cy="0"/>
          </a:xfrm>
          <a:prstGeom prst="straightConnector1">
            <a:avLst/>
          </a:prstGeom>
          <a:noFill/>
          <a:ln w="19050" cap="flat" cmpd="sng">
            <a:solidFill>
              <a:schemeClr val="dk1"/>
            </a:solidFill>
            <a:prstDash val="solid"/>
            <a:round/>
            <a:headEnd type="none" w="med" len="med"/>
            <a:tailEnd type="none" w="med" len="med"/>
          </a:ln>
        </p:spPr>
      </p:cxnSp>
      <p:cxnSp>
        <p:nvCxnSpPr>
          <p:cNvPr id="92" name="Google Shape;92;p15"/>
          <p:cNvCxnSpPr>
            <a:stCxn id="53" idx="2"/>
            <a:endCxn id="55" idx="0"/>
          </p:cNvCxnSpPr>
          <p:nvPr/>
        </p:nvCxnSpPr>
        <p:spPr>
          <a:xfrm>
            <a:off x="6854626" y="1955896"/>
            <a:ext cx="0" cy="185700"/>
          </a:xfrm>
          <a:prstGeom prst="straightConnector1">
            <a:avLst/>
          </a:prstGeom>
          <a:noFill/>
          <a:ln w="19050" cap="flat" cmpd="sng">
            <a:solidFill>
              <a:schemeClr val="dk1"/>
            </a:solidFill>
            <a:prstDash val="solid"/>
            <a:round/>
            <a:headEnd type="none" w="med" len="med"/>
            <a:tailEnd type="none" w="med" len="med"/>
          </a:ln>
        </p:spPr>
      </p:cxnSp>
      <p:cxnSp>
        <p:nvCxnSpPr>
          <p:cNvPr id="93" name="Google Shape;93;p15"/>
          <p:cNvCxnSpPr>
            <a:stCxn id="52" idx="2"/>
            <a:endCxn id="54" idx="0"/>
          </p:cNvCxnSpPr>
          <p:nvPr/>
        </p:nvCxnSpPr>
        <p:spPr>
          <a:xfrm>
            <a:off x="7996705" y="1955896"/>
            <a:ext cx="0" cy="185700"/>
          </a:xfrm>
          <a:prstGeom prst="straightConnector1">
            <a:avLst/>
          </a:prstGeom>
          <a:noFill/>
          <a:ln w="19050" cap="flat" cmpd="sng">
            <a:solidFill>
              <a:schemeClr val="dk1"/>
            </a:solidFill>
            <a:prstDash val="solid"/>
            <a:round/>
            <a:headEnd type="none" w="med" len="med"/>
            <a:tailEnd type="none" w="med" len="med"/>
          </a:ln>
        </p:spPr>
      </p:cxnSp>
      <p:cxnSp>
        <p:nvCxnSpPr>
          <p:cNvPr id="94" name="Google Shape;94;p15"/>
          <p:cNvCxnSpPr>
            <a:stCxn id="55" idx="2"/>
            <a:endCxn id="57" idx="0"/>
          </p:cNvCxnSpPr>
          <p:nvPr/>
        </p:nvCxnSpPr>
        <p:spPr>
          <a:xfrm>
            <a:off x="6854626" y="3001800"/>
            <a:ext cx="0" cy="185700"/>
          </a:xfrm>
          <a:prstGeom prst="straightConnector1">
            <a:avLst/>
          </a:prstGeom>
          <a:noFill/>
          <a:ln w="19050" cap="flat" cmpd="sng">
            <a:solidFill>
              <a:schemeClr val="dk1"/>
            </a:solidFill>
            <a:prstDash val="solid"/>
            <a:round/>
            <a:headEnd type="none" w="med" len="med"/>
            <a:tailEnd type="none" w="med" len="med"/>
          </a:ln>
        </p:spPr>
      </p:cxnSp>
      <p:cxnSp>
        <p:nvCxnSpPr>
          <p:cNvPr id="95" name="Google Shape;95;p15"/>
          <p:cNvCxnSpPr>
            <a:stCxn id="54" idx="2"/>
            <a:endCxn id="56" idx="0"/>
          </p:cNvCxnSpPr>
          <p:nvPr/>
        </p:nvCxnSpPr>
        <p:spPr>
          <a:xfrm>
            <a:off x="7996705" y="3001800"/>
            <a:ext cx="0" cy="185700"/>
          </a:xfrm>
          <a:prstGeom prst="straightConnector1">
            <a:avLst/>
          </a:prstGeom>
          <a:noFill/>
          <a:ln w="19050" cap="flat" cmpd="sng">
            <a:solidFill>
              <a:schemeClr val="dk1"/>
            </a:solidFill>
            <a:prstDash val="solid"/>
            <a:round/>
            <a:headEnd type="none" w="med" len="med"/>
            <a:tailEnd type="none" w="med" len="med"/>
          </a:ln>
        </p:spPr>
      </p:cxnSp>
      <p:cxnSp>
        <p:nvCxnSpPr>
          <p:cNvPr id="96" name="Google Shape;96;p15"/>
          <p:cNvCxnSpPr>
            <a:stCxn id="57" idx="3"/>
            <a:endCxn id="56" idx="1"/>
          </p:cNvCxnSpPr>
          <p:nvPr/>
        </p:nvCxnSpPr>
        <p:spPr>
          <a:xfrm>
            <a:off x="7284676" y="3617654"/>
            <a:ext cx="282000" cy="0"/>
          </a:xfrm>
          <a:prstGeom prst="straightConnector1">
            <a:avLst/>
          </a:prstGeom>
          <a:noFill/>
          <a:ln w="19050" cap="flat" cmpd="sng">
            <a:solidFill>
              <a:schemeClr val="dk1"/>
            </a:solidFill>
            <a:prstDash val="solid"/>
            <a:round/>
            <a:headEnd type="none" w="med" len="med"/>
            <a:tailEnd type="none" w="med" len="med"/>
          </a:ln>
        </p:spPr>
      </p:cxnSp>
      <p:sp>
        <p:nvSpPr>
          <p:cNvPr id="97" name="Google Shape;97;p15"/>
          <p:cNvSpPr txBox="1">
            <a:spLocks noGrp="1"/>
          </p:cNvSpPr>
          <p:nvPr>
            <p:ph type="subTitle" idx="1"/>
          </p:nvPr>
        </p:nvSpPr>
        <p:spPr>
          <a:xfrm>
            <a:off x="717250" y="3974100"/>
            <a:ext cx="5707200" cy="475800"/>
          </a:xfrm>
          <a:prstGeom prst="rect">
            <a:avLst/>
          </a:prstGeom>
        </p:spPr>
        <p:txBody>
          <a:bodyPr spcFirstLastPara="1" wrap="square" lIns="91425" tIns="91425" rIns="91425" bIns="91425" anchor="t" anchorCtr="0">
            <a:noAutofit/>
          </a:bodyPr>
          <a:lstStyle/>
          <a:p>
            <a:pPr marL="0" lvl="0" indent="0"/>
            <a:r>
              <a:rPr lang="en-US"/>
              <a:t>Thao - Duy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AC3CED-9602-1186-B80D-F8CF438E3E28}"/>
            </a:ext>
          </a:extLst>
        </p:cNvPr>
        <p:cNvGrpSpPr/>
        <p:nvPr/>
      </p:nvGrpSpPr>
      <p:grpSpPr>
        <a:xfrm>
          <a:off x="0" y="0"/>
          <a:ext cx="0" cy="0"/>
          <a:chOff x="0" y="0"/>
          <a:chExt cx="0" cy="0"/>
        </a:xfrm>
      </p:grpSpPr>
      <p:sp>
        <p:nvSpPr>
          <p:cNvPr id="275" name="Google Shape;275;p20">
            <a:extLst>
              <a:ext uri="{FF2B5EF4-FFF2-40B4-BE49-F238E27FC236}">
                <a16:creationId xmlns:a16="http://schemas.microsoft.com/office/drawing/2014/main" id="{4B817AF8-6146-077E-2733-0458FD04D11E}"/>
              </a:ext>
            </a:extLst>
          </p:cNvPr>
          <p:cNvSpPr txBox="1">
            <a:spLocks noGrp="1"/>
          </p:cNvSpPr>
          <p:nvPr>
            <p:ph type="title"/>
          </p:nvPr>
        </p:nvSpPr>
        <p:spPr>
          <a:xfrm>
            <a:off x="713250" y="457200"/>
            <a:ext cx="7717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283" name="Google Shape;283;p20">
            <a:extLst>
              <a:ext uri="{FF2B5EF4-FFF2-40B4-BE49-F238E27FC236}">
                <a16:creationId xmlns:a16="http://schemas.microsoft.com/office/drawing/2014/main" id="{DCDF87C3-4B52-B321-71A1-C75313864800}"/>
              </a:ext>
            </a:extLst>
          </p:cNvPr>
          <p:cNvSpPr/>
          <p:nvPr/>
        </p:nvSpPr>
        <p:spPr>
          <a:xfrm>
            <a:off x="1410998" y="1005900"/>
            <a:ext cx="7095952" cy="345000"/>
          </a:xfrm>
          <a:prstGeom prst="roundRect">
            <a:avLst>
              <a:gd name="adj" fmla="val 2047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b="1">
                <a:latin typeface="Montserrat Medium"/>
                <a:ea typeface="Montserrat Medium"/>
                <a:cs typeface="Montserrat Medium"/>
                <a:sym typeface="Montserrat Medium"/>
              </a:rPr>
              <a:t>Architecture</a:t>
            </a:r>
            <a:endParaRPr lang="en" sz="1200">
              <a:latin typeface="Montserrat Medium"/>
              <a:ea typeface="Montserrat Medium"/>
              <a:cs typeface="Montserrat Medium"/>
              <a:sym typeface="Montserrat Medium"/>
            </a:endParaRPr>
          </a:p>
          <a:p>
            <a:pPr marL="0" lvl="0" indent="0" algn="l" rtl="0">
              <a:spcBef>
                <a:spcPts val="0"/>
              </a:spcBef>
              <a:spcAft>
                <a:spcPts val="0"/>
              </a:spcAft>
              <a:buNone/>
            </a:pPr>
            <a:r>
              <a:rPr lang="en" sz="900">
                <a:latin typeface="Montserrat Medium"/>
                <a:ea typeface="Montserrat Medium"/>
                <a:cs typeface="Montserrat Medium"/>
                <a:sym typeface="Montserrat Medium"/>
              </a:rPr>
              <a:t>Folder Structure, Application Overview</a:t>
            </a:r>
            <a:endParaRPr sz="900" b="1">
              <a:latin typeface="Montserrat Medium"/>
              <a:ea typeface="Montserrat Medium"/>
              <a:cs typeface="Montserrat Medium"/>
              <a:sym typeface="Montserrat Medium"/>
            </a:endParaRPr>
          </a:p>
        </p:txBody>
      </p:sp>
      <p:sp>
        <p:nvSpPr>
          <p:cNvPr id="284" name="Google Shape;284;p20">
            <a:extLst>
              <a:ext uri="{FF2B5EF4-FFF2-40B4-BE49-F238E27FC236}">
                <a16:creationId xmlns:a16="http://schemas.microsoft.com/office/drawing/2014/main" id="{7ADE415E-4D42-6914-91A9-1C2C365860FA}"/>
              </a:ext>
            </a:extLst>
          </p:cNvPr>
          <p:cNvSpPr/>
          <p:nvPr/>
        </p:nvSpPr>
        <p:spPr>
          <a:xfrm>
            <a:off x="786399" y="1005900"/>
            <a:ext cx="624600" cy="3450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01.</a:t>
            </a:r>
            <a:endParaRPr/>
          </a:p>
        </p:txBody>
      </p:sp>
      <p:sp>
        <p:nvSpPr>
          <p:cNvPr id="295" name="Google Shape;295;p20">
            <a:extLst>
              <a:ext uri="{FF2B5EF4-FFF2-40B4-BE49-F238E27FC236}">
                <a16:creationId xmlns:a16="http://schemas.microsoft.com/office/drawing/2014/main" id="{EE815E23-6865-3939-08A3-77381DCF54EB}"/>
              </a:ext>
            </a:extLst>
          </p:cNvPr>
          <p:cNvSpPr/>
          <p:nvPr/>
        </p:nvSpPr>
        <p:spPr>
          <a:xfrm>
            <a:off x="1410998" y="1529456"/>
            <a:ext cx="7095952" cy="345000"/>
          </a:xfrm>
          <a:prstGeom prst="roundRect">
            <a:avLst>
              <a:gd name="adj" fmla="val 2047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a:latin typeface="Montserrat Medium"/>
                <a:ea typeface="Montserrat Medium"/>
                <a:cs typeface="Montserrat Medium"/>
                <a:sym typeface="Montserrat Medium"/>
              </a:rPr>
              <a:t>Core Flows</a:t>
            </a:r>
          </a:p>
          <a:p>
            <a:pPr marL="0" lvl="0" indent="0" algn="l" rtl="0">
              <a:spcBef>
                <a:spcPts val="0"/>
              </a:spcBef>
              <a:spcAft>
                <a:spcPts val="0"/>
              </a:spcAft>
              <a:buNone/>
            </a:pPr>
            <a:r>
              <a:rPr lang="en-US" sz="900">
                <a:latin typeface="Montserrat Medium"/>
                <a:ea typeface="Montserrat Medium"/>
                <a:cs typeface="Montserrat Medium"/>
                <a:sym typeface="Montserrat Medium"/>
              </a:rPr>
              <a:t>Registration, Login &amp; Logout</a:t>
            </a:r>
            <a:endParaRPr sz="1000" b="1">
              <a:latin typeface="Montserrat Medium"/>
              <a:ea typeface="Montserrat Medium"/>
              <a:cs typeface="Montserrat Medium"/>
              <a:sym typeface="Montserrat Medium"/>
            </a:endParaRPr>
          </a:p>
        </p:txBody>
      </p:sp>
      <p:sp>
        <p:nvSpPr>
          <p:cNvPr id="296" name="Google Shape;296;p20">
            <a:extLst>
              <a:ext uri="{FF2B5EF4-FFF2-40B4-BE49-F238E27FC236}">
                <a16:creationId xmlns:a16="http://schemas.microsoft.com/office/drawing/2014/main" id="{75248C38-3AA4-F248-EB55-1B2DA085B063}"/>
              </a:ext>
            </a:extLst>
          </p:cNvPr>
          <p:cNvSpPr/>
          <p:nvPr/>
        </p:nvSpPr>
        <p:spPr>
          <a:xfrm>
            <a:off x="786399" y="1529456"/>
            <a:ext cx="624600" cy="3450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02.</a:t>
            </a:r>
            <a:endParaRPr/>
          </a:p>
        </p:txBody>
      </p:sp>
      <p:sp>
        <p:nvSpPr>
          <p:cNvPr id="298" name="Google Shape;298;p20">
            <a:extLst>
              <a:ext uri="{FF2B5EF4-FFF2-40B4-BE49-F238E27FC236}">
                <a16:creationId xmlns:a16="http://schemas.microsoft.com/office/drawing/2014/main" id="{69672E13-8021-27D2-E87F-B2F02D1AC4F1}"/>
              </a:ext>
            </a:extLst>
          </p:cNvPr>
          <p:cNvSpPr/>
          <p:nvPr/>
        </p:nvSpPr>
        <p:spPr>
          <a:xfrm>
            <a:off x="1410998" y="2053012"/>
            <a:ext cx="7095952" cy="345000"/>
          </a:xfrm>
          <a:prstGeom prst="roundRect">
            <a:avLst>
              <a:gd name="adj" fmla="val 2047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a:latin typeface="Montserrat Medium"/>
                <a:ea typeface="Montserrat Medium"/>
                <a:cs typeface="Montserrat Medium"/>
                <a:sym typeface="Montserrat Medium"/>
              </a:rPr>
              <a:t>Security Deep-Dives</a:t>
            </a:r>
          </a:p>
          <a:p>
            <a:pPr lvl="0"/>
            <a:r>
              <a:rPr lang="en-US" sz="900">
                <a:latin typeface="Montserrat Medium"/>
                <a:ea typeface="Montserrat Medium"/>
                <a:cs typeface="Montserrat Medium"/>
                <a:sym typeface="Montserrat Medium"/>
              </a:rPr>
              <a:t>Cross-Site Scripting, Cross-Site Request Forgery, SQL Injection, Password &amp; PIN Hashing, Input Validation</a:t>
            </a:r>
            <a:endParaRPr sz="900" b="1">
              <a:latin typeface="Montserrat Medium"/>
              <a:ea typeface="Montserrat Medium"/>
              <a:cs typeface="Montserrat Medium"/>
              <a:sym typeface="Montserrat Medium"/>
            </a:endParaRPr>
          </a:p>
        </p:txBody>
      </p:sp>
      <p:sp>
        <p:nvSpPr>
          <p:cNvPr id="287" name="Google Shape;287;p20">
            <a:extLst>
              <a:ext uri="{FF2B5EF4-FFF2-40B4-BE49-F238E27FC236}">
                <a16:creationId xmlns:a16="http://schemas.microsoft.com/office/drawing/2014/main" id="{689007AF-D3DC-85B3-C663-37EC67F0A74E}"/>
              </a:ext>
            </a:extLst>
          </p:cNvPr>
          <p:cNvSpPr/>
          <p:nvPr/>
        </p:nvSpPr>
        <p:spPr>
          <a:xfrm>
            <a:off x="786399" y="2053012"/>
            <a:ext cx="624600" cy="3450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03.</a:t>
            </a:r>
            <a:endParaRPr/>
          </a:p>
        </p:txBody>
      </p:sp>
      <p:sp>
        <p:nvSpPr>
          <p:cNvPr id="299" name="Google Shape;299;p20">
            <a:extLst>
              <a:ext uri="{FF2B5EF4-FFF2-40B4-BE49-F238E27FC236}">
                <a16:creationId xmlns:a16="http://schemas.microsoft.com/office/drawing/2014/main" id="{68F8CC76-BB00-51E3-2301-5C15B2761E9A}"/>
              </a:ext>
            </a:extLst>
          </p:cNvPr>
          <p:cNvSpPr/>
          <p:nvPr/>
        </p:nvSpPr>
        <p:spPr>
          <a:xfrm>
            <a:off x="1410998" y="2576567"/>
            <a:ext cx="7095952" cy="345000"/>
          </a:xfrm>
          <a:prstGeom prst="roundRect">
            <a:avLst>
              <a:gd name="adj" fmla="val 2047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a:latin typeface="Montserrat Medium"/>
                <a:ea typeface="Montserrat Medium"/>
                <a:cs typeface="Montserrat Medium"/>
                <a:sym typeface="Montserrat Medium"/>
              </a:rPr>
              <a:t>Second Factor</a:t>
            </a:r>
          </a:p>
          <a:p>
            <a:pPr marL="0" lvl="0" indent="0" algn="l" rtl="0">
              <a:spcBef>
                <a:spcPts val="0"/>
              </a:spcBef>
              <a:spcAft>
                <a:spcPts val="0"/>
              </a:spcAft>
              <a:buNone/>
            </a:pPr>
            <a:r>
              <a:rPr lang="en-US" sz="900">
                <a:latin typeface="Montserrat Medium"/>
                <a:ea typeface="Montserrat Medium"/>
                <a:cs typeface="Montserrat Medium"/>
                <a:sym typeface="Montserrat Medium"/>
              </a:rPr>
              <a:t>Registration, Login (PIN)</a:t>
            </a:r>
            <a:endParaRPr sz="900">
              <a:latin typeface="Montserrat Medium"/>
              <a:ea typeface="Montserrat Medium"/>
              <a:cs typeface="Montserrat Medium"/>
              <a:sym typeface="Montserrat Medium"/>
            </a:endParaRPr>
          </a:p>
        </p:txBody>
      </p:sp>
      <p:sp>
        <p:nvSpPr>
          <p:cNvPr id="289" name="Google Shape;289;p20">
            <a:extLst>
              <a:ext uri="{FF2B5EF4-FFF2-40B4-BE49-F238E27FC236}">
                <a16:creationId xmlns:a16="http://schemas.microsoft.com/office/drawing/2014/main" id="{7A56782B-BF41-7B60-F635-C621F0AB092D}"/>
              </a:ext>
            </a:extLst>
          </p:cNvPr>
          <p:cNvSpPr/>
          <p:nvPr/>
        </p:nvSpPr>
        <p:spPr>
          <a:xfrm>
            <a:off x="786399" y="2576567"/>
            <a:ext cx="624600" cy="3450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04.</a:t>
            </a:r>
            <a:endParaRPr/>
          </a:p>
        </p:txBody>
      </p:sp>
      <p:sp>
        <p:nvSpPr>
          <p:cNvPr id="300" name="Google Shape;300;p20">
            <a:extLst>
              <a:ext uri="{FF2B5EF4-FFF2-40B4-BE49-F238E27FC236}">
                <a16:creationId xmlns:a16="http://schemas.microsoft.com/office/drawing/2014/main" id="{67AC2111-B386-30BC-64AD-3F73FFD4FC5A}"/>
              </a:ext>
            </a:extLst>
          </p:cNvPr>
          <p:cNvSpPr/>
          <p:nvPr/>
        </p:nvSpPr>
        <p:spPr>
          <a:xfrm>
            <a:off x="1410998" y="3100123"/>
            <a:ext cx="7095952" cy="345000"/>
          </a:xfrm>
          <a:prstGeom prst="roundRect">
            <a:avLst>
              <a:gd name="adj" fmla="val 2047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a:latin typeface="Montserrat Medium"/>
                <a:ea typeface="Montserrat Medium"/>
                <a:cs typeface="Montserrat Medium"/>
                <a:sym typeface="Montserrat Medium"/>
              </a:rPr>
              <a:t>Session Management</a:t>
            </a:r>
          </a:p>
        </p:txBody>
      </p:sp>
      <p:sp>
        <p:nvSpPr>
          <p:cNvPr id="291" name="Google Shape;291;p20">
            <a:extLst>
              <a:ext uri="{FF2B5EF4-FFF2-40B4-BE49-F238E27FC236}">
                <a16:creationId xmlns:a16="http://schemas.microsoft.com/office/drawing/2014/main" id="{3BD9F74D-B7C3-6A3F-4A99-22D9C74BEB62}"/>
              </a:ext>
            </a:extLst>
          </p:cNvPr>
          <p:cNvSpPr/>
          <p:nvPr/>
        </p:nvSpPr>
        <p:spPr>
          <a:xfrm>
            <a:off x="786399" y="3100123"/>
            <a:ext cx="624600" cy="3450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05.</a:t>
            </a:r>
            <a:endParaRPr/>
          </a:p>
        </p:txBody>
      </p:sp>
      <p:sp>
        <p:nvSpPr>
          <p:cNvPr id="301" name="Google Shape;301;p20">
            <a:extLst>
              <a:ext uri="{FF2B5EF4-FFF2-40B4-BE49-F238E27FC236}">
                <a16:creationId xmlns:a16="http://schemas.microsoft.com/office/drawing/2014/main" id="{BF77FD7F-D0AC-7E5F-68C8-BAFA0C203A23}"/>
              </a:ext>
            </a:extLst>
          </p:cNvPr>
          <p:cNvSpPr/>
          <p:nvPr/>
        </p:nvSpPr>
        <p:spPr>
          <a:xfrm>
            <a:off x="1410998" y="3623679"/>
            <a:ext cx="7095952" cy="345000"/>
          </a:xfrm>
          <a:prstGeom prst="roundRect">
            <a:avLst>
              <a:gd name="adj" fmla="val 2047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a:latin typeface="Montserrat Medium"/>
                <a:ea typeface="Montserrat Medium"/>
                <a:cs typeface="Montserrat Medium"/>
                <a:sym typeface="Montserrat Medium"/>
              </a:rPr>
              <a:t>Future Work</a:t>
            </a:r>
          </a:p>
          <a:p>
            <a:pPr marL="0" lvl="0" indent="0" algn="l" rtl="0">
              <a:spcBef>
                <a:spcPts val="0"/>
              </a:spcBef>
              <a:spcAft>
                <a:spcPts val="0"/>
              </a:spcAft>
              <a:buNone/>
            </a:pPr>
            <a:r>
              <a:rPr lang="en-US" sz="900">
                <a:latin typeface="Montserrat Medium"/>
                <a:ea typeface="Montserrat Medium"/>
                <a:cs typeface="Montserrat Medium"/>
                <a:sym typeface="Montserrat Medium"/>
              </a:rPr>
              <a:t>Security, Architecture</a:t>
            </a:r>
            <a:endParaRPr sz="900">
              <a:latin typeface="Montserrat Medium"/>
              <a:ea typeface="Montserrat Medium"/>
              <a:cs typeface="Montserrat Medium"/>
              <a:sym typeface="Montserrat Medium"/>
            </a:endParaRPr>
          </a:p>
        </p:txBody>
      </p:sp>
      <p:sp>
        <p:nvSpPr>
          <p:cNvPr id="293" name="Google Shape;293;p20">
            <a:extLst>
              <a:ext uri="{FF2B5EF4-FFF2-40B4-BE49-F238E27FC236}">
                <a16:creationId xmlns:a16="http://schemas.microsoft.com/office/drawing/2014/main" id="{ABF74190-BDB4-C10E-63BA-D68397C5597E}"/>
              </a:ext>
            </a:extLst>
          </p:cNvPr>
          <p:cNvSpPr/>
          <p:nvPr/>
        </p:nvSpPr>
        <p:spPr>
          <a:xfrm>
            <a:off x="786399" y="3623679"/>
            <a:ext cx="624600" cy="345000"/>
          </a:xfrm>
          <a:prstGeom prst="roundRect">
            <a:avLst>
              <a:gd name="adj" fmla="val 16667"/>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06.</a:t>
            </a:r>
            <a:endParaRPr/>
          </a:p>
        </p:txBody>
      </p:sp>
      <p:sp>
        <p:nvSpPr>
          <p:cNvPr id="3" name="Google Shape;301;p20">
            <a:extLst>
              <a:ext uri="{FF2B5EF4-FFF2-40B4-BE49-F238E27FC236}">
                <a16:creationId xmlns:a16="http://schemas.microsoft.com/office/drawing/2014/main" id="{F686C3A0-3D79-6667-D0C9-A5E16D5D765F}"/>
              </a:ext>
            </a:extLst>
          </p:cNvPr>
          <p:cNvSpPr/>
          <p:nvPr/>
        </p:nvSpPr>
        <p:spPr>
          <a:xfrm>
            <a:off x="1410998" y="4147235"/>
            <a:ext cx="7095952" cy="345000"/>
          </a:xfrm>
          <a:prstGeom prst="roundRect">
            <a:avLst>
              <a:gd name="adj" fmla="val 20473"/>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b="1">
                <a:latin typeface="Montserrat Medium"/>
                <a:ea typeface="Montserrat Medium"/>
                <a:cs typeface="Montserrat Medium"/>
                <a:sym typeface="Montserrat Medium"/>
              </a:rPr>
              <a:t>Live Demo</a:t>
            </a:r>
            <a:endParaRPr sz="1200" b="1">
              <a:latin typeface="Montserrat Medium"/>
              <a:ea typeface="Montserrat Medium"/>
              <a:cs typeface="Montserrat Medium"/>
              <a:sym typeface="Montserrat Medium"/>
            </a:endParaRPr>
          </a:p>
        </p:txBody>
      </p:sp>
      <p:sp>
        <p:nvSpPr>
          <p:cNvPr id="5" name="Google Shape;293;p20">
            <a:extLst>
              <a:ext uri="{FF2B5EF4-FFF2-40B4-BE49-F238E27FC236}">
                <a16:creationId xmlns:a16="http://schemas.microsoft.com/office/drawing/2014/main" id="{A0CAE2C4-F3B0-2248-7935-887E1F7FE976}"/>
              </a:ext>
            </a:extLst>
          </p:cNvPr>
          <p:cNvSpPr/>
          <p:nvPr/>
        </p:nvSpPr>
        <p:spPr>
          <a:xfrm>
            <a:off x="786399" y="4147235"/>
            <a:ext cx="624600" cy="345000"/>
          </a:xfrm>
          <a:prstGeom prst="roundRect">
            <a:avLst>
              <a:gd name="adj" fmla="val 16667"/>
            </a:avLst>
          </a:prstGeom>
          <a:solidFill>
            <a:schemeClr val="bg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07.</a:t>
            </a:r>
            <a:endParaRPr/>
          </a:p>
        </p:txBody>
      </p:sp>
    </p:spTree>
    <p:extLst>
      <p:ext uri="{BB962C8B-B14F-4D97-AF65-F5344CB8AC3E}">
        <p14:creationId xmlns:p14="http://schemas.microsoft.com/office/powerpoint/2010/main" val="499005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5">
          <a:extLst>
            <a:ext uri="{FF2B5EF4-FFF2-40B4-BE49-F238E27FC236}">
              <a16:creationId xmlns:a16="http://schemas.microsoft.com/office/drawing/2014/main" id="{6B42F597-0A1A-308E-4F00-E752ED53A50D}"/>
            </a:ext>
          </a:extLst>
        </p:cNvPr>
        <p:cNvGrpSpPr/>
        <p:nvPr/>
      </p:nvGrpSpPr>
      <p:grpSpPr>
        <a:xfrm>
          <a:off x="0" y="0"/>
          <a:ext cx="0" cy="0"/>
          <a:chOff x="0" y="0"/>
          <a:chExt cx="0" cy="0"/>
        </a:xfrm>
      </p:grpSpPr>
      <p:sp>
        <p:nvSpPr>
          <p:cNvPr id="2069" name="Google Shape;2069;p25">
            <a:extLst>
              <a:ext uri="{FF2B5EF4-FFF2-40B4-BE49-F238E27FC236}">
                <a16:creationId xmlns:a16="http://schemas.microsoft.com/office/drawing/2014/main" id="{3E420CC2-D8A6-7A3E-357A-AC2CC66B6AA7}"/>
              </a:ext>
            </a:extLst>
          </p:cNvPr>
          <p:cNvSpPr txBox="1">
            <a:spLocks noGrp="1"/>
          </p:cNvSpPr>
          <p:nvPr>
            <p:ph type="title"/>
          </p:nvPr>
        </p:nvSpPr>
        <p:spPr>
          <a:xfrm>
            <a:off x="1766971" y="299297"/>
            <a:ext cx="4852328" cy="548700"/>
          </a:xfrm>
          <a:prstGeom prst="rect">
            <a:avLst/>
          </a:prstGeom>
        </p:spPr>
        <p:txBody>
          <a:bodyPr spcFirstLastPara="1" wrap="square" lIns="91425" tIns="91425" rIns="91425" bIns="91425" anchor="t" anchorCtr="0">
            <a:noAutofit/>
          </a:bodyPr>
          <a:lstStyle/>
          <a:p>
            <a:pPr lvl="0" algn="l"/>
            <a:r>
              <a:rPr lang="en" sz="1600"/>
              <a:t>1. Architecture: Folder Structure </a:t>
            </a:r>
            <a:endParaRPr sz="1600"/>
          </a:p>
        </p:txBody>
      </p:sp>
      <p:graphicFrame>
        <p:nvGraphicFramePr>
          <p:cNvPr id="2099" name="Google Shape;2099;p25">
            <a:extLst>
              <a:ext uri="{FF2B5EF4-FFF2-40B4-BE49-F238E27FC236}">
                <a16:creationId xmlns:a16="http://schemas.microsoft.com/office/drawing/2014/main" id="{7AE1E81D-8232-9EFB-B2FF-070CEA370D07}"/>
              </a:ext>
            </a:extLst>
          </p:cNvPr>
          <p:cNvGraphicFramePr/>
          <p:nvPr>
            <p:extLst>
              <p:ext uri="{D42A27DB-BD31-4B8C-83A1-F6EECF244321}">
                <p14:modId xmlns:p14="http://schemas.microsoft.com/office/powerpoint/2010/main" val="933234928"/>
              </p:ext>
            </p:extLst>
          </p:nvPr>
        </p:nvGraphicFramePr>
        <p:xfrm>
          <a:off x="1766971" y="749558"/>
          <a:ext cx="7064885" cy="4009532"/>
        </p:xfrm>
        <a:graphic>
          <a:graphicData uri="http://schemas.openxmlformats.org/drawingml/2006/table">
            <a:tbl>
              <a:tblPr>
                <a:noFill/>
                <a:tableStyleId>{86803A34-6F86-4DFE-85D6-938519955848}</a:tableStyleId>
              </a:tblPr>
              <a:tblGrid>
                <a:gridCol w="1860331">
                  <a:extLst>
                    <a:ext uri="{9D8B030D-6E8A-4147-A177-3AD203B41FA5}">
                      <a16:colId xmlns:a16="http://schemas.microsoft.com/office/drawing/2014/main" val="20000"/>
                    </a:ext>
                  </a:extLst>
                </a:gridCol>
                <a:gridCol w="5204554">
                  <a:extLst>
                    <a:ext uri="{9D8B030D-6E8A-4147-A177-3AD203B41FA5}">
                      <a16:colId xmlns:a16="http://schemas.microsoft.com/office/drawing/2014/main" val="20001"/>
                    </a:ext>
                  </a:extLst>
                </a:gridCol>
              </a:tblGrid>
              <a:tr h="365750">
                <a:tc>
                  <a:txBody>
                    <a:bodyPr/>
                    <a:lstStyle/>
                    <a:p>
                      <a:pPr marL="0" lvl="0" indent="0" algn="l" rtl="0">
                        <a:spcBef>
                          <a:spcPts val="0"/>
                        </a:spcBef>
                        <a:spcAft>
                          <a:spcPts val="0"/>
                        </a:spcAft>
                        <a:buNone/>
                      </a:pPr>
                      <a:r>
                        <a:rPr lang="en-US" sz="1200" b="1">
                          <a:solidFill>
                            <a:schemeClr val="dk1"/>
                          </a:solidFill>
                          <a:latin typeface="Montserrat Medium"/>
                          <a:ea typeface="Montserrat Medium"/>
                          <a:cs typeface="Montserrat Medium"/>
                          <a:sym typeface="Montserrat Medium"/>
                        </a:rPr>
                        <a:t>  app/</a:t>
                      </a:r>
                    </a:p>
                  </a:txBody>
                  <a:tcPr marL="0" marR="0" marT="0" marB="0" anchor="ctr">
                    <a:lnL w="9525" cap="flat" cmpd="sng">
                      <a:solidFill>
                        <a:srgbClr val="9E9E9E">
                          <a:alpha val="0"/>
                        </a:srgbClr>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0" lvl="0" indent="0" algn="l" rtl="0">
                        <a:spcBef>
                          <a:spcPts val="0"/>
                        </a:spcBef>
                        <a:spcAft>
                          <a:spcPts val="0"/>
                        </a:spcAft>
                        <a:buNone/>
                      </a:pPr>
                      <a:r>
                        <a:rPr lang="en-US" sz="1200">
                          <a:solidFill>
                            <a:schemeClr val="dk1"/>
                          </a:solidFill>
                          <a:latin typeface="Montserrat Medium"/>
                          <a:ea typeface="Montserrat Medium"/>
                          <a:cs typeface="Montserrat Medium"/>
                          <a:sym typeface="Montserrat Medium"/>
                        </a:rPr>
                        <a:t>application factory + main blueprint</a:t>
                      </a:r>
                    </a:p>
                  </a:txBody>
                  <a:tcPr marL="91425" marR="91425" marT="0" marB="0" anchor="ctr">
                    <a:lnL w="19050" cap="flat" cmpd="sng" algn="ctr">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1"/>
                  </a:ext>
                </a:extLst>
              </a:tr>
              <a:tr h="364225">
                <a:tc>
                  <a:txBody>
                    <a:bodyPr/>
                    <a:lstStyle/>
                    <a:p>
                      <a:pPr marL="0" lvl="0" indent="0" algn="l" rtl="0">
                        <a:spcBef>
                          <a:spcPts val="0"/>
                        </a:spcBef>
                        <a:spcAft>
                          <a:spcPts val="0"/>
                        </a:spcAft>
                        <a:buNone/>
                      </a:pPr>
                      <a:r>
                        <a:rPr lang="en-US" sz="1200" b="1">
                          <a:solidFill>
                            <a:schemeClr val="dk1"/>
                          </a:solidFill>
                          <a:latin typeface="Montserrat Medium"/>
                          <a:ea typeface="Montserrat Medium"/>
                          <a:cs typeface="Montserrat Medium"/>
                          <a:sym typeface="Montserrat Medium"/>
                        </a:rPr>
                        <a:t>  app/main/</a:t>
                      </a:r>
                      <a:endParaRPr sz="1200" b="1">
                        <a:solidFill>
                          <a:schemeClr val="dk1"/>
                        </a:solidFill>
                        <a:latin typeface="Montserrat Medium"/>
                        <a:ea typeface="Montserrat Medium"/>
                        <a:cs typeface="Montserrat Medium"/>
                        <a:sym typeface="Montserrat Medium"/>
                      </a:endParaRPr>
                    </a:p>
                  </a:txBody>
                  <a:tcPr marL="0" marR="0" marT="0" marB="0" anchor="ctr">
                    <a:lnL w="9525" cap="flat" cmpd="sng">
                      <a:solidFill>
                        <a:srgbClr val="9E9E9E">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0" lvl="0" indent="0" algn="l">
                        <a:spcBef>
                          <a:spcPts val="0"/>
                        </a:spcBef>
                        <a:spcAft>
                          <a:spcPts val="0"/>
                        </a:spcAft>
                        <a:buNone/>
                      </a:pPr>
                      <a:r>
                        <a:rPr lang="en-US" sz="1200" b="0" i="0" u="none" strike="noStrike" baseline="0" noProof="0">
                          <a:solidFill>
                            <a:srgbClr val="000000"/>
                          </a:solidFill>
                          <a:latin typeface="Montserrat Medium"/>
                        </a:rPr>
                        <a:t>__init__.py, errors</a:t>
                      </a:r>
                      <a:r>
                        <a:rPr lang="en-US" sz="1200" b="0" i="0" u="none" strike="noStrike" baseline="0" noProof="0">
                          <a:solidFill>
                            <a:srgbClr val="000000"/>
                          </a:solidFill>
                          <a:latin typeface="Montserrat Medium"/>
                          <a:sym typeface="Montserrat Medium"/>
                        </a:rPr>
                        <a:t>.py, forms.py, </a:t>
                      </a:r>
                      <a:r>
                        <a:rPr lang="en-US" sz="1200" b="0" i="0" u="none" strike="noStrike" baseline="0" noProof="0">
                          <a:solidFill>
                            <a:srgbClr val="000000"/>
                          </a:solidFill>
                          <a:latin typeface="Montserrat Medium"/>
                        </a:rPr>
                        <a:t>views</a:t>
                      </a:r>
                      <a:r>
                        <a:rPr lang="en-US" sz="1200" b="0" i="0" u="none" strike="noStrike" baseline="0" noProof="0">
                          <a:solidFill>
                            <a:srgbClr val="000000"/>
                          </a:solidFill>
                          <a:latin typeface="Montserrat Medium"/>
                          <a:sym typeface="Montserrat Medium"/>
                        </a:rPr>
                        <a:t>.py</a:t>
                      </a:r>
                      <a:endParaRPr sz="1200" b="0" i="0" u="none" strike="noStrike" baseline="0" noProof="0">
                        <a:solidFill>
                          <a:srgbClr val="000000"/>
                        </a:solidFill>
                        <a:latin typeface="Montserrat Medium"/>
                        <a:sym typeface="Montserrat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2"/>
                  </a:ext>
                </a:extLst>
              </a:tr>
              <a:tr h="364225">
                <a:tc>
                  <a:txBody>
                    <a:bodyPr/>
                    <a:lstStyle/>
                    <a:p>
                      <a:pPr marL="0" lvl="0" indent="0" algn="l" rtl="0">
                        <a:spcBef>
                          <a:spcPts val="0"/>
                        </a:spcBef>
                        <a:spcAft>
                          <a:spcPts val="0"/>
                        </a:spcAft>
                        <a:buNone/>
                      </a:pPr>
                      <a:r>
                        <a:rPr lang="en-US" sz="1200">
                          <a:solidFill>
                            <a:schemeClr val="dk1"/>
                          </a:solidFill>
                          <a:latin typeface="Montserrat Medium"/>
                          <a:ea typeface="Montserrat Medium"/>
                          <a:cs typeface="Montserrat Medium"/>
                          <a:sym typeface="Montserrat Medium"/>
                        </a:rPr>
                        <a:t>  app/</a:t>
                      </a:r>
                      <a:r>
                        <a:rPr lang="en-US" sz="1200">
                          <a:solidFill>
                            <a:schemeClr val="dk1"/>
                          </a:solidFill>
                          <a:latin typeface="Montserrat Medium"/>
                          <a:ea typeface="Montserrat Medium"/>
                          <a:cs typeface="Montserrat Medium"/>
                        </a:rPr>
                        <a:t>templates/</a:t>
                      </a:r>
                      <a:endParaRPr sz="1200">
                        <a:solidFill>
                          <a:schemeClr val="dk1"/>
                        </a:solidFill>
                        <a:latin typeface="Montserrat Medium"/>
                        <a:ea typeface="Montserrat Medium"/>
                        <a:cs typeface="Montserrat Medium"/>
                        <a:sym typeface="Montserrat Medium"/>
                      </a:endParaRPr>
                    </a:p>
                  </a:txBody>
                  <a:tcPr marL="0" marR="0" marT="0" marB="0" anchor="ctr">
                    <a:lnL w="9525" cap="flat" cmpd="sng">
                      <a:solidFill>
                        <a:srgbClr val="9E9E9E">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0" lvl="0" indent="0" algn="l">
                        <a:spcBef>
                          <a:spcPts val="0"/>
                        </a:spcBef>
                        <a:spcAft>
                          <a:spcPts val="0"/>
                        </a:spcAft>
                        <a:buNone/>
                      </a:pPr>
                      <a:r>
                        <a:rPr lang="en-US" sz="1200" b="0" i="0" u="none" strike="noStrike" baseline="0" noProof="0">
                          <a:solidFill>
                            <a:srgbClr val="000000"/>
                          </a:solidFill>
                          <a:latin typeface="Montserrat Medium"/>
                        </a:rPr>
                        <a:t>base.html, index.html, login.html, register.html, verify_pin.html, </a:t>
                      </a:r>
                      <a:r>
                        <a:rPr lang="en-US" sz="1200" b="0" i="0" u="none" strike="noStrike" baseline="0" noProof="0">
                          <a:solidFill>
                            <a:srgbClr val="000000"/>
                          </a:solidFill>
                          <a:latin typeface="Montserrat Medium"/>
                          <a:ea typeface="Montserrat Medium"/>
                          <a:cs typeface="Montserrat Medium"/>
                        </a:rPr>
                        <a:t>404.html</a:t>
                      </a:r>
                      <a:endParaRPr>
                        <a:sym typeface="Montserrat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3"/>
                  </a:ext>
                </a:extLst>
              </a:tr>
              <a:tr h="364225">
                <a:tc>
                  <a:txBody>
                    <a:bodyPr/>
                    <a:lstStyle/>
                    <a:p>
                      <a:pPr marL="0" lvl="0" indent="0" algn="l" rtl="0">
                        <a:spcBef>
                          <a:spcPts val="0"/>
                        </a:spcBef>
                        <a:spcAft>
                          <a:spcPts val="0"/>
                        </a:spcAft>
                        <a:buNone/>
                      </a:pPr>
                      <a:r>
                        <a:rPr lang="en" sz="1200">
                          <a:solidFill>
                            <a:schemeClr val="dk1"/>
                          </a:solidFill>
                          <a:latin typeface="Montserrat Medium"/>
                          <a:ea typeface="Montserrat Medium"/>
                          <a:cs typeface="Montserrat Medium"/>
                          <a:sym typeface="Montserrat Medium"/>
                        </a:rPr>
                        <a:t>  </a:t>
                      </a:r>
                      <a:r>
                        <a:rPr lang="en" sz="1200">
                          <a:solidFill>
                            <a:schemeClr val="dk1"/>
                          </a:solidFill>
                          <a:latin typeface="Montserrat Medium"/>
                        </a:rPr>
                        <a:t>app</a:t>
                      </a:r>
                      <a:r>
                        <a:rPr lang="en" sz="1200">
                          <a:solidFill>
                            <a:schemeClr val="dk1"/>
                          </a:solidFill>
                          <a:latin typeface="Montserrat Medium"/>
                          <a:sym typeface="Montserrat Medium"/>
                        </a:rPr>
                        <a:t>/</a:t>
                      </a:r>
                      <a:r>
                        <a:rPr lang="en" sz="1200">
                          <a:solidFill>
                            <a:schemeClr val="dk1"/>
                          </a:solidFill>
                          <a:latin typeface="Montserrat Medium"/>
                        </a:rPr>
                        <a:t>templates/</a:t>
                      </a:r>
                      <a:r>
                        <a:rPr lang="en" sz="1200">
                          <a:solidFill>
                            <a:schemeClr val="dk1"/>
                          </a:solidFill>
                          <a:latin typeface="Montserrat Medium"/>
                          <a:sym typeface="Montserrat Medium"/>
                        </a:rPr>
                        <a:t>email</a:t>
                      </a:r>
                      <a:r>
                        <a:rPr lang="en" sz="1200">
                          <a:solidFill>
                            <a:schemeClr val="dk1"/>
                          </a:solidFill>
                          <a:latin typeface="Montserrat Medium"/>
                        </a:rPr>
                        <a:t>/</a:t>
                      </a:r>
                      <a:endParaRPr sz="1200">
                        <a:solidFill>
                          <a:schemeClr val="dk1"/>
                        </a:solidFill>
                        <a:latin typeface="Montserrat Medium"/>
                        <a:ea typeface="Montserrat Medium"/>
                        <a:cs typeface="Montserrat Medium"/>
                        <a:sym typeface="Montserrat Medium"/>
                      </a:endParaRPr>
                    </a:p>
                  </a:txBody>
                  <a:tcPr marL="0" marR="0" marT="0" marB="0" anchor="ctr">
                    <a:lnL w="9525" cap="flat" cmpd="sng">
                      <a:solidFill>
                        <a:srgbClr val="9E9E9E">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0" lvl="0" indent="0" algn="l">
                        <a:spcBef>
                          <a:spcPts val="0"/>
                        </a:spcBef>
                        <a:spcAft>
                          <a:spcPts val="0"/>
                        </a:spcAft>
                        <a:buNone/>
                      </a:pPr>
                      <a:r>
                        <a:rPr lang="en" sz="1200" b="0" i="0" u="none" strike="noStrike" baseline="0" noProof="0">
                          <a:solidFill>
                            <a:srgbClr val="000000"/>
                          </a:solidFill>
                          <a:latin typeface="Montserrat Medium"/>
                        </a:rPr>
                        <a:t>pin.html, unverified.html, verify.html</a:t>
                      </a:r>
                      <a:endParaRPr>
                        <a:sym typeface="Montserrat Medium"/>
                      </a:endParaRPr>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4"/>
                  </a:ext>
                </a:extLst>
              </a:tr>
              <a:tr h="364225">
                <a:tc>
                  <a:txBody>
                    <a:bodyPr/>
                    <a:lstStyle/>
                    <a:p>
                      <a:pPr marL="0" lvl="0" indent="0" algn="l">
                        <a:spcBef>
                          <a:spcPts val="0"/>
                        </a:spcBef>
                        <a:spcAft>
                          <a:spcPts val="0"/>
                        </a:spcAft>
                        <a:buNone/>
                      </a:pPr>
                      <a:r>
                        <a:rPr lang="en" sz="1200" b="1" i="0" u="none" strike="noStrike" baseline="0" noProof="0">
                          <a:solidFill>
                            <a:srgbClr val="000000"/>
                          </a:solidFill>
                          <a:latin typeface="Montserrat Medium"/>
                        </a:rPr>
                        <a:t>  app/models</a:t>
                      </a:r>
                      <a:r>
                        <a:rPr lang="en" sz="1200" b="1" i="0" u="none" strike="noStrike" baseline="0" noProof="0">
                          <a:solidFill>
                            <a:srgbClr val="000000"/>
                          </a:solidFill>
                          <a:latin typeface="Montserrat Medium"/>
                          <a:sym typeface="Montserrat Medium"/>
                        </a:rPr>
                        <a:t>.py</a:t>
                      </a:r>
                    </a:p>
                  </a:txBody>
                  <a:tcPr marL="0" marR="0" marT="0" marB="0" anchor="ctr">
                    <a:lnL w="9525" cap="flat" cmpd="sng">
                      <a:solidFill>
                        <a:srgbClr val="9E9E9E">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0" lvl="0" indent="0" algn="l">
                        <a:lnSpc>
                          <a:spcPct val="100000"/>
                        </a:lnSpc>
                        <a:buNone/>
                      </a:pPr>
                      <a:r>
                        <a:rPr lang="en-US" sz="1200" b="0" i="0" u="none" strike="noStrike" baseline="0" noProof="0">
                          <a:solidFill>
                            <a:srgbClr val="000000"/>
                          </a:solidFill>
                          <a:latin typeface="Montserrat Medium"/>
                        </a:rPr>
                        <a:t>database models</a:t>
                      </a:r>
                      <a:endParaRPr lang="en-US"/>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5"/>
                  </a:ext>
                </a:extLst>
              </a:tr>
              <a:tr h="364225">
                <a:tc>
                  <a:txBody>
                    <a:bodyPr/>
                    <a:lstStyle/>
                    <a:p>
                      <a:pPr marL="0" lvl="0" indent="0" algn="l" rtl="0">
                        <a:spcBef>
                          <a:spcPts val="0"/>
                        </a:spcBef>
                        <a:spcAft>
                          <a:spcPts val="0"/>
                        </a:spcAft>
                        <a:buNone/>
                      </a:pPr>
                      <a:r>
                        <a:rPr lang="en" sz="1200" b="1">
                          <a:solidFill>
                            <a:schemeClr val="dk1"/>
                          </a:solidFill>
                          <a:latin typeface="Montserrat Medium"/>
                          <a:ea typeface="Montserrat Medium"/>
                          <a:cs typeface="Montserrat Medium"/>
                        </a:rPr>
                        <a:t>  </a:t>
                      </a:r>
                      <a:r>
                        <a:rPr lang="en" sz="1200" b="1">
                          <a:solidFill>
                            <a:schemeClr val="dk1"/>
                          </a:solidFill>
                          <a:latin typeface="Montserrat Medium"/>
                        </a:rPr>
                        <a:t>app/email.py</a:t>
                      </a:r>
                      <a:endParaRPr lang="en" sz="1200" b="1">
                        <a:solidFill>
                          <a:schemeClr val="dk1"/>
                        </a:solidFill>
                        <a:latin typeface="Montserrat Medium"/>
                        <a:ea typeface="Montserrat Medium"/>
                        <a:cs typeface="Montserrat Medium"/>
                      </a:endParaRPr>
                    </a:p>
                  </a:txBody>
                  <a:tcPr marL="0" marR="0" marT="0" marB="0" anchor="ctr">
                    <a:lnL w="9525" cap="flat" cmpd="sng">
                      <a:solidFill>
                        <a:srgbClr val="9E9E9E">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l">
                        <a:lnSpc>
                          <a:spcPct val="100000"/>
                        </a:lnSpc>
                        <a:buNone/>
                      </a:pPr>
                      <a:r>
                        <a:rPr lang="en" sz="1200" b="0" i="0" u="none" strike="noStrike" baseline="0" noProof="0">
                          <a:solidFill>
                            <a:srgbClr val="000000"/>
                          </a:solidFill>
                          <a:latin typeface="Montserrat Medium"/>
                        </a:rPr>
                        <a:t>email sending logic</a:t>
                      </a:r>
                      <a:endParaRPr lang="en-US"/>
                    </a:p>
                  </a:txBody>
                  <a:tcPr marL="91425" marR="91425" marT="0" marB="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10006"/>
                  </a:ext>
                </a:extLst>
              </a:tr>
              <a:tr h="364225">
                <a:tc>
                  <a:txBody>
                    <a:bodyPr/>
                    <a:lstStyle/>
                    <a:p>
                      <a:pPr marL="0" lvl="0" indent="0" algn="l">
                        <a:lnSpc>
                          <a:spcPct val="100000"/>
                        </a:lnSpc>
                        <a:buNone/>
                      </a:pPr>
                      <a:r>
                        <a:rPr lang="en-US" sz="1200" b="0" i="0" u="none" strike="noStrike" baseline="0" noProof="0">
                          <a:solidFill>
                            <a:srgbClr val="000000"/>
                          </a:solidFill>
                          <a:latin typeface="Montserrat Medium"/>
                        </a:rPr>
                        <a:t>  app/utils.py</a:t>
                      </a:r>
                      <a:endParaRPr lang="en-US"/>
                    </a:p>
                  </a:txBody>
                  <a:tcPr marL="0" marR="0" marT="0" marB="0" anchor="ctr">
                    <a:lnL w="9525" cap="flat" cmpd="sng">
                      <a:solidFill>
                        <a:srgbClr val="9E9E9E">
                          <a:alpha val="0"/>
                        </a:srgbClr>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l">
                        <a:lnSpc>
                          <a:spcPct val="100000"/>
                        </a:lnSpc>
                        <a:buNone/>
                      </a:pPr>
                      <a:r>
                        <a:rPr lang="en-US" sz="1200" b="0" i="0" u="none" strike="noStrike" baseline="0" noProof="0">
                          <a:solidFill>
                            <a:srgbClr val="000000"/>
                          </a:solidFill>
                          <a:latin typeface="Montserrat Medium"/>
                        </a:rPr>
                        <a:t>helper functions</a:t>
                      </a:r>
                      <a:endParaRPr lang="en-US"/>
                    </a:p>
                  </a:txBody>
                  <a:tcPr marL="91425" marR="91425" marT="0" marB="0" anchor="ctr">
                    <a:lnL w="19050" cap="flat" cmpd="sng" algn="ctr">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4285995502"/>
                  </a:ext>
                </a:extLst>
              </a:tr>
              <a:tr h="364225">
                <a:tc>
                  <a:txBody>
                    <a:bodyPr/>
                    <a:lstStyle/>
                    <a:p>
                      <a:pPr marL="0" lvl="0" indent="0" algn="l">
                        <a:spcBef>
                          <a:spcPts val="0"/>
                        </a:spcBef>
                        <a:spcAft>
                          <a:spcPts val="0"/>
                        </a:spcAft>
                        <a:buNone/>
                      </a:pPr>
                      <a:r>
                        <a:rPr lang="en-US" sz="1200" b="0" i="0" u="none" strike="noStrike" baseline="0" noProof="0">
                          <a:solidFill>
                            <a:srgbClr val="000000"/>
                          </a:solidFill>
                          <a:latin typeface="Montserrat Medium"/>
                        </a:rPr>
                        <a:t>  config.py</a:t>
                      </a:r>
                      <a:endParaRPr lang="en-US" sz="1200" b="0" i="0" u="none" strike="noStrike" baseline="0" noProof="0">
                        <a:solidFill>
                          <a:srgbClr val="000000"/>
                        </a:solidFill>
                        <a:latin typeface="Montserrat Medium"/>
                        <a:sym typeface="Montserrat Medium"/>
                      </a:endParaRPr>
                    </a:p>
                  </a:txBody>
                  <a:tcPr marL="0" marR="0" marT="0" marB="0" anchor="ctr">
                    <a:lnL w="9525" cap="flat" cmpd="sng">
                      <a:solidFill>
                        <a:srgbClr val="9E9E9E">
                          <a:alpha val="0"/>
                        </a:srgbClr>
                      </a:solidFill>
                      <a:prstDash val="solid"/>
                      <a:round/>
                      <a:headEnd type="none" w="sm" len="sm"/>
                      <a:tailEnd type="none" w="sm" len="sm"/>
                    </a:lnL>
                    <a:lnR w="19050" cap="flat" cmpd="sng" algn="ctr">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tc>
                  <a:txBody>
                    <a:bodyPr/>
                    <a:lstStyle/>
                    <a:p>
                      <a:pPr marL="0" lvl="0" indent="0" algn="l">
                        <a:lnSpc>
                          <a:spcPct val="100000"/>
                        </a:lnSpc>
                        <a:buNone/>
                      </a:pPr>
                      <a:r>
                        <a:rPr lang="en-US" sz="1200" b="0" i="0" u="none" strike="noStrike" baseline="0" noProof="0">
                          <a:solidFill>
                            <a:srgbClr val="000000"/>
                          </a:solidFill>
                          <a:latin typeface="Montserrat Medium"/>
                        </a:rPr>
                        <a:t>configuration and secrets loading</a:t>
                      </a:r>
                      <a:endParaRPr lang="en-US"/>
                    </a:p>
                  </a:txBody>
                  <a:tcPr marL="91425" marR="91425" marT="0" marB="0" anchor="ctr">
                    <a:lnL w="19050" cap="flat" cmpd="sng" algn="ctr">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lgn="ctr">
                      <a:solidFill>
                        <a:schemeClr val="lt1"/>
                      </a:solidFill>
                      <a:prstDash val="solid"/>
                      <a:round/>
                      <a:headEnd type="none" w="sm" len="sm"/>
                      <a:tailEnd type="none" w="sm" len="sm"/>
                    </a:lnB>
                    <a:solidFill>
                      <a:schemeClr val="accent4"/>
                    </a:solidFill>
                  </a:tcPr>
                </a:tc>
                <a:extLst>
                  <a:ext uri="{0D108BD9-81ED-4DB2-BD59-A6C34878D82A}">
                    <a16:rowId xmlns:a16="http://schemas.microsoft.com/office/drawing/2014/main" val="3860565948"/>
                  </a:ext>
                </a:extLst>
              </a:tr>
              <a:tr h="364224">
                <a:tc>
                  <a:txBody>
                    <a:bodyPr/>
                    <a:lstStyle/>
                    <a:p>
                      <a:pPr marL="0" lvl="0" indent="0" algn="l">
                        <a:spcBef>
                          <a:spcPts val="0"/>
                        </a:spcBef>
                        <a:spcAft>
                          <a:spcPts val="0"/>
                        </a:spcAft>
                        <a:buNone/>
                      </a:pPr>
                      <a:r>
                        <a:rPr lang="en-US" sz="1200" b="0" i="0" u="none" strike="noStrike" baseline="0" noProof="0">
                          <a:solidFill>
                            <a:srgbClr val="000000"/>
                          </a:solidFill>
                          <a:latin typeface="Montserrat Medium"/>
                        </a:rPr>
                        <a:t>  flasky.py</a:t>
                      </a:r>
                    </a:p>
                  </a:txBody>
                  <a:tcPr marL="0" marR="0" marT="0" marB="0" anchor="ctr">
                    <a:lnL w="9524">
                      <a:solidFill>
                        <a:srgbClr val="9E9E9E">
                          <a:alpha val="0"/>
                        </a:srgbClr>
                      </a:solidFill>
                    </a:lnL>
                    <a:lnR w="19050">
                      <a:solidFill>
                        <a:schemeClr val="lt1"/>
                      </a:solidFill>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med" len="med"/>
                      <a:tailEnd type="none" w="med" len="med"/>
                    </a:lnB>
                    <a:solidFill>
                      <a:schemeClr val="accent4"/>
                    </a:solidFill>
                  </a:tcPr>
                </a:tc>
                <a:tc>
                  <a:txBody>
                    <a:bodyPr/>
                    <a:lstStyle/>
                    <a:p>
                      <a:pPr marL="0" lvl="0" indent="0" algn="l">
                        <a:lnSpc>
                          <a:spcPct val="100000"/>
                        </a:lnSpc>
                        <a:buNone/>
                      </a:pPr>
                      <a:r>
                        <a:rPr lang="en-US" sz="1200" b="0" i="0" u="none" strike="noStrike" baseline="0" noProof="0">
                          <a:solidFill>
                            <a:srgbClr val="000000"/>
                          </a:solidFill>
                          <a:latin typeface="Montserrat Medium"/>
                        </a:rPr>
                        <a:t>application entry point</a:t>
                      </a:r>
                      <a:endParaRPr lang="en-US"/>
                    </a:p>
                  </a:txBody>
                  <a:tcPr marL="91425" marR="91425" marT="0" marB="0" anchor="ctr">
                    <a:lnL w="19050">
                      <a:solidFill>
                        <a:schemeClr val="lt1"/>
                      </a:solidFill>
                    </a:lnL>
                    <a:lnR w="19050">
                      <a:solidFill>
                        <a:schemeClr val="lt1"/>
                      </a:solidFill>
                    </a:lnR>
                    <a:lnT w="19050" cap="flat" cmpd="sng" algn="ctr">
                      <a:solidFill>
                        <a:schemeClr val="lt1"/>
                      </a:solidFill>
                      <a:prstDash val="solid"/>
                      <a:round/>
                      <a:headEnd type="none" w="sm" len="sm"/>
                      <a:tailEnd type="none" w="sm" len="sm"/>
                    </a:lnT>
                    <a:lnB w="19050" cap="flat" cmpd="sng" algn="ctr">
                      <a:solidFill>
                        <a:schemeClr val="lt1"/>
                      </a:solidFill>
                      <a:prstDash val="solid"/>
                      <a:round/>
                      <a:headEnd type="none" w="med" len="med"/>
                      <a:tailEnd type="none" w="med" len="med"/>
                    </a:lnB>
                    <a:solidFill>
                      <a:schemeClr val="accent4"/>
                    </a:solidFill>
                  </a:tcPr>
                </a:tc>
                <a:extLst>
                  <a:ext uri="{0D108BD9-81ED-4DB2-BD59-A6C34878D82A}">
                    <a16:rowId xmlns:a16="http://schemas.microsoft.com/office/drawing/2014/main" val="2061393813"/>
                  </a:ext>
                </a:extLst>
              </a:tr>
              <a:tr h="364224">
                <a:tc>
                  <a:txBody>
                    <a:bodyPr/>
                    <a:lstStyle/>
                    <a:p>
                      <a:pPr marL="0" lvl="0" indent="0" algn="l">
                        <a:spcBef>
                          <a:spcPts val="0"/>
                        </a:spcBef>
                        <a:spcAft>
                          <a:spcPts val="0"/>
                        </a:spcAft>
                        <a:buNone/>
                      </a:pPr>
                      <a:r>
                        <a:rPr lang="en-US" sz="1200" b="0" i="0" u="none" strike="noStrike" baseline="0" noProof="0">
                          <a:solidFill>
                            <a:srgbClr val="000000"/>
                          </a:solidFill>
                          <a:latin typeface="Montserrat Medium"/>
                        </a:rPr>
                        <a:t>  tests/</a:t>
                      </a:r>
                      <a:endParaRPr lang="en-US">
                        <a:sym typeface="Montserrat Medium"/>
                      </a:endParaRPr>
                    </a:p>
                  </a:txBody>
                  <a:tcPr marL="0" marR="0" marT="0" marB="0" anchor="ctr">
                    <a:lnL w="9524">
                      <a:solidFill>
                        <a:srgbClr val="9E9E9E">
                          <a:alpha val="0"/>
                        </a:srgbClr>
                      </a:solidFill>
                    </a:lnL>
                    <a:lnR w="19050">
                      <a:solidFill>
                        <a:schemeClr val="lt1"/>
                      </a:solidFill>
                    </a:lnR>
                    <a:lnT w="19050">
                      <a:solidFill>
                        <a:schemeClr val="lt1"/>
                      </a:solidFill>
                    </a:lnT>
                    <a:lnB w="19050" cap="flat" cmpd="sng" algn="ctr">
                      <a:solidFill>
                        <a:schemeClr val="lt1"/>
                      </a:solidFill>
                      <a:prstDash val="solid"/>
                      <a:round/>
                      <a:headEnd type="none" w="med" len="med"/>
                      <a:tailEnd type="none" w="med" len="med"/>
                    </a:lnB>
                    <a:solidFill>
                      <a:schemeClr val="accent4"/>
                    </a:solidFill>
                  </a:tcPr>
                </a:tc>
                <a:tc>
                  <a:txBody>
                    <a:bodyPr/>
                    <a:lstStyle/>
                    <a:p>
                      <a:pPr marL="0" lvl="0" indent="0" algn="l">
                        <a:lnSpc>
                          <a:spcPct val="100000"/>
                        </a:lnSpc>
                        <a:buNone/>
                      </a:pPr>
                      <a:r>
                        <a:rPr lang="en-US" sz="1200" b="0" i="0" u="none" strike="noStrike" baseline="0" noProof="0" err="1">
                          <a:solidFill>
                            <a:srgbClr val="000000"/>
                          </a:solidFill>
                          <a:latin typeface="Montserrat Medium"/>
                        </a:rPr>
                        <a:t>pytest</a:t>
                      </a:r>
                      <a:r>
                        <a:rPr lang="en-US" sz="1200" b="0" i="0" u="none" strike="noStrike" baseline="0" noProof="0">
                          <a:solidFill>
                            <a:srgbClr val="000000"/>
                          </a:solidFill>
                          <a:latin typeface="Montserrat Medium"/>
                        </a:rPr>
                        <a:t> test suite</a:t>
                      </a:r>
                      <a:endParaRPr lang="en-US"/>
                    </a:p>
                  </a:txBody>
                  <a:tcPr marL="91425" marR="91425" marT="0" marB="0" anchor="ctr">
                    <a:lnL w="19050">
                      <a:solidFill>
                        <a:schemeClr val="lt1"/>
                      </a:solidFill>
                    </a:lnL>
                    <a:lnR w="19050">
                      <a:solidFill>
                        <a:schemeClr val="lt1"/>
                      </a:solidFill>
                    </a:lnR>
                    <a:lnT w="19050">
                      <a:solidFill>
                        <a:schemeClr val="lt1"/>
                      </a:solidFill>
                    </a:lnT>
                    <a:lnB w="19050" cap="flat" cmpd="sng" algn="ctr">
                      <a:solidFill>
                        <a:schemeClr val="lt1"/>
                      </a:solidFill>
                      <a:prstDash val="solid"/>
                      <a:round/>
                      <a:headEnd type="none" w="med" len="med"/>
                      <a:tailEnd type="none" w="med" len="med"/>
                    </a:lnB>
                    <a:solidFill>
                      <a:schemeClr val="accent4"/>
                    </a:solidFill>
                  </a:tcPr>
                </a:tc>
                <a:extLst>
                  <a:ext uri="{0D108BD9-81ED-4DB2-BD59-A6C34878D82A}">
                    <a16:rowId xmlns:a16="http://schemas.microsoft.com/office/drawing/2014/main" val="2081227871"/>
                  </a:ext>
                </a:extLst>
              </a:tr>
              <a:tr h="364224">
                <a:tc>
                  <a:txBody>
                    <a:bodyPr/>
                    <a:lstStyle/>
                    <a:p>
                      <a:pPr marL="0" lvl="0" indent="0" algn="l">
                        <a:spcBef>
                          <a:spcPts val="0"/>
                        </a:spcBef>
                        <a:spcAft>
                          <a:spcPts val="0"/>
                        </a:spcAft>
                        <a:buNone/>
                      </a:pPr>
                      <a:r>
                        <a:rPr lang="en-US" sz="1200" b="0" i="0" u="none" strike="noStrike" baseline="0" noProof="0">
                          <a:solidFill>
                            <a:srgbClr val="000000"/>
                          </a:solidFill>
                          <a:latin typeface="Montserrat Medium"/>
                        </a:rPr>
                        <a:t>  requirements.txt</a:t>
                      </a:r>
                      <a:endParaRPr lang="en-US" sz="1200" b="0" i="0" u="none" strike="noStrike" baseline="0" noProof="0">
                        <a:solidFill>
                          <a:srgbClr val="000000"/>
                        </a:solidFill>
                        <a:latin typeface="Montserrat Medium"/>
                        <a:sym typeface="Montserrat Medium"/>
                      </a:endParaRPr>
                    </a:p>
                  </a:txBody>
                  <a:tcPr marL="0" marR="0" marT="0" marB="0" anchor="ctr">
                    <a:lnL w="9524">
                      <a:solidFill>
                        <a:srgbClr val="9E9E9E">
                          <a:alpha val="0"/>
                        </a:srgbClr>
                      </a:solidFill>
                    </a:lnL>
                    <a:lnR w="19050">
                      <a:solidFill>
                        <a:schemeClr val="lt1"/>
                      </a:solidFill>
                    </a:lnR>
                    <a:lnT w="19050">
                      <a:solidFill>
                        <a:schemeClr val="lt1"/>
                      </a:solidFill>
                    </a:lnT>
                    <a:lnB w="19050">
                      <a:solidFill>
                        <a:schemeClr val="lt1"/>
                      </a:solidFill>
                    </a:lnB>
                    <a:solidFill>
                      <a:schemeClr val="accent4"/>
                    </a:solidFill>
                  </a:tcPr>
                </a:tc>
                <a:tc>
                  <a:txBody>
                    <a:bodyPr/>
                    <a:lstStyle/>
                    <a:p>
                      <a:pPr marL="0" lvl="0" indent="0" algn="l">
                        <a:lnSpc>
                          <a:spcPct val="100000"/>
                        </a:lnSpc>
                        <a:buNone/>
                      </a:pPr>
                      <a:r>
                        <a:rPr lang="en-US" sz="1200" b="0" i="0" u="none" strike="noStrike" baseline="0" noProof="0">
                          <a:solidFill>
                            <a:srgbClr val="000000"/>
                          </a:solidFill>
                          <a:latin typeface="Montserrat Medium"/>
                          <a:cs typeface="Arial"/>
                        </a:rPr>
                        <a:t>locked dependencies</a:t>
                      </a:r>
                      <a:endParaRPr lang="en-US" sz="1200">
                        <a:latin typeface="Montserrat Medium"/>
                      </a:endParaRPr>
                    </a:p>
                  </a:txBody>
                  <a:tcPr marL="91425" marR="91425" marT="0" marB="0" anchor="ctr">
                    <a:lnL w="19050">
                      <a:solidFill>
                        <a:schemeClr val="lt1"/>
                      </a:solidFill>
                    </a:lnL>
                    <a:lnR w="19050">
                      <a:solidFill>
                        <a:schemeClr val="lt1"/>
                      </a:solidFill>
                    </a:lnR>
                    <a:lnT w="19050">
                      <a:solidFill>
                        <a:schemeClr val="lt1"/>
                      </a:solidFill>
                    </a:lnT>
                    <a:lnB w="19050">
                      <a:solidFill>
                        <a:schemeClr val="lt1"/>
                      </a:solidFill>
                    </a:lnB>
                    <a:solidFill>
                      <a:schemeClr val="accent4"/>
                    </a:solidFill>
                  </a:tcPr>
                </a:tc>
                <a:extLst>
                  <a:ext uri="{0D108BD9-81ED-4DB2-BD59-A6C34878D82A}">
                    <a16:rowId xmlns:a16="http://schemas.microsoft.com/office/drawing/2014/main" val="1896699591"/>
                  </a:ext>
                </a:extLst>
              </a:tr>
            </a:tbl>
          </a:graphicData>
        </a:graphic>
      </p:graphicFrame>
      <p:pic>
        <p:nvPicPr>
          <p:cNvPr id="5" name="Picture 4">
            <a:extLst>
              <a:ext uri="{FF2B5EF4-FFF2-40B4-BE49-F238E27FC236}">
                <a16:creationId xmlns:a16="http://schemas.microsoft.com/office/drawing/2014/main" id="{6B405815-9E62-121C-2D96-7F4C956E8FE9}"/>
              </a:ext>
            </a:extLst>
          </p:cNvPr>
          <p:cNvPicPr>
            <a:picLocks noChangeAspect="1"/>
          </p:cNvPicPr>
          <p:nvPr/>
        </p:nvPicPr>
        <p:blipFill>
          <a:blip r:embed="rId4"/>
          <a:stretch>
            <a:fillRect/>
          </a:stretch>
        </p:blipFill>
        <p:spPr>
          <a:xfrm>
            <a:off x="445043" y="0"/>
            <a:ext cx="1115996" cy="5143500"/>
          </a:xfrm>
          <a:prstGeom prst="rect">
            <a:avLst/>
          </a:prstGeom>
        </p:spPr>
      </p:pic>
    </p:spTree>
    <p:extLst>
      <p:ext uri="{BB962C8B-B14F-4D97-AF65-F5344CB8AC3E}">
        <p14:creationId xmlns:p14="http://schemas.microsoft.com/office/powerpoint/2010/main" val="475247211"/>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7" name="Google Shape;307;p21"/>
          <p:cNvSpPr txBox="1">
            <a:spLocks noGrp="1"/>
          </p:cNvSpPr>
          <p:nvPr>
            <p:ph type="title"/>
          </p:nvPr>
        </p:nvSpPr>
        <p:spPr>
          <a:xfrm>
            <a:off x="713250" y="60960"/>
            <a:ext cx="7717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600"/>
              <a:t>1. Architecture: Application Overview</a:t>
            </a:r>
            <a:endParaRPr sz="1600"/>
          </a:p>
        </p:txBody>
      </p:sp>
      <p:sp>
        <p:nvSpPr>
          <p:cNvPr id="333" name="Google Shape;333;p21"/>
          <p:cNvSpPr txBox="1"/>
          <p:nvPr/>
        </p:nvSpPr>
        <p:spPr>
          <a:xfrm>
            <a:off x="709900" y="446845"/>
            <a:ext cx="7717500" cy="386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dk1"/>
                </a:solidFill>
                <a:latin typeface="Montserrat Medium" panose="00000600000000000000" pitchFamily="2" charset="0"/>
                <a:ea typeface="Montserrat SemiBold"/>
                <a:cs typeface="Montserrat SemiBold"/>
                <a:sym typeface="Montserrat SemiBold"/>
              </a:rPr>
              <a:t>Three-layer structure</a:t>
            </a:r>
            <a:r>
              <a:rPr lang="en" sz="1200">
                <a:solidFill>
                  <a:schemeClr val="dk1"/>
                </a:solidFill>
                <a:latin typeface="Montserrat Medium" panose="00000600000000000000" pitchFamily="2" charset="0"/>
                <a:ea typeface="Montserrat SemiBold"/>
                <a:cs typeface="Montserrat SemiBold"/>
                <a:sym typeface="Montserrat SemiBold"/>
              </a:rPr>
              <a:t>: </a:t>
            </a:r>
            <a:r>
              <a:rPr lang="en-US" sz="1200">
                <a:solidFill>
                  <a:schemeClr val="dk1"/>
                </a:solidFill>
                <a:latin typeface="Montserrat Medium" panose="00000600000000000000" pitchFamily="2" charset="0"/>
                <a:ea typeface="Montserrat SemiBold"/>
                <a:cs typeface="Montserrat SemiBold"/>
                <a:sym typeface="Montserrat SemiBold"/>
              </a:rPr>
              <a:t>Presentation → Application Logic → Data</a:t>
            </a:r>
          </a:p>
          <a:p>
            <a:pPr marL="0" lvl="0" indent="0" rtl="0">
              <a:spcBef>
                <a:spcPts val="0"/>
              </a:spcBef>
              <a:spcAft>
                <a:spcPts val="0"/>
              </a:spcAft>
              <a:buNone/>
            </a:pPr>
            <a:endParaRPr sz="1200">
              <a:latin typeface="Montserrat Medium" panose="00000600000000000000" pitchFamily="2" charset="0"/>
              <a:ea typeface="Montserrat"/>
              <a:cs typeface="Montserrat"/>
              <a:sym typeface="Montserrat"/>
            </a:endParaRPr>
          </a:p>
        </p:txBody>
      </p:sp>
      <p:pic>
        <p:nvPicPr>
          <p:cNvPr id="5" name="Picture 4">
            <a:extLst>
              <a:ext uri="{FF2B5EF4-FFF2-40B4-BE49-F238E27FC236}">
                <a16:creationId xmlns:a16="http://schemas.microsoft.com/office/drawing/2014/main" id="{01CB385D-650B-4D07-69BB-C40334894484}"/>
              </a:ext>
            </a:extLst>
          </p:cNvPr>
          <p:cNvPicPr>
            <a:picLocks noChangeAspect="1"/>
          </p:cNvPicPr>
          <p:nvPr/>
        </p:nvPicPr>
        <p:blipFill>
          <a:blip r:embed="rId4"/>
          <a:stretch>
            <a:fillRect/>
          </a:stretch>
        </p:blipFill>
        <p:spPr>
          <a:xfrm>
            <a:off x="36848" y="875951"/>
            <a:ext cx="4125672" cy="1512941"/>
          </a:xfrm>
          <a:prstGeom prst="rect">
            <a:avLst/>
          </a:prstGeom>
        </p:spPr>
      </p:pic>
      <p:sp>
        <p:nvSpPr>
          <p:cNvPr id="9" name="Google Shape;333;p21">
            <a:extLst>
              <a:ext uri="{FF2B5EF4-FFF2-40B4-BE49-F238E27FC236}">
                <a16:creationId xmlns:a16="http://schemas.microsoft.com/office/drawing/2014/main" id="{729E0E70-4402-971D-1014-6314055B660C}"/>
              </a:ext>
            </a:extLst>
          </p:cNvPr>
          <p:cNvSpPr txBox="1"/>
          <p:nvPr/>
        </p:nvSpPr>
        <p:spPr>
          <a:xfrm>
            <a:off x="166032" y="805030"/>
            <a:ext cx="3887500" cy="3861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200">
                <a:solidFill>
                  <a:schemeClr val="dk1"/>
                </a:solidFill>
                <a:latin typeface="Montserrat Medium" panose="00000600000000000000" pitchFamily="2" charset="0"/>
                <a:ea typeface="Montserrat SemiBold"/>
                <a:cs typeface="Montserrat SemiBold"/>
                <a:sym typeface="Montserrat SemiBold"/>
              </a:rPr>
              <a:t>a. </a:t>
            </a:r>
            <a:r>
              <a:rPr lang="en-US" sz="1200" b="1">
                <a:solidFill>
                  <a:schemeClr val="dk1"/>
                </a:solidFill>
                <a:latin typeface="Montserrat Medium" panose="00000600000000000000" pitchFamily="2" charset="0"/>
                <a:ea typeface="Montserrat SemiBold"/>
                <a:cs typeface="Montserrat SemiBold"/>
                <a:sym typeface="Montserrat SemiBold"/>
              </a:rPr>
              <a:t>Presentation:</a:t>
            </a:r>
            <a:r>
              <a:rPr lang="en-US" sz="1200">
                <a:solidFill>
                  <a:schemeClr val="dk1"/>
                </a:solidFill>
                <a:latin typeface="Montserrat Medium" panose="00000600000000000000" pitchFamily="2" charset="0"/>
                <a:ea typeface="Montserrat SemiBold"/>
                <a:cs typeface="Montserrat SemiBold"/>
                <a:sym typeface="Montserrat SemiBold"/>
              </a:rPr>
              <a:t> HTML + Jinja2 templates</a:t>
            </a:r>
          </a:p>
          <a:p>
            <a:pPr marL="0" lvl="0" indent="0" rtl="0">
              <a:spcBef>
                <a:spcPts val="0"/>
              </a:spcBef>
              <a:spcAft>
                <a:spcPts val="0"/>
              </a:spcAft>
              <a:buNone/>
            </a:pPr>
            <a:endParaRPr sz="1200">
              <a:latin typeface="Montserrat Medium" panose="00000600000000000000" pitchFamily="2" charset="0"/>
              <a:ea typeface="Montserrat"/>
              <a:cs typeface="Montserrat"/>
              <a:sym typeface="Montserrat"/>
            </a:endParaRPr>
          </a:p>
        </p:txBody>
      </p:sp>
      <p:sp>
        <p:nvSpPr>
          <p:cNvPr id="11" name="Google Shape;333;p21">
            <a:extLst>
              <a:ext uri="{FF2B5EF4-FFF2-40B4-BE49-F238E27FC236}">
                <a16:creationId xmlns:a16="http://schemas.microsoft.com/office/drawing/2014/main" id="{34B1E187-9F5B-B216-DE66-4762AA2900CD}"/>
              </a:ext>
            </a:extLst>
          </p:cNvPr>
          <p:cNvSpPr txBox="1"/>
          <p:nvPr/>
        </p:nvSpPr>
        <p:spPr>
          <a:xfrm>
            <a:off x="166032" y="2398242"/>
            <a:ext cx="4214154" cy="3861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200">
                <a:solidFill>
                  <a:schemeClr val="dk1"/>
                </a:solidFill>
                <a:latin typeface="Montserrat Medium" panose="00000600000000000000" pitchFamily="2" charset="0"/>
                <a:ea typeface="Montserrat SemiBold"/>
                <a:cs typeface="Montserrat SemiBold"/>
                <a:sym typeface="Montserrat SemiBold"/>
              </a:rPr>
              <a:t>b. </a:t>
            </a:r>
            <a:r>
              <a:rPr lang="en-US" sz="1200" b="1">
                <a:solidFill>
                  <a:schemeClr val="dk1"/>
                </a:solidFill>
                <a:latin typeface="Montserrat Medium" panose="00000600000000000000" pitchFamily="2" charset="0"/>
                <a:ea typeface="Montserrat SemiBold"/>
                <a:cs typeface="Montserrat SemiBold"/>
                <a:sym typeface="Montserrat SemiBold"/>
              </a:rPr>
              <a:t>Application Logic: </a:t>
            </a:r>
            <a:r>
              <a:rPr lang="en-US" sz="1200">
                <a:solidFill>
                  <a:schemeClr val="dk1"/>
                </a:solidFill>
                <a:latin typeface="Montserrat Medium" panose="00000600000000000000" pitchFamily="2" charset="0"/>
                <a:ea typeface="Montserrat SemiBold"/>
                <a:cs typeface="Montserrat SemiBold"/>
                <a:sym typeface="Montserrat SemiBold"/>
              </a:rPr>
              <a:t>Flask, organized via Blueprints</a:t>
            </a:r>
          </a:p>
          <a:p>
            <a:pPr marL="0" lvl="0" indent="0" rtl="0">
              <a:spcBef>
                <a:spcPts val="0"/>
              </a:spcBef>
              <a:spcAft>
                <a:spcPts val="0"/>
              </a:spcAft>
              <a:buNone/>
            </a:pPr>
            <a:endParaRPr sz="1200">
              <a:latin typeface="Montserrat Medium" panose="00000600000000000000" pitchFamily="2" charset="0"/>
              <a:ea typeface="Montserrat"/>
              <a:cs typeface="Montserrat"/>
              <a:sym typeface="Montserrat"/>
            </a:endParaRPr>
          </a:p>
        </p:txBody>
      </p:sp>
      <p:pic>
        <p:nvPicPr>
          <p:cNvPr id="13" name="Picture 12">
            <a:extLst>
              <a:ext uri="{FF2B5EF4-FFF2-40B4-BE49-F238E27FC236}">
                <a16:creationId xmlns:a16="http://schemas.microsoft.com/office/drawing/2014/main" id="{9BD82DCF-D2B8-BA5B-97CD-CC288685A01B}"/>
              </a:ext>
            </a:extLst>
          </p:cNvPr>
          <p:cNvPicPr>
            <a:picLocks noChangeAspect="1"/>
          </p:cNvPicPr>
          <p:nvPr/>
        </p:nvPicPr>
        <p:blipFill>
          <a:blip r:embed="rId5"/>
          <a:stretch>
            <a:fillRect/>
          </a:stretch>
        </p:blipFill>
        <p:spPr>
          <a:xfrm>
            <a:off x="-255935" y="2519199"/>
            <a:ext cx="5058087" cy="2682427"/>
          </a:xfrm>
          <a:prstGeom prst="rect">
            <a:avLst/>
          </a:prstGeom>
        </p:spPr>
      </p:pic>
      <p:sp>
        <p:nvSpPr>
          <p:cNvPr id="15" name="Google Shape;333;p21">
            <a:extLst>
              <a:ext uri="{FF2B5EF4-FFF2-40B4-BE49-F238E27FC236}">
                <a16:creationId xmlns:a16="http://schemas.microsoft.com/office/drawing/2014/main" id="{8CB92C1F-EAAC-AB79-D08F-4447C11003DE}"/>
              </a:ext>
            </a:extLst>
          </p:cNvPr>
          <p:cNvSpPr txBox="1"/>
          <p:nvPr/>
        </p:nvSpPr>
        <p:spPr>
          <a:xfrm>
            <a:off x="4762907" y="857581"/>
            <a:ext cx="4488474" cy="3861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200">
                <a:solidFill>
                  <a:schemeClr val="dk1"/>
                </a:solidFill>
                <a:latin typeface="Montserrat Medium" panose="00000600000000000000" pitchFamily="2" charset="0"/>
                <a:ea typeface="Montserrat SemiBold"/>
                <a:cs typeface="Montserrat SemiBold"/>
                <a:sym typeface="Montserrat SemiBold"/>
              </a:rPr>
              <a:t>c. </a:t>
            </a:r>
            <a:r>
              <a:rPr lang="en-US" sz="1200" b="1">
                <a:solidFill>
                  <a:schemeClr val="dk1"/>
                </a:solidFill>
                <a:latin typeface="Montserrat Medium" panose="00000600000000000000" pitchFamily="2" charset="0"/>
                <a:ea typeface="Montserrat SemiBold"/>
                <a:cs typeface="Montserrat SemiBold"/>
                <a:sym typeface="Montserrat SemiBold"/>
              </a:rPr>
              <a:t>Data:</a:t>
            </a:r>
            <a:r>
              <a:rPr lang="en-US" sz="1200">
                <a:solidFill>
                  <a:schemeClr val="dk1"/>
                </a:solidFill>
                <a:latin typeface="Montserrat Medium" panose="00000600000000000000" pitchFamily="2" charset="0"/>
                <a:ea typeface="Montserrat SemiBold"/>
                <a:cs typeface="Montserrat SemiBold"/>
                <a:sym typeface="Montserrat SemiBold"/>
              </a:rPr>
              <a:t> SQLite, accessed through </a:t>
            </a:r>
            <a:r>
              <a:rPr lang="en-US" sz="1200" err="1">
                <a:solidFill>
                  <a:schemeClr val="dk1"/>
                </a:solidFill>
                <a:latin typeface="Montserrat Medium" panose="00000600000000000000" pitchFamily="2" charset="0"/>
                <a:ea typeface="Montserrat SemiBold"/>
                <a:cs typeface="Montserrat SemiBold"/>
                <a:sym typeface="Montserrat SemiBold"/>
              </a:rPr>
              <a:t>SQLAlchemy</a:t>
            </a:r>
            <a:r>
              <a:rPr lang="en-US" sz="1200">
                <a:solidFill>
                  <a:schemeClr val="dk1"/>
                </a:solidFill>
                <a:latin typeface="Montserrat Medium" panose="00000600000000000000" pitchFamily="2" charset="0"/>
                <a:ea typeface="Montserrat SemiBold"/>
                <a:cs typeface="Montserrat SemiBold"/>
                <a:sym typeface="Montserrat SemiBold"/>
              </a:rPr>
              <a:t> ORM</a:t>
            </a:r>
          </a:p>
          <a:p>
            <a:pPr marL="0" lvl="0" indent="0" rtl="0">
              <a:spcBef>
                <a:spcPts val="0"/>
              </a:spcBef>
              <a:spcAft>
                <a:spcPts val="0"/>
              </a:spcAft>
              <a:buNone/>
            </a:pPr>
            <a:endParaRPr sz="1200">
              <a:latin typeface="Montserrat Medium" panose="00000600000000000000" pitchFamily="2" charset="0"/>
              <a:ea typeface="Montserrat"/>
              <a:cs typeface="Montserrat"/>
              <a:sym typeface="Montserrat"/>
            </a:endParaRPr>
          </a:p>
        </p:txBody>
      </p:sp>
      <p:pic>
        <p:nvPicPr>
          <p:cNvPr id="3" name="Picture 2">
            <a:extLst>
              <a:ext uri="{FF2B5EF4-FFF2-40B4-BE49-F238E27FC236}">
                <a16:creationId xmlns:a16="http://schemas.microsoft.com/office/drawing/2014/main" id="{67D5FA78-9C40-F816-8AAB-9709B683BDB0}"/>
              </a:ext>
            </a:extLst>
          </p:cNvPr>
          <p:cNvPicPr>
            <a:picLocks noChangeAspect="1"/>
          </p:cNvPicPr>
          <p:nvPr/>
        </p:nvPicPr>
        <p:blipFill>
          <a:blip r:embed="rId6"/>
          <a:stretch>
            <a:fillRect/>
          </a:stretch>
        </p:blipFill>
        <p:spPr>
          <a:xfrm>
            <a:off x="3723211" y="834258"/>
            <a:ext cx="6571749" cy="4447191"/>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73C9474F-70EE-7278-A96B-ED05D0F1B000}"/>
            </a:ext>
          </a:extLst>
        </p:cNvPr>
        <p:cNvGrpSpPr/>
        <p:nvPr/>
      </p:nvGrpSpPr>
      <p:grpSpPr>
        <a:xfrm>
          <a:off x="0" y="0"/>
          <a:ext cx="0" cy="0"/>
          <a:chOff x="0" y="0"/>
          <a:chExt cx="0" cy="0"/>
        </a:xfrm>
      </p:grpSpPr>
      <p:sp>
        <p:nvSpPr>
          <p:cNvPr id="173" name="Google Shape;173;p17">
            <a:extLst>
              <a:ext uri="{FF2B5EF4-FFF2-40B4-BE49-F238E27FC236}">
                <a16:creationId xmlns:a16="http://schemas.microsoft.com/office/drawing/2014/main" id="{38AA0574-64BD-273B-ECF2-531BEA4BDAA4}"/>
              </a:ext>
            </a:extLst>
          </p:cNvPr>
          <p:cNvSpPr txBox="1">
            <a:spLocks noGrp="1"/>
          </p:cNvSpPr>
          <p:nvPr>
            <p:ph type="title"/>
          </p:nvPr>
        </p:nvSpPr>
        <p:spPr>
          <a:xfrm>
            <a:off x="1212580" y="667960"/>
            <a:ext cx="37318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2. Core Flow: Registration</a:t>
            </a:r>
            <a:endParaRPr sz="1800"/>
          </a:p>
        </p:txBody>
      </p:sp>
      <p:sp>
        <p:nvSpPr>
          <p:cNvPr id="181" name="Google Shape;181;p17">
            <a:extLst>
              <a:ext uri="{FF2B5EF4-FFF2-40B4-BE49-F238E27FC236}">
                <a16:creationId xmlns:a16="http://schemas.microsoft.com/office/drawing/2014/main" id="{2289B49F-EC43-E063-0AB5-DC87237CE3E0}"/>
              </a:ext>
            </a:extLst>
          </p:cNvPr>
          <p:cNvSpPr txBox="1"/>
          <p:nvPr/>
        </p:nvSpPr>
        <p:spPr>
          <a:xfrm>
            <a:off x="1175480" y="1128740"/>
            <a:ext cx="3731800" cy="3001300"/>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User submits username, password, and email</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Server creates a pending (unverified) user record</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Verification email sent with a time-limited link (60 min expiry)</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User clicks the link → account marked verified</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Login is blocked until verification is complete</a:t>
            </a:r>
          </a:p>
          <a:p>
            <a:pPr marL="182880" lvl="0" indent="-167640" algn="l" rtl="0">
              <a:spcBef>
                <a:spcPts val="0"/>
              </a:spcBef>
              <a:spcAft>
                <a:spcPts val="0"/>
              </a:spcAft>
              <a:buClr>
                <a:schemeClr val="dk1"/>
              </a:buClr>
              <a:buSzPts val="1200"/>
              <a:buFont typeface="Montserrat Medium"/>
              <a:buChar char="●"/>
            </a:pPr>
            <a:endParaRPr lang="en-US">
              <a:solidFill>
                <a:schemeClr val="dk1"/>
              </a:solidFill>
              <a:latin typeface="Montserrat Medium"/>
              <a:ea typeface="Montserrat Medium"/>
              <a:cs typeface="Montserrat Medium"/>
              <a:sym typeface="Montserrat Medium"/>
            </a:endParaRPr>
          </a:p>
        </p:txBody>
      </p:sp>
      <p:pic>
        <p:nvPicPr>
          <p:cNvPr id="3" name="Picture 2">
            <a:extLst>
              <a:ext uri="{FF2B5EF4-FFF2-40B4-BE49-F238E27FC236}">
                <a16:creationId xmlns:a16="http://schemas.microsoft.com/office/drawing/2014/main" id="{DA407C26-13E3-4A9E-3F73-882C2CC37419}"/>
              </a:ext>
            </a:extLst>
          </p:cNvPr>
          <p:cNvPicPr>
            <a:picLocks noChangeAspect="1"/>
          </p:cNvPicPr>
          <p:nvPr/>
        </p:nvPicPr>
        <p:blipFill>
          <a:blip r:embed="rId4"/>
          <a:stretch>
            <a:fillRect/>
          </a:stretch>
        </p:blipFill>
        <p:spPr>
          <a:xfrm>
            <a:off x="2900680" y="102442"/>
            <a:ext cx="7059430" cy="4938615"/>
          </a:xfrm>
          <a:prstGeom prst="rect">
            <a:avLst/>
          </a:prstGeom>
        </p:spPr>
      </p:pic>
    </p:spTree>
    <p:extLst>
      <p:ext uri="{BB962C8B-B14F-4D97-AF65-F5344CB8AC3E}">
        <p14:creationId xmlns:p14="http://schemas.microsoft.com/office/powerpoint/2010/main" val="419916699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14583D9A-E742-3C18-0C3C-75FE69AD49F2}"/>
            </a:ext>
          </a:extLst>
        </p:cNvPr>
        <p:cNvGrpSpPr/>
        <p:nvPr/>
      </p:nvGrpSpPr>
      <p:grpSpPr>
        <a:xfrm>
          <a:off x="0" y="0"/>
          <a:ext cx="0" cy="0"/>
          <a:chOff x="0" y="0"/>
          <a:chExt cx="0" cy="0"/>
        </a:xfrm>
      </p:grpSpPr>
      <p:sp>
        <p:nvSpPr>
          <p:cNvPr id="173" name="Google Shape;173;p17">
            <a:extLst>
              <a:ext uri="{FF2B5EF4-FFF2-40B4-BE49-F238E27FC236}">
                <a16:creationId xmlns:a16="http://schemas.microsoft.com/office/drawing/2014/main" id="{7881F107-F3F1-AA9B-DA0F-A712AA251C59}"/>
              </a:ext>
            </a:extLst>
          </p:cNvPr>
          <p:cNvSpPr txBox="1">
            <a:spLocks noGrp="1"/>
          </p:cNvSpPr>
          <p:nvPr>
            <p:ph type="title"/>
          </p:nvPr>
        </p:nvSpPr>
        <p:spPr>
          <a:xfrm>
            <a:off x="1212580" y="373320"/>
            <a:ext cx="37318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2. Core Flow: Login &amp; Logout</a:t>
            </a:r>
            <a:endParaRPr sz="1800"/>
          </a:p>
        </p:txBody>
      </p:sp>
      <p:sp>
        <p:nvSpPr>
          <p:cNvPr id="181" name="Google Shape;181;p17">
            <a:extLst>
              <a:ext uri="{FF2B5EF4-FFF2-40B4-BE49-F238E27FC236}">
                <a16:creationId xmlns:a16="http://schemas.microsoft.com/office/drawing/2014/main" id="{95C99C30-DF56-8476-C4CE-55170A41F696}"/>
              </a:ext>
            </a:extLst>
          </p:cNvPr>
          <p:cNvSpPr txBox="1"/>
          <p:nvPr/>
        </p:nvSpPr>
        <p:spPr>
          <a:xfrm>
            <a:off x="1175480" y="834100"/>
            <a:ext cx="3731800" cy="3814100"/>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User submits username and password</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Server validates credentials, generates a one-time PIN</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PIN sent to the user's registered email</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User enters the PIN to complete login</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Session created via Flask-Login (</a:t>
            </a:r>
            <a:r>
              <a:rPr lang="en-US" err="1">
                <a:solidFill>
                  <a:schemeClr val="accent2">
                    <a:lumMod val="75000"/>
                  </a:schemeClr>
                </a:solidFill>
                <a:latin typeface="Montserrat Medium"/>
                <a:ea typeface="Montserrat Medium"/>
                <a:cs typeface="Montserrat Medium"/>
                <a:sym typeface="Montserrat Medium"/>
              </a:rPr>
              <a:t>login_user</a:t>
            </a:r>
            <a:r>
              <a:rPr lang="en-US">
                <a:solidFill>
                  <a:schemeClr val="accent2">
                    <a:lumMod val="75000"/>
                  </a:schemeClr>
                </a:solidFill>
                <a:latin typeface="Montserrat Medium"/>
                <a:ea typeface="Montserrat Medium"/>
                <a:cs typeface="Montserrat Medium"/>
                <a:sym typeface="Montserrat Medium"/>
              </a:rPr>
              <a:t>()</a:t>
            </a:r>
            <a:r>
              <a:rPr lang="en-US">
                <a:solidFill>
                  <a:schemeClr val="dk1"/>
                </a:solidFill>
                <a:latin typeface="Montserrat Medium"/>
                <a:ea typeface="Montserrat Medium"/>
                <a:cs typeface="Montserrat Medium"/>
                <a:sym typeface="Montserrat Medium"/>
              </a:rPr>
              <a:t>)</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Logout: </a:t>
            </a:r>
            <a:r>
              <a:rPr lang="en-US">
                <a:solidFill>
                  <a:schemeClr val="accent2">
                    <a:lumMod val="75000"/>
                  </a:schemeClr>
                </a:solidFill>
                <a:latin typeface="Montserrat Medium"/>
                <a:ea typeface="Montserrat Medium"/>
                <a:cs typeface="Montserrat Medium"/>
                <a:sym typeface="Montserrat Medium"/>
              </a:rPr>
              <a:t>/logout </a:t>
            </a:r>
            <a:r>
              <a:rPr lang="en-US">
                <a:solidFill>
                  <a:schemeClr val="dk1"/>
                </a:solidFill>
                <a:latin typeface="Montserrat Medium"/>
                <a:ea typeface="Montserrat Medium"/>
                <a:cs typeface="Montserrat Medium"/>
                <a:sym typeface="Montserrat Medium"/>
              </a:rPr>
              <a:t>route calls </a:t>
            </a:r>
            <a:r>
              <a:rPr lang="en-US" err="1">
                <a:solidFill>
                  <a:schemeClr val="accent2">
                    <a:lumMod val="75000"/>
                  </a:schemeClr>
                </a:solidFill>
                <a:latin typeface="Montserrat Medium"/>
                <a:ea typeface="Montserrat Medium"/>
                <a:cs typeface="Montserrat Medium"/>
                <a:sym typeface="Montserrat Medium"/>
              </a:rPr>
              <a:t>logout_user</a:t>
            </a:r>
            <a:r>
              <a:rPr lang="en-US">
                <a:solidFill>
                  <a:schemeClr val="accent2">
                    <a:lumMod val="75000"/>
                  </a:schemeClr>
                </a:solidFill>
                <a:latin typeface="Montserrat Medium"/>
                <a:ea typeface="Montserrat Medium"/>
                <a:cs typeface="Montserrat Medium"/>
                <a:sym typeface="Montserrat Medium"/>
              </a:rPr>
              <a:t>()</a:t>
            </a:r>
            <a:r>
              <a:rPr lang="en-US">
                <a:solidFill>
                  <a:schemeClr val="dk1"/>
                </a:solidFill>
                <a:latin typeface="Montserrat Medium"/>
                <a:ea typeface="Montserrat Medium"/>
                <a:cs typeface="Montserrat Medium"/>
                <a:sym typeface="Montserrat Medium"/>
              </a:rPr>
              <a:t>, session invalidated</a:t>
            </a:r>
          </a:p>
          <a:p>
            <a:pPr marL="182880" lvl="0" indent="-167640" algn="l" rtl="0">
              <a:spcBef>
                <a:spcPts val="0"/>
              </a:spcBef>
              <a:spcAft>
                <a:spcPts val="0"/>
              </a:spcAft>
              <a:buClr>
                <a:schemeClr val="dk1"/>
              </a:buClr>
              <a:buSzPts val="1200"/>
              <a:buFont typeface="Montserrat Medium"/>
              <a:buChar char="●"/>
            </a:pPr>
            <a:endParaRPr lang="en-US">
              <a:solidFill>
                <a:schemeClr val="dk1"/>
              </a:solidFill>
              <a:latin typeface="Montserrat Medium"/>
              <a:ea typeface="Montserrat Medium"/>
              <a:cs typeface="Montserrat Medium"/>
              <a:sym typeface="Montserrat Medium"/>
            </a:endParaRPr>
          </a:p>
        </p:txBody>
      </p:sp>
      <p:pic>
        <p:nvPicPr>
          <p:cNvPr id="4" name="Picture 3">
            <a:extLst>
              <a:ext uri="{FF2B5EF4-FFF2-40B4-BE49-F238E27FC236}">
                <a16:creationId xmlns:a16="http://schemas.microsoft.com/office/drawing/2014/main" id="{56ECE6A8-3EA4-2907-4B83-033C5EB15AD3}"/>
              </a:ext>
            </a:extLst>
          </p:cNvPr>
          <p:cNvPicPr>
            <a:picLocks noChangeAspect="1"/>
          </p:cNvPicPr>
          <p:nvPr/>
        </p:nvPicPr>
        <p:blipFill>
          <a:blip r:embed="rId4"/>
          <a:stretch>
            <a:fillRect/>
          </a:stretch>
        </p:blipFill>
        <p:spPr>
          <a:xfrm>
            <a:off x="3344262" y="0"/>
            <a:ext cx="5920035" cy="5143500"/>
          </a:xfrm>
          <a:prstGeom prst="rect">
            <a:avLst/>
          </a:prstGeom>
        </p:spPr>
      </p:pic>
    </p:spTree>
    <p:extLst>
      <p:ext uri="{BB962C8B-B14F-4D97-AF65-F5344CB8AC3E}">
        <p14:creationId xmlns:p14="http://schemas.microsoft.com/office/powerpoint/2010/main" val="1900390926"/>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320D1242-FCFA-BCE4-9EFF-7ED8F7414EA6}"/>
            </a:ext>
          </a:extLst>
        </p:cNvPr>
        <p:cNvGrpSpPr/>
        <p:nvPr/>
      </p:nvGrpSpPr>
      <p:grpSpPr>
        <a:xfrm>
          <a:off x="0" y="0"/>
          <a:ext cx="0" cy="0"/>
          <a:chOff x="0" y="0"/>
          <a:chExt cx="0" cy="0"/>
        </a:xfrm>
      </p:grpSpPr>
      <p:sp>
        <p:nvSpPr>
          <p:cNvPr id="167" name="Google Shape;167;p17">
            <a:extLst>
              <a:ext uri="{FF2B5EF4-FFF2-40B4-BE49-F238E27FC236}">
                <a16:creationId xmlns:a16="http://schemas.microsoft.com/office/drawing/2014/main" id="{024268C4-DCBB-AA6E-8643-A52CEF6A2AF8}"/>
              </a:ext>
            </a:extLst>
          </p:cNvPr>
          <p:cNvSpPr/>
          <p:nvPr/>
        </p:nvSpPr>
        <p:spPr>
          <a:xfrm>
            <a:off x="1417854" y="1157484"/>
            <a:ext cx="2906176" cy="287236"/>
          </a:xfrm>
          <a:prstGeom prst="roundRect">
            <a:avLst>
              <a:gd name="adj" fmla="val 12505"/>
            </a:avLst>
          </a:prstGeom>
          <a:solidFill>
            <a:srgbClr val="A20000"/>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600">
                <a:solidFill>
                  <a:schemeClr val="lt1"/>
                </a:solidFill>
                <a:latin typeface="Montserrat SemiBold"/>
                <a:ea typeface="Montserrat SemiBold"/>
                <a:cs typeface="Montserrat SemiBold"/>
                <a:sym typeface="Montserrat SemiBold"/>
              </a:rPr>
              <a:t>Cross-Site Scripting (XSS)</a:t>
            </a:r>
            <a:endParaRPr sz="1600">
              <a:solidFill>
                <a:schemeClr val="lt1"/>
              </a:solidFill>
              <a:latin typeface="Montserrat SemiBold"/>
              <a:ea typeface="Montserrat SemiBold"/>
              <a:cs typeface="Montserrat SemiBold"/>
              <a:sym typeface="Montserrat SemiBold"/>
            </a:endParaRPr>
          </a:p>
        </p:txBody>
      </p:sp>
      <p:sp>
        <p:nvSpPr>
          <p:cNvPr id="168" name="Google Shape;168;p17">
            <a:extLst>
              <a:ext uri="{FF2B5EF4-FFF2-40B4-BE49-F238E27FC236}">
                <a16:creationId xmlns:a16="http://schemas.microsoft.com/office/drawing/2014/main" id="{B44C6EF7-FFD6-FAA2-396A-FF08875A390A}"/>
              </a:ext>
            </a:extLst>
          </p:cNvPr>
          <p:cNvSpPr/>
          <p:nvPr/>
        </p:nvSpPr>
        <p:spPr>
          <a:xfrm>
            <a:off x="1364654" y="2695170"/>
            <a:ext cx="3911066" cy="255106"/>
          </a:xfrm>
          <a:prstGeom prst="roundRect">
            <a:avLst>
              <a:gd name="adj" fmla="val 12505"/>
            </a:avLst>
          </a:prstGeom>
          <a:solidFill>
            <a:srgbClr val="004E9A"/>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600">
                <a:solidFill>
                  <a:schemeClr val="lt1"/>
                </a:solidFill>
                <a:latin typeface="Montserrat SemiBold"/>
                <a:ea typeface="Montserrat SemiBold"/>
                <a:cs typeface="Montserrat SemiBold"/>
                <a:sym typeface="Montserrat SemiBold"/>
              </a:rPr>
              <a:t>Cross-Site Request Forgery (CSRF)</a:t>
            </a:r>
            <a:endParaRPr sz="1600">
              <a:solidFill>
                <a:schemeClr val="lt1"/>
              </a:solidFill>
              <a:latin typeface="Montserrat SemiBold"/>
              <a:ea typeface="Montserrat SemiBold"/>
              <a:cs typeface="Montserrat SemiBold"/>
              <a:sym typeface="Montserrat SemiBold"/>
            </a:endParaRPr>
          </a:p>
        </p:txBody>
      </p:sp>
      <p:sp>
        <p:nvSpPr>
          <p:cNvPr id="177" name="Google Shape;177;p17">
            <a:extLst>
              <a:ext uri="{FF2B5EF4-FFF2-40B4-BE49-F238E27FC236}">
                <a16:creationId xmlns:a16="http://schemas.microsoft.com/office/drawing/2014/main" id="{DC20F023-89C9-8986-ADB7-4953F56D5BA6}"/>
              </a:ext>
            </a:extLst>
          </p:cNvPr>
          <p:cNvSpPr txBox="1"/>
          <p:nvPr/>
        </p:nvSpPr>
        <p:spPr>
          <a:xfrm>
            <a:off x="1140606" y="2950276"/>
            <a:ext cx="7236894" cy="1388043"/>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Definition: forged request exploiting a logged-in user's active session cookie</a:t>
            </a: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Solution: </a:t>
            </a:r>
            <a:r>
              <a:rPr lang="en-US" err="1">
                <a:solidFill>
                  <a:srgbClr val="C00000"/>
                </a:solidFill>
                <a:latin typeface="Montserrat Medium"/>
                <a:ea typeface="Montserrat Medium"/>
                <a:cs typeface="Montserrat Medium"/>
                <a:sym typeface="Montserrat Medium"/>
              </a:rPr>
              <a:t>LoginForm</a:t>
            </a:r>
            <a:r>
              <a:rPr lang="en-US">
                <a:solidFill>
                  <a:srgbClr val="C00000"/>
                </a:solidFill>
                <a:latin typeface="Montserrat Medium"/>
                <a:ea typeface="Montserrat Medium"/>
                <a:cs typeface="Montserrat Medium"/>
                <a:sym typeface="Montserrat Medium"/>
              </a:rPr>
              <a:t> / </a:t>
            </a:r>
            <a:r>
              <a:rPr lang="en-US" err="1">
                <a:solidFill>
                  <a:srgbClr val="C00000"/>
                </a:solidFill>
                <a:latin typeface="Montserrat Medium"/>
                <a:ea typeface="Montserrat Medium"/>
                <a:cs typeface="Montserrat Medium"/>
                <a:sym typeface="Montserrat Medium"/>
              </a:rPr>
              <a:t>RegistrationForm</a:t>
            </a:r>
            <a:r>
              <a:rPr lang="en-US">
                <a:solidFill>
                  <a:srgbClr val="C00000"/>
                </a:solidFill>
                <a:latin typeface="Montserrat Medium"/>
                <a:ea typeface="Montserrat Medium"/>
                <a:cs typeface="Montserrat Medium"/>
                <a:sym typeface="Montserrat Medium"/>
              </a:rPr>
              <a:t> </a:t>
            </a:r>
            <a:r>
              <a:rPr lang="en-US">
                <a:solidFill>
                  <a:schemeClr val="dk1"/>
                </a:solidFill>
                <a:latin typeface="Montserrat Medium"/>
                <a:ea typeface="Montserrat Medium"/>
                <a:cs typeface="Montserrat Medium"/>
                <a:sym typeface="Montserrat Medium"/>
              </a:rPr>
              <a:t>inherit from </a:t>
            </a:r>
            <a:r>
              <a:rPr lang="en-US" err="1">
                <a:solidFill>
                  <a:srgbClr val="C00000"/>
                </a:solidFill>
                <a:latin typeface="Montserrat Medium"/>
                <a:ea typeface="Montserrat Medium"/>
                <a:cs typeface="Montserrat Medium"/>
                <a:sym typeface="Montserrat Medium"/>
              </a:rPr>
              <a:t>FlaskForm</a:t>
            </a:r>
            <a:endParaRPr lang="en-US">
              <a:solidFill>
                <a:srgbClr val="C00000"/>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rgbClr val="C00000"/>
                </a:solidFill>
                <a:latin typeface="Montserrat Medium"/>
                <a:ea typeface="Montserrat Medium"/>
                <a:cs typeface="Montserrat Medium"/>
                <a:sym typeface="Montserrat Medium"/>
              </a:rPr>
              <a:t>{{ </a:t>
            </a:r>
            <a:r>
              <a:rPr lang="en-US" err="1">
                <a:solidFill>
                  <a:srgbClr val="C00000"/>
                </a:solidFill>
                <a:latin typeface="Montserrat Medium"/>
                <a:ea typeface="Montserrat Medium"/>
                <a:cs typeface="Montserrat Medium"/>
                <a:sym typeface="Montserrat Medium"/>
              </a:rPr>
              <a:t>form.hidden_tag</a:t>
            </a:r>
            <a:r>
              <a:rPr lang="en-US">
                <a:solidFill>
                  <a:srgbClr val="C00000"/>
                </a:solidFill>
                <a:latin typeface="Montserrat Medium"/>
                <a:ea typeface="Montserrat Medium"/>
                <a:cs typeface="Montserrat Medium"/>
                <a:sym typeface="Montserrat Medium"/>
              </a:rPr>
              <a:t>() }} </a:t>
            </a:r>
            <a:r>
              <a:rPr lang="en-US">
                <a:solidFill>
                  <a:schemeClr val="dk1"/>
                </a:solidFill>
                <a:latin typeface="Montserrat Medium"/>
                <a:ea typeface="Montserrat Medium"/>
                <a:cs typeface="Montserrat Medium"/>
                <a:sym typeface="Montserrat Medium"/>
              </a:rPr>
              <a:t>embeds a CSRF token in every form</a:t>
            </a:r>
          </a:p>
          <a:p>
            <a:pPr marL="182880" lvl="0" indent="-167640" algn="l" rtl="0">
              <a:spcBef>
                <a:spcPts val="0"/>
              </a:spcBef>
              <a:spcAft>
                <a:spcPts val="0"/>
              </a:spcAft>
              <a:buClr>
                <a:schemeClr val="dk1"/>
              </a:buClr>
              <a:buSzPts val="1200"/>
              <a:buFont typeface="Montserrat Medium"/>
              <a:buChar char="●"/>
            </a:pPr>
            <a:r>
              <a:rPr lang="en-US" err="1">
                <a:solidFill>
                  <a:srgbClr val="C00000"/>
                </a:solidFill>
                <a:latin typeface="Montserrat Medium"/>
                <a:ea typeface="Montserrat Medium"/>
                <a:cs typeface="Montserrat Medium"/>
                <a:sym typeface="Montserrat Medium"/>
              </a:rPr>
              <a:t>form.validate_on_submit</a:t>
            </a:r>
            <a:r>
              <a:rPr lang="en-US">
                <a:solidFill>
                  <a:srgbClr val="C00000"/>
                </a:solidFill>
                <a:latin typeface="Montserrat Medium"/>
                <a:ea typeface="Montserrat Medium"/>
                <a:cs typeface="Montserrat Medium"/>
                <a:sym typeface="Montserrat Medium"/>
              </a:rPr>
              <a:t>() </a:t>
            </a:r>
            <a:r>
              <a:rPr lang="en-US">
                <a:solidFill>
                  <a:schemeClr val="dk1"/>
                </a:solidFill>
                <a:latin typeface="Montserrat Medium"/>
                <a:ea typeface="Montserrat Medium"/>
                <a:cs typeface="Montserrat Medium"/>
                <a:sym typeface="Montserrat Medium"/>
              </a:rPr>
              <a:t>checks the token before any logic runs</a:t>
            </a:r>
          </a:p>
        </p:txBody>
      </p:sp>
      <p:sp>
        <p:nvSpPr>
          <p:cNvPr id="183" name="Google Shape;183;p17">
            <a:extLst>
              <a:ext uri="{FF2B5EF4-FFF2-40B4-BE49-F238E27FC236}">
                <a16:creationId xmlns:a16="http://schemas.microsoft.com/office/drawing/2014/main" id="{044655CD-B12C-9987-CBDE-FA52DEDA035C}"/>
              </a:ext>
            </a:extLst>
          </p:cNvPr>
          <p:cNvSpPr txBox="1"/>
          <p:nvPr/>
        </p:nvSpPr>
        <p:spPr>
          <a:xfrm>
            <a:off x="1140606" y="1414984"/>
            <a:ext cx="7021968" cy="837900"/>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Definition: untrusted input executed as script in another user's browser</a:t>
            </a: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Solution: Jinja2 auto-escapes template variables by default</a:t>
            </a:r>
            <a:endParaRPr lang="en-US">
              <a:solidFill>
                <a:schemeClr val="dk1"/>
              </a:solidFill>
              <a:latin typeface="Montserrat Medium"/>
              <a:ea typeface="Montserrat Medium"/>
              <a:cs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Server-side input validation stays enabled at every entry point</a:t>
            </a:r>
            <a:endParaRPr lang="en-US">
              <a:solidFill>
                <a:schemeClr val="dk1"/>
              </a:solidFill>
              <a:latin typeface="Montserrat Medium"/>
              <a:ea typeface="Montserrat Medium"/>
              <a:cs typeface="Montserrat Medium"/>
            </a:endParaRPr>
          </a:p>
        </p:txBody>
      </p:sp>
      <p:sp>
        <p:nvSpPr>
          <p:cNvPr id="4" name="Google Shape;263;p19">
            <a:extLst>
              <a:ext uri="{FF2B5EF4-FFF2-40B4-BE49-F238E27FC236}">
                <a16:creationId xmlns:a16="http://schemas.microsoft.com/office/drawing/2014/main" id="{3C291E5F-1517-2BE5-D5F5-0A3CE619183D}"/>
              </a:ext>
            </a:extLst>
          </p:cNvPr>
          <p:cNvSpPr txBox="1">
            <a:spLocks/>
          </p:cNvSpPr>
          <p:nvPr/>
        </p:nvSpPr>
        <p:spPr>
          <a:xfrm>
            <a:off x="792840" y="480034"/>
            <a:ext cx="77175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9pPr>
          </a:lstStyle>
          <a:p>
            <a:r>
              <a:rPr lang="en-US" sz="1800"/>
              <a:t>3. Security</a:t>
            </a:r>
          </a:p>
        </p:txBody>
      </p:sp>
    </p:spTree>
    <p:extLst>
      <p:ext uri="{BB962C8B-B14F-4D97-AF65-F5344CB8AC3E}">
        <p14:creationId xmlns:p14="http://schemas.microsoft.com/office/powerpoint/2010/main" val="2245581823"/>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29035D08-E131-7854-7F58-0D53A4EABE4A}"/>
            </a:ext>
          </a:extLst>
        </p:cNvPr>
        <p:cNvGrpSpPr/>
        <p:nvPr/>
      </p:nvGrpSpPr>
      <p:grpSpPr>
        <a:xfrm>
          <a:off x="0" y="0"/>
          <a:ext cx="0" cy="0"/>
          <a:chOff x="0" y="0"/>
          <a:chExt cx="0" cy="0"/>
        </a:xfrm>
      </p:grpSpPr>
      <p:sp>
        <p:nvSpPr>
          <p:cNvPr id="167" name="Google Shape;167;p17">
            <a:extLst>
              <a:ext uri="{FF2B5EF4-FFF2-40B4-BE49-F238E27FC236}">
                <a16:creationId xmlns:a16="http://schemas.microsoft.com/office/drawing/2014/main" id="{68899525-E426-C7D4-BCF2-F65D2907AFC1}"/>
              </a:ext>
            </a:extLst>
          </p:cNvPr>
          <p:cNvSpPr/>
          <p:nvPr/>
        </p:nvSpPr>
        <p:spPr>
          <a:xfrm>
            <a:off x="1260199" y="642390"/>
            <a:ext cx="1650466" cy="287236"/>
          </a:xfrm>
          <a:prstGeom prst="roundRect">
            <a:avLst>
              <a:gd name="adj" fmla="val 12505"/>
            </a:avLst>
          </a:prstGeom>
          <a:solidFill>
            <a:srgbClr val="005E00"/>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600">
                <a:solidFill>
                  <a:schemeClr val="lt1"/>
                </a:solidFill>
                <a:latin typeface="Montserrat SemiBold"/>
                <a:ea typeface="Montserrat SemiBold"/>
                <a:cs typeface="Montserrat SemiBold"/>
                <a:sym typeface="Montserrat SemiBold"/>
              </a:rPr>
              <a:t>SQL Injection</a:t>
            </a:r>
            <a:endParaRPr sz="1600">
              <a:solidFill>
                <a:schemeClr val="lt1"/>
              </a:solidFill>
              <a:latin typeface="Montserrat SemiBold"/>
              <a:ea typeface="Montserrat SemiBold"/>
              <a:cs typeface="Montserrat SemiBold"/>
              <a:sym typeface="Montserrat SemiBold"/>
            </a:endParaRPr>
          </a:p>
        </p:txBody>
      </p:sp>
      <p:sp>
        <p:nvSpPr>
          <p:cNvPr id="168" name="Google Shape;168;p17">
            <a:extLst>
              <a:ext uri="{FF2B5EF4-FFF2-40B4-BE49-F238E27FC236}">
                <a16:creationId xmlns:a16="http://schemas.microsoft.com/office/drawing/2014/main" id="{C8E05C13-3A08-A22A-B0F9-C8E6899D8162}"/>
              </a:ext>
            </a:extLst>
          </p:cNvPr>
          <p:cNvSpPr/>
          <p:nvPr/>
        </p:nvSpPr>
        <p:spPr>
          <a:xfrm>
            <a:off x="1206999" y="2261356"/>
            <a:ext cx="2806026" cy="255106"/>
          </a:xfrm>
          <a:prstGeom prst="roundRect">
            <a:avLst>
              <a:gd name="adj" fmla="val 12505"/>
            </a:avLst>
          </a:prstGeom>
          <a:solidFill>
            <a:srgbClr val="A66500"/>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600">
                <a:solidFill>
                  <a:schemeClr val="lt1"/>
                </a:solidFill>
                <a:latin typeface="Montserrat SemiBold"/>
                <a:ea typeface="Montserrat SemiBold"/>
                <a:cs typeface="Montserrat SemiBold"/>
                <a:sym typeface="Montserrat SemiBold"/>
              </a:rPr>
              <a:t>Password &amp; PIN Hashing</a:t>
            </a:r>
            <a:endParaRPr sz="1600">
              <a:solidFill>
                <a:schemeClr val="lt1"/>
              </a:solidFill>
              <a:latin typeface="Montserrat SemiBold"/>
              <a:ea typeface="Montserrat SemiBold"/>
              <a:cs typeface="Montserrat SemiBold"/>
              <a:sym typeface="Montserrat SemiBold"/>
            </a:endParaRPr>
          </a:p>
        </p:txBody>
      </p:sp>
      <p:sp>
        <p:nvSpPr>
          <p:cNvPr id="177" name="Google Shape;177;p17">
            <a:extLst>
              <a:ext uri="{FF2B5EF4-FFF2-40B4-BE49-F238E27FC236}">
                <a16:creationId xmlns:a16="http://schemas.microsoft.com/office/drawing/2014/main" id="{E0C18EEA-E302-9D79-92E3-E95513B737F4}"/>
              </a:ext>
            </a:extLst>
          </p:cNvPr>
          <p:cNvSpPr txBox="1"/>
          <p:nvPr/>
        </p:nvSpPr>
        <p:spPr>
          <a:xfrm>
            <a:off x="982951" y="2483619"/>
            <a:ext cx="7598187" cy="973848"/>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Both password and PIN are hashed before storage using </a:t>
            </a:r>
            <a:r>
              <a:rPr lang="en-US" err="1">
                <a:solidFill>
                  <a:schemeClr val="dk1"/>
                </a:solidFill>
                <a:latin typeface="Montserrat Medium"/>
                <a:ea typeface="Montserrat Medium"/>
                <a:cs typeface="Montserrat Medium"/>
                <a:sym typeface="Montserrat Medium"/>
              </a:rPr>
              <a:t>bcrypt</a:t>
            </a: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Hashing logic centralized in </a:t>
            </a:r>
            <a:r>
              <a:rPr lang="en-US">
                <a:solidFill>
                  <a:srgbClr val="C00000"/>
                </a:solidFill>
                <a:latin typeface="Montserrat Medium"/>
                <a:ea typeface="Montserrat Medium"/>
                <a:cs typeface="Montserrat Medium"/>
                <a:sym typeface="Montserrat Medium"/>
              </a:rPr>
              <a:t>models.py</a:t>
            </a:r>
          </a:p>
          <a:p>
            <a:pPr marL="182880" indent="-167640">
              <a:buClr>
                <a:schemeClr val="dk1"/>
              </a:buClr>
              <a:buSzPts val="1200"/>
              <a:buFont typeface="Montserrat Medium"/>
              <a:buChar char="●"/>
            </a:pPr>
            <a:r>
              <a:rPr lang="en-US" err="1">
                <a:solidFill>
                  <a:srgbClr val="C00000"/>
                </a:solidFill>
                <a:latin typeface="Montserrat Medium"/>
                <a:ea typeface="Montserrat Medium"/>
              </a:rPr>
              <a:t>bcrypt</a:t>
            </a:r>
            <a:r>
              <a:rPr lang="en-US">
                <a:solidFill>
                  <a:srgbClr val="C00000"/>
                </a:solidFill>
                <a:latin typeface="Montserrat Medium"/>
                <a:ea typeface="Montserrat Medium"/>
              </a:rPr>
              <a:t> </a:t>
            </a:r>
            <a:r>
              <a:rPr lang="en-US">
                <a:solidFill>
                  <a:schemeClr val="tx1"/>
                </a:solidFill>
                <a:latin typeface="Montserrat Medium"/>
                <a:ea typeface="Montserrat Medium"/>
              </a:rPr>
              <a:t>hashes both values using the Blowfish cipher with a random salt and an adjustable cost factor, making brute-force attacks computationally expensive</a:t>
            </a:r>
            <a:endParaRPr lang="en-US">
              <a:solidFill>
                <a:schemeClr val="tx1"/>
              </a:solidFill>
              <a:latin typeface="Montserrat Medium"/>
              <a:ea typeface="Montserrat Medium"/>
              <a:cs typeface="Montserrat Medium"/>
            </a:endParaRPr>
          </a:p>
        </p:txBody>
      </p:sp>
      <p:sp>
        <p:nvSpPr>
          <p:cNvPr id="183" name="Google Shape;183;p17">
            <a:extLst>
              <a:ext uri="{FF2B5EF4-FFF2-40B4-BE49-F238E27FC236}">
                <a16:creationId xmlns:a16="http://schemas.microsoft.com/office/drawing/2014/main" id="{961EDA0A-AC51-6FEC-EA5D-1CB8AC0D1B0A}"/>
              </a:ext>
            </a:extLst>
          </p:cNvPr>
          <p:cNvSpPr txBox="1"/>
          <p:nvPr/>
        </p:nvSpPr>
        <p:spPr>
          <a:xfrm>
            <a:off x="982951" y="899890"/>
            <a:ext cx="7021968" cy="837900"/>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Definition: malicious input altering a SQL query's meaning via string concatenation</a:t>
            </a: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Solution: </a:t>
            </a:r>
            <a:r>
              <a:rPr lang="en-US" err="1">
                <a:solidFill>
                  <a:schemeClr val="dk1"/>
                </a:solidFill>
                <a:latin typeface="Montserrat Medium"/>
                <a:ea typeface="Montserrat Medium"/>
                <a:cs typeface="Montserrat Medium"/>
                <a:sym typeface="Montserrat Medium"/>
              </a:rPr>
              <a:t>SQLAlchemy</a:t>
            </a:r>
            <a:r>
              <a:rPr lang="en-US">
                <a:solidFill>
                  <a:schemeClr val="dk1"/>
                </a:solidFill>
                <a:latin typeface="Montserrat Medium"/>
                <a:ea typeface="Montserrat Medium"/>
                <a:cs typeface="Montserrat Medium"/>
                <a:sym typeface="Montserrat Medium"/>
              </a:rPr>
              <a:t> ORM — </a:t>
            </a:r>
            <a:r>
              <a:rPr lang="en-US" err="1">
                <a:solidFill>
                  <a:srgbClr val="C00000"/>
                </a:solidFill>
                <a:latin typeface="Montserrat Medium"/>
                <a:ea typeface="Montserrat Medium"/>
                <a:cs typeface="Montserrat Medium"/>
                <a:sym typeface="Montserrat Medium"/>
              </a:rPr>
              <a:t>User.query.filter_by</a:t>
            </a:r>
            <a:r>
              <a:rPr lang="en-US">
                <a:solidFill>
                  <a:srgbClr val="C00000"/>
                </a:solidFill>
                <a:latin typeface="Montserrat Medium"/>
                <a:ea typeface="Montserrat Medium"/>
                <a:cs typeface="Montserrat Medium"/>
                <a:sym typeface="Montserrat Medium"/>
              </a:rPr>
              <a:t>(username=username)</a:t>
            </a: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Input is bound as a value, never interpreted as code</a:t>
            </a:r>
          </a:p>
          <a:p>
            <a:pPr marL="182880" lvl="0" indent="-167640" algn="l" rtl="0">
              <a:spcBef>
                <a:spcPts val="0"/>
              </a:spcBef>
              <a:spcAft>
                <a:spcPts val="0"/>
              </a:spcAft>
              <a:buClr>
                <a:schemeClr val="dk1"/>
              </a:buClr>
              <a:buSzPts val="1200"/>
              <a:buFont typeface="Montserrat Medium"/>
              <a:buChar char="●"/>
            </a:pPr>
            <a:r>
              <a:rPr lang="en-US" err="1">
                <a:solidFill>
                  <a:srgbClr val="C00000"/>
                </a:solidFill>
                <a:latin typeface="Montserrat Medium"/>
                <a:ea typeface="Montserrat Medium"/>
                <a:cs typeface="Montserrat Medium"/>
                <a:sym typeface="Montserrat Medium"/>
              </a:rPr>
              <a:t>db.session.add</a:t>
            </a:r>
            <a:r>
              <a:rPr lang="en-US">
                <a:solidFill>
                  <a:srgbClr val="C00000"/>
                </a:solidFill>
                <a:latin typeface="Montserrat Medium"/>
                <a:ea typeface="Montserrat Medium"/>
                <a:cs typeface="Montserrat Medium"/>
                <a:sym typeface="Montserrat Medium"/>
              </a:rPr>
              <a:t>() </a:t>
            </a:r>
            <a:r>
              <a:rPr lang="en-US">
                <a:solidFill>
                  <a:schemeClr val="dk1"/>
                </a:solidFill>
                <a:latin typeface="Montserrat Medium"/>
                <a:ea typeface="Montserrat Medium"/>
                <a:cs typeface="Montserrat Medium"/>
                <a:sym typeface="Montserrat Medium"/>
              </a:rPr>
              <a:t>/ </a:t>
            </a:r>
            <a:r>
              <a:rPr lang="en-US" err="1">
                <a:solidFill>
                  <a:srgbClr val="C00000"/>
                </a:solidFill>
                <a:latin typeface="Montserrat Medium"/>
                <a:ea typeface="Montserrat Medium"/>
                <a:cs typeface="Montserrat Medium"/>
                <a:sym typeface="Montserrat Medium"/>
              </a:rPr>
              <a:t>db.session.commit</a:t>
            </a:r>
            <a:r>
              <a:rPr lang="en-US">
                <a:solidFill>
                  <a:srgbClr val="C00000"/>
                </a:solidFill>
                <a:latin typeface="Montserrat Medium"/>
                <a:ea typeface="Montserrat Medium"/>
                <a:cs typeface="Montserrat Medium"/>
                <a:sym typeface="Montserrat Medium"/>
              </a:rPr>
              <a:t>() </a:t>
            </a:r>
            <a:r>
              <a:rPr lang="en-US">
                <a:solidFill>
                  <a:schemeClr val="dk1"/>
                </a:solidFill>
                <a:latin typeface="Montserrat Medium"/>
                <a:ea typeface="Montserrat Medium"/>
                <a:cs typeface="Montserrat Medium"/>
                <a:sym typeface="Montserrat Medium"/>
              </a:rPr>
              <a:t>replace manual SQL strings</a:t>
            </a:r>
          </a:p>
        </p:txBody>
      </p:sp>
      <p:sp>
        <p:nvSpPr>
          <p:cNvPr id="4" name="Google Shape;263;p19">
            <a:extLst>
              <a:ext uri="{FF2B5EF4-FFF2-40B4-BE49-F238E27FC236}">
                <a16:creationId xmlns:a16="http://schemas.microsoft.com/office/drawing/2014/main" id="{D8BC11B2-F73A-77F6-763E-125689A29874}"/>
              </a:ext>
            </a:extLst>
          </p:cNvPr>
          <p:cNvSpPr txBox="1">
            <a:spLocks/>
          </p:cNvSpPr>
          <p:nvPr/>
        </p:nvSpPr>
        <p:spPr>
          <a:xfrm>
            <a:off x="713250" y="145101"/>
            <a:ext cx="7717500" cy="54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chemeClr val="dk1"/>
              </a:buClr>
              <a:buSzPts val="2400"/>
              <a:buFont typeface="Montserrat"/>
              <a:buNone/>
              <a:defRPr sz="2400" b="1" i="0" u="none" strike="noStrike" cap="none" spc="0">
                <a:solidFill>
                  <a:schemeClr val="dk1"/>
                </a:solidFill>
                <a:latin typeface="Montserrat"/>
                <a:ea typeface="Montserrat"/>
                <a:cs typeface="Montserrat"/>
                <a:sym typeface="Montserrat"/>
              </a:defRPr>
            </a:lvl9pPr>
          </a:lstStyle>
          <a:p>
            <a:r>
              <a:rPr lang="en-US" sz="1800"/>
              <a:t>3. Security</a:t>
            </a:r>
          </a:p>
        </p:txBody>
      </p:sp>
      <p:sp>
        <p:nvSpPr>
          <p:cNvPr id="3" name="Google Shape;168;p17">
            <a:extLst>
              <a:ext uri="{FF2B5EF4-FFF2-40B4-BE49-F238E27FC236}">
                <a16:creationId xmlns:a16="http://schemas.microsoft.com/office/drawing/2014/main" id="{D3A2ADD7-4C15-8F07-6AE6-B602EF8C79C5}"/>
              </a:ext>
            </a:extLst>
          </p:cNvPr>
          <p:cNvSpPr/>
          <p:nvPr/>
        </p:nvSpPr>
        <p:spPr>
          <a:xfrm>
            <a:off x="1206999" y="3617224"/>
            <a:ext cx="1932266" cy="255106"/>
          </a:xfrm>
          <a:prstGeom prst="roundRect">
            <a:avLst>
              <a:gd name="adj" fmla="val 12505"/>
            </a:avLst>
          </a:prstGeom>
          <a:solidFill>
            <a:srgbClr val="007BB8"/>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sz="1600">
                <a:solidFill>
                  <a:schemeClr val="lt1"/>
                </a:solidFill>
                <a:latin typeface="Montserrat SemiBold"/>
                <a:ea typeface="Montserrat SemiBold"/>
                <a:cs typeface="Montserrat SemiBold"/>
                <a:sym typeface="Montserrat SemiBold"/>
              </a:rPr>
              <a:t>Input Validation</a:t>
            </a:r>
            <a:endParaRPr sz="1600">
              <a:solidFill>
                <a:schemeClr val="lt1"/>
              </a:solidFill>
              <a:latin typeface="Montserrat SemiBold"/>
              <a:ea typeface="Montserrat SemiBold"/>
              <a:cs typeface="Montserrat SemiBold"/>
              <a:sym typeface="Montserrat SemiBold"/>
            </a:endParaRPr>
          </a:p>
        </p:txBody>
      </p:sp>
      <p:sp>
        <p:nvSpPr>
          <p:cNvPr id="6" name="Google Shape;177;p17">
            <a:extLst>
              <a:ext uri="{FF2B5EF4-FFF2-40B4-BE49-F238E27FC236}">
                <a16:creationId xmlns:a16="http://schemas.microsoft.com/office/drawing/2014/main" id="{E961FA20-F41D-2EF6-B553-201D23F4977B}"/>
              </a:ext>
            </a:extLst>
          </p:cNvPr>
          <p:cNvSpPr txBox="1"/>
          <p:nvPr/>
        </p:nvSpPr>
        <p:spPr>
          <a:xfrm>
            <a:off x="982951" y="3872331"/>
            <a:ext cx="7236894" cy="941004"/>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Validation logic centralized in </a:t>
            </a:r>
            <a:r>
              <a:rPr lang="en-US">
                <a:solidFill>
                  <a:srgbClr val="C00000"/>
                </a:solidFill>
                <a:latin typeface="Montserrat Medium"/>
                <a:ea typeface="Montserrat Medium"/>
                <a:cs typeface="Montserrat Medium"/>
                <a:sym typeface="Montserrat Medium"/>
              </a:rPr>
              <a:t>forms.py</a:t>
            </a:r>
          </a:p>
          <a:p>
            <a:pPr marL="182880" lvl="0" indent="-167640" algn="l" rtl="0">
              <a:spcBef>
                <a:spcPts val="0"/>
              </a:spcBef>
              <a:spcAft>
                <a:spcPts val="0"/>
              </a:spcAft>
              <a:buClr>
                <a:schemeClr val="dk1"/>
              </a:buClr>
              <a:buSzPts val="1200"/>
              <a:buFont typeface="Montserrat Medium"/>
              <a:buChar char="●"/>
            </a:pPr>
            <a:r>
              <a:rPr lang="en-US" err="1">
                <a:solidFill>
                  <a:srgbClr val="C00000"/>
                </a:solidFill>
                <a:latin typeface="Montserrat Medium"/>
                <a:ea typeface="Montserrat Medium"/>
                <a:cs typeface="Montserrat Medium"/>
                <a:sym typeface="Montserrat Medium"/>
              </a:rPr>
              <a:t>RegistrationForm</a:t>
            </a:r>
            <a:r>
              <a:rPr lang="en-US">
                <a:solidFill>
                  <a:srgbClr val="C00000"/>
                </a:solidFill>
                <a:latin typeface="Montserrat Medium"/>
                <a:ea typeface="Montserrat Medium"/>
                <a:cs typeface="Montserrat Medium"/>
                <a:sym typeface="Montserrat Medium"/>
              </a:rPr>
              <a:t> </a:t>
            </a:r>
            <a:r>
              <a:rPr lang="en-US">
                <a:solidFill>
                  <a:schemeClr val="dk1"/>
                </a:solidFill>
                <a:latin typeface="Montserrat Medium"/>
                <a:ea typeface="Montserrat Medium"/>
                <a:cs typeface="Montserrat Medium"/>
                <a:sym typeface="Montserrat Medium"/>
              </a:rPr>
              <a:t>defines field-level rules (required, format, uniqueness)</a:t>
            </a: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Keeps </a:t>
            </a:r>
            <a:r>
              <a:rPr lang="en-US">
                <a:solidFill>
                  <a:srgbClr val="C00000"/>
                </a:solidFill>
                <a:latin typeface="Montserrat Medium"/>
                <a:ea typeface="Montserrat Medium"/>
                <a:cs typeface="Montserrat Medium"/>
                <a:sym typeface="Montserrat Medium"/>
              </a:rPr>
              <a:t>views.py </a:t>
            </a:r>
            <a:r>
              <a:rPr lang="en-US">
                <a:solidFill>
                  <a:schemeClr val="dk1"/>
                </a:solidFill>
                <a:latin typeface="Montserrat Medium"/>
                <a:ea typeface="Montserrat Medium"/>
                <a:cs typeface="Montserrat Medium"/>
                <a:sym typeface="Montserrat Medium"/>
              </a:rPr>
              <a:t>focused on routing and rendering only</a:t>
            </a:r>
          </a:p>
        </p:txBody>
      </p:sp>
    </p:spTree>
    <p:extLst>
      <p:ext uri="{BB962C8B-B14F-4D97-AF65-F5344CB8AC3E}">
        <p14:creationId xmlns:p14="http://schemas.microsoft.com/office/powerpoint/2010/main" val="1557798870"/>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CFEC1E17-71B8-562E-EF81-D4899552B6B1}"/>
            </a:ext>
          </a:extLst>
        </p:cNvPr>
        <p:cNvGrpSpPr/>
        <p:nvPr/>
      </p:nvGrpSpPr>
      <p:grpSpPr>
        <a:xfrm>
          <a:off x="0" y="0"/>
          <a:ext cx="0" cy="0"/>
          <a:chOff x="0" y="0"/>
          <a:chExt cx="0" cy="0"/>
        </a:xfrm>
      </p:grpSpPr>
      <p:sp>
        <p:nvSpPr>
          <p:cNvPr id="173" name="Google Shape;173;p17">
            <a:extLst>
              <a:ext uri="{FF2B5EF4-FFF2-40B4-BE49-F238E27FC236}">
                <a16:creationId xmlns:a16="http://schemas.microsoft.com/office/drawing/2014/main" id="{6E594920-94C5-1703-94A6-360142CF8F50}"/>
              </a:ext>
            </a:extLst>
          </p:cNvPr>
          <p:cNvSpPr txBox="1">
            <a:spLocks noGrp="1"/>
          </p:cNvSpPr>
          <p:nvPr>
            <p:ph type="title"/>
          </p:nvPr>
        </p:nvSpPr>
        <p:spPr>
          <a:xfrm>
            <a:off x="1105900" y="1018480"/>
            <a:ext cx="397918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4. Second Factor: Registration</a:t>
            </a:r>
            <a:endParaRPr sz="1800"/>
          </a:p>
        </p:txBody>
      </p:sp>
      <p:sp>
        <p:nvSpPr>
          <p:cNvPr id="181" name="Google Shape;181;p17">
            <a:extLst>
              <a:ext uri="{FF2B5EF4-FFF2-40B4-BE49-F238E27FC236}">
                <a16:creationId xmlns:a16="http://schemas.microsoft.com/office/drawing/2014/main" id="{FDEB0F42-F4F1-B4BE-A7C3-9C3487320332}"/>
              </a:ext>
            </a:extLst>
          </p:cNvPr>
          <p:cNvSpPr txBox="1"/>
          <p:nvPr/>
        </p:nvSpPr>
        <p:spPr>
          <a:xfrm>
            <a:off x="1068800" y="1479260"/>
            <a:ext cx="4016280" cy="3001300"/>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rgbClr val="C00000"/>
                </a:solidFill>
                <a:latin typeface="Montserrat Medium"/>
                <a:ea typeface="Montserrat Medium"/>
                <a:cs typeface="Montserrat Medium"/>
                <a:sym typeface="Montserrat Medium"/>
              </a:rPr>
              <a:t>email</a:t>
            </a:r>
            <a:r>
              <a:rPr lang="en-US">
                <a:solidFill>
                  <a:schemeClr val="dk1"/>
                </a:solidFill>
                <a:latin typeface="Montserrat Medium"/>
                <a:ea typeface="Montserrat Medium"/>
                <a:cs typeface="Montserrat Medium"/>
                <a:sym typeface="Montserrat Medium"/>
              </a:rPr>
              <a:t> and </a:t>
            </a:r>
            <a:r>
              <a:rPr lang="en-US" err="1">
                <a:solidFill>
                  <a:srgbClr val="C00000"/>
                </a:solidFill>
                <a:latin typeface="Montserrat Medium"/>
                <a:ea typeface="Montserrat Medium"/>
                <a:cs typeface="Montserrat Medium"/>
                <a:sym typeface="Montserrat Medium"/>
              </a:rPr>
              <a:t>is_email_verified</a:t>
            </a:r>
            <a:r>
              <a:rPr lang="en-US">
                <a:solidFill>
                  <a:srgbClr val="C00000"/>
                </a:solidFill>
                <a:latin typeface="Montserrat Medium"/>
                <a:ea typeface="Montserrat Medium"/>
                <a:cs typeface="Montserrat Medium"/>
                <a:sym typeface="Montserrat Medium"/>
              </a:rPr>
              <a:t> </a:t>
            </a:r>
            <a:r>
              <a:rPr lang="en-US">
                <a:solidFill>
                  <a:schemeClr val="dk1"/>
                </a:solidFill>
                <a:latin typeface="Montserrat Medium"/>
                <a:ea typeface="Montserrat Medium"/>
                <a:cs typeface="Montserrat Medium"/>
                <a:sym typeface="Montserrat Medium"/>
              </a:rPr>
              <a:t>columns added to the User model</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Verification token generated with </a:t>
            </a:r>
            <a:r>
              <a:rPr lang="en-US" err="1">
                <a:solidFill>
                  <a:srgbClr val="C00000"/>
                </a:solidFill>
                <a:latin typeface="Montserrat Medium"/>
                <a:ea typeface="Montserrat Medium"/>
                <a:cs typeface="Montserrat Medium"/>
                <a:sym typeface="Montserrat Medium"/>
              </a:rPr>
              <a:t>itsdangerous</a:t>
            </a:r>
            <a:r>
              <a:rPr lang="en-US" err="1">
                <a:solidFill>
                  <a:schemeClr val="dk1"/>
                </a:solidFill>
                <a:latin typeface="Montserrat Medium"/>
                <a:ea typeface="Montserrat Medium"/>
                <a:cs typeface="Montserrat Medium"/>
                <a:sym typeface="Montserrat Medium"/>
              </a:rPr>
              <a:t>'s</a:t>
            </a:r>
            <a:r>
              <a:rPr lang="en-US">
                <a:solidFill>
                  <a:schemeClr val="dk1"/>
                </a:solidFill>
                <a:latin typeface="Montserrat Medium"/>
                <a:ea typeface="Montserrat Medium"/>
                <a:cs typeface="Montserrat Medium"/>
                <a:sym typeface="Montserrat Medium"/>
              </a:rPr>
              <a:t> </a:t>
            </a:r>
            <a:r>
              <a:rPr lang="en-US">
                <a:solidFill>
                  <a:srgbClr val="C00000"/>
                </a:solidFill>
                <a:latin typeface="Montserrat Medium"/>
                <a:ea typeface="Montserrat Medium"/>
                <a:cs typeface="Montserrat Medium"/>
                <a:sym typeface="Montserrat Medium"/>
              </a:rPr>
              <a:t>URLSafeTimedSerializer</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Token expires after 60 minutes</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Account cannot log in until email is verified</a:t>
            </a:r>
          </a:p>
        </p:txBody>
      </p:sp>
      <p:pic>
        <p:nvPicPr>
          <p:cNvPr id="4" name="Picture 3">
            <a:extLst>
              <a:ext uri="{FF2B5EF4-FFF2-40B4-BE49-F238E27FC236}">
                <a16:creationId xmlns:a16="http://schemas.microsoft.com/office/drawing/2014/main" id="{1A332DA3-2303-76F8-2F0A-BBAEFFC432B8}"/>
              </a:ext>
            </a:extLst>
          </p:cNvPr>
          <p:cNvPicPr>
            <a:picLocks noChangeAspect="1"/>
          </p:cNvPicPr>
          <p:nvPr/>
        </p:nvPicPr>
        <p:blipFill>
          <a:blip r:embed="rId3"/>
          <a:stretch>
            <a:fillRect/>
          </a:stretch>
        </p:blipFill>
        <p:spPr>
          <a:xfrm>
            <a:off x="3180080" y="146866"/>
            <a:ext cx="6932430" cy="4849768"/>
          </a:xfrm>
          <a:prstGeom prst="rect">
            <a:avLst/>
          </a:prstGeom>
        </p:spPr>
      </p:pic>
    </p:spTree>
    <p:extLst>
      <p:ext uri="{BB962C8B-B14F-4D97-AF65-F5344CB8AC3E}">
        <p14:creationId xmlns:p14="http://schemas.microsoft.com/office/powerpoint/2010/main" val="2582514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16718A7B-E60B-08B3-5CAF-0BFC2FD7BCD1}"/>
            </a:ext>
          </a:extLst>
        </p:cNvPr>
        <p:cNvGrpSpPr/>
        <p:nvPr/>
      </p:nvGrpSpPr>
      <p:grpSpPr>
        <a:xfrm>
          <a:off x="0" y="0"/>
          <a:ext cx="0" cy="0"/>
          <a:chOff x="0" y="0"/>
          <a:chExt cx="0" cy="0"/>
        </a:xfrm>
      </p:grpSpPr>
      <p:sp>
        <p:nvSpPr>
          <p:cNvPr id="173" name="Google Shape;173;p17">
            <a:extLst>
              <a:ext uri="{FF2B5EF4-FFF2-40B4-BE49-F238E27FC236}">
                <a16:creationId xmlns:a16="http://schemas.microsoft.com/office/drawing/2014/main" id="{426205E3-FE02-C0BE-B047-8BD4F9343C89}"/>
              </a:ext>
            </a:extLst>
          </p:cNvPr>
          <p:cNvSpPr txBox="1">
            <a:spLocks noGrp="1"/>
          </p:cNvSpPr>
          <p:nvPr>
            <p:ph type="title"/>
          </p:nvPr>
        </p:nvSpPr>
        <p:spPr>
          <a:xfrm>
            <a:off x="1212580" y="667960"/>
            <a:ext cx="41773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800"/>
              <a:t>4. Second Factor: Login (PIN)</a:t>
            </a:r>
            <a:endParaRPr sz="1800"/>
          </a:p>
        </p:txBody>
      </p:sp>
      <p:sp>
        <p:nvSpPr>
          <p:cNvPr id="181" name="Google Shape;181;p17">
            <a:extLst>
              <a:ext uri="{FF2B5EF4-FFF2-40B4-BE49-F238E27FC236}">
                <a16:creationId xmlns:a16="http://schemas.microsoft.com/office/drawing/2014/main" id="{7DB4E187-163D-3616-69BC-F91CF60DFE18}"/>
              </a:ext>
            </a:extLst>
          </p:cNvPr>
          <p:cNvSpPr txBox="1"/>
          <p:nvPr/>
        </p:nvSpPr>
        <p:spPr>
          <a:xfrm>
            <a:off x="1175480" y="1128740"/>
            <a:ext cx="4177300" cy="3001300"/>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PIN is no longer chosen by the user at registration</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On login, a random 6-digit PIN is generated (Python </a:t>
            </a:r>
            <a:r>
              <a:rPr lang="en-US">
                <a:solidFill>
                  <a:srgbClr val="C00000"/>
                </a:solidFill>
                <a:latin typeface="Montserrat Medium"/>
                <a:ea typeface="Montserrat Medium"/>
                <a:cs typeface="Montserrat Medium"/>
                <a:sym typeface="Montserrat Medium"/>
              </a:rPr>
              <a:t>secrets</a:t>
            </a:r>
            <a:r>
              <a:rPr lang="en-US">
                <a:solidFill>
                  <a:schemeClr val="dk1"/>
                </a:solidFill>
                <a:latin typeface="Montserrat Medium"/>
                <a:ea typeface="Montserrat Medium"/>
                <a:cs typeface="Montserrat Medium"/>
                <a:sym typeface="Montserrat Medium"/>
              </a:rPr>
              <a:t> module)</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PIN sent via Flask-Mail to the user's registered email</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User enters the PIN to complete authentication</a:t>
            </a:r>
            <a:br>
              <a:rPr lang="en-US">
                <a:solidFill>
                  <a:schemeClr val="dk1"/>
                </a:solidFill>
                <a:latin typeface="Montserrat Medium"/>
                <a:ea typeface="Montserrat Medium"/>
                <a:cs typeface="Montserrat Medium"/>
                <a:sym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Shifts the second factor closer to "something you have" vs. the original self-chosen PIN</a:t>
            </a:r>
          </a:p>
        </p:txBody>
      </p:sp>
      <p:pic>
        <p:nvPicPr>
          <p:cNvPr id="4" name="Picture 3">
            <a:extLst>
              <a:ext uri="{FF2B5EF4-FFF2-40B4-BE49-F238E27FC236}">
                <a16:creationId xmlns:a16="http://schemas.microsoft.com/office/drawing/2014/main" id="{1CA7E321-F529-0252-0CD6-63685B16A266}"/>
              </a:ext>
            </a:extLst>
          </p:cNvPr>
          <p:cNvPicPr>
            <a:picLocks noChangeAspect="1"/>
          </p:cNvPicPr>
          <p:nvPr/>
        </p:nvPicPr>
        <p:blipFill>
          <a:blip r:embed="rId3"/>
          <a:stretch>
            <a:fillRect/>
          </a:stretch>
        </p:blipFill>
        <p:spPr>
          <a:xfrm>
            <a:off x="3783830" y="0"/>
            <a:ext cx="5920035" cy="5143500"/>
          </a:xfrm>
          <a:prstGeom prst="rect">
            <a:avLst/>
          </a:prstGeom>
        </p:spPr>
      </p:pic>
    </p:spTree>
    <p:extLst>
      <p:ext uri="{BB962C8B-B14F-4D97-AF65-F5344CB8AC3E}">
        <p14:creationId xmlns:p14="http://schemas.microsoft.com/office/powerpoint/2010/main" val="318770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
          <a:extLst>
            <a:ext uri="{FF2B5EF4-FFF2-40B4-BE49-F238E27FC236}">
              <a16:creationId xmlns:a16="http://schemas.microsoft.com/office/drawing/2014/main" id="{A0F8849E-D6AB-4AE1-4432-15AD7442CD7C}"/>
            </a:ext>
          </a:extLst>
        </p:cNvPr>
        <p:cNvGrpSpPr/>
        <p:nvPr/>
      </p:nvGrpSpPr>
      <p:grpSpPr>
        <a:xfrm>
          <a:off x="0" y="0"/>
          <a:ext cx="0" cy="0"/>
          <a:chOff x="0" y="0"/>
          <a:chExt cx="0" cy="0"/>
        </a:xfrm>
      </p:grpSpPr>
      <p:sp>
        <p:nvSpPr>
          <p:cNvPr id="173" name="Google Shape;173;p17">
            <a:extLst>
              <a:ext uri="{FF2B5EF4-FFF2-40B4-BE49-F238E27FC236}">
                <a16:creationId xmlns:a16="http://schemas.microsoft.com/office/drawing/2014/main" id="{14A606EE-22A0-B341-BCAD-CC8FC0610148}"/>
              </a:ext>
            </a:extLst>
          </p:cNvPr>
          <p:cNvSpPr txBox="1">
            <a:spLocks noGrp="1"/>
          </p:cNvSpPr>
          <p:nvPr>
            <p:ph type="title"/>
          </p:nvPr>
        </p:nvSpPr>
        <p:spPr>
          <a:xfrm>
            <a:off x="944072" y="311424"/>
            <a:ext cx="3731800" cy="54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a:t>5. Session Management</a:t>
            </a:r>
            <a:endParaRPr sz="1800"/>
          </a:p>
        </p:txBody>
      </p:sp>
      <p:sp>
        <p:nvSpPr>
          <p:cNvPr id="181" name="Google Shape;181;p17">
            <a:extLst>
              <a:ext uri="{FF2B5EF4-FFF2-40B4-BE49-F238E27FC236}">
                <a16:creationId xmlns:a16="http://schemas.microsoft.com/office/drawing/2014/main" id="{3D337856-BE38-A746-AD8D-D9F0AA169BBF}"/>
              </a:ext>
            </a:extLst>
          </p:cNvPr>
          <p:cNvSpPr txBox="1"/>
          <p:nvPr/>
        </p:nvSpPr>
        <p:spPr>
          <a:xfrm>
            <a:off x="944072" y="857896"/>
            <a:ext cx="3871902" cy="3240060"/>
          </a:xfrm>
          <a:prstGeom prst="rect">
            <a:avLst/>
          </a:prstGeom>
          <a:noFill/>
          <a:ln>
            <a:noFill/>
          </a:ln>
        </p:spPr>
        <p:txBody>
          <a:bodyPr spcFirstLastPara="1" wrap="square" lIns="91425" tIns="91425" rIns="91425" bIns="91425" anchor="t" anchorCtr="0">
            <a:noAutofit/>
          </a:bodyPr>
          <a:lstStyle/>
          <a:p>
            <a:pPr marL="182880" indent="-167640">
              <a:buClr>
                <a:schemeClr val="dk1"/>
              </a:buClr>
              <a:buSzPts val="1200"/>
              <a:buFont typeface="Montserrat Medium"/>
              <a:buChar char="●"/>
            </a:pPr>
            <a:r>
              <a:rPr lang="en-US">
                <a:solidFill>
                  <a:schemeClr val="dk1"/>
                </a:solidFill>
                <a:latin typeface="Montserrat Medium"/>
                <a:ea typeface="Montserrat Medium"/>
                <a:sym typeface="Montserrat Medium"/>
              </a:rPr>
              <a:t>Flask-Login handles authenticated session state</a:t>
            </a:r>
            <a:br>
              <a:rPr lang="en-US">
                <a:ea typeface="Montserrat Medium"/>
              </a:rPr>
            </a:br>
            <a:endParaRPr lang="en-US">
              <a:solidFill>
                <a:schemeClr val="dk1"/>
              </a:solidFill>
              <a:ea typeface="Montserrat Medium"/>
            </a:endParaRPr>
          </a:p>
          <a:p>
            <a:pPr marL="182880" indent="-167640">
              <a:buClr>
                <a:schemeClr val="dk1"/>
              </a:buClr>
              <a:buSzPts val="1200"/>
              <a:buFont typeface="Montserrat Medium"/>
              <a:buChar char="●"/>
            </a:pPr>
            <a:r>
              <a:rPr lang="en-US" err="1">
                <a:solidFill>
                  <a:srgbClr val="C00000"/>
                </a:solidFill>
                <a:latin typeface="Montserrat Medium"/>
                <a:ea typeface="Montserrat Medium"/>
                <a:sym typeface="Montserrat Medium"/>
              </a:rPr>
              <a:t>login_user</a:t>
            </a:r>
            <a:r>
              <a:rPr lang="en-US">
                <a:solidFill>
                  <a:srgbClr val="C00000"/>
                </a:solidFill>
                <a:latin typeface="Montserrat Medium"/>
                <a:ea typeface="Montserrat Medium"/>
                <a:sym typeface="Montserrat Medium"/>
              </a:rPr>
              <a:t>() </a:t>
            </a:r>
            <a:r>
              <a:rPr lang="en-US">
                <a:solidFill>
                  <a:schemeClr val="dk1"/>
                </a:solidFill>
                <a:latin typeface="Montserrat Medium"/>
                <a:ea typeface="Montserrat Medium"/>
                <a:sym typeface="Montserrat Medium"/>
              </a:rPr>
              <a:t>on success, </a:t>
            </a:r>
            <a:r>
              <a:rPr lang="en-US" err="1">
                <a:solidFill>
                  <a:srgbClr val="C00000"/>
                </a:solidFill>
                <a:latin typeface="Montserrat Medium"/>
                <a:ea typeface="Montserrat Medium"/>
                <a:sym typeface="Montserrat Medium"/>
              </a:rPr>
              <a:t>logout_user</a:t>
            </a:r>
            <a:r>
              <a:rPr lang="en-US">
                <a:solidFill>
                  <a:srgbClr val="C00000"/>
                </a:solidFill>
                <a:latin typeface="Montserrat Medium"/>
                <a:ea typeface="Montserrat Medium"/>
                <a:sym typeface="Montserrat Medium"/>
              </a:rPr>
              <a:t>() </a:t>
            </a:r>
            <a:r>
              <a:rPr lang="en-US">
                <a:solidFill>
                  <a:schemeClr val="dk1"/>
                </a:solidFill>
                <a:latin typeface="Montserrat Medium"/>
                <a:ea typeface="Montserrat Medium"/>
                <a:sym typeface="Montserrat Medium"/>
              </a:rPr>
              <a:t>on logout</a:t>
            </a:r>
            <a:br>
              <a:rPr lang="en-US">
                <a:solidFill>
                  <a:schemeClr val="dk1"/>
                </a:solidFill>
                <a:latin typeface="Montserrat Medium"/>
                <a:ea typeface="Montserrat Medium"/>
              </a:rPr>
            </a:br>
            <a:endParaRPr lang="en-US">
              <a:solidFill>
                <a:schemeClr val="dk1"/>
              </a:solidFill>
              <a:latin typeface="Montserrat Medium"/>
              <a:ea typeface="Montserrat Medium"/>
            </a:endParaRPr>
          </a:p>
          <a:p>
            <a:pPr marL="182880" indent="-167640">
              <a:buClr>
                <a:schemeClr val="dk1"/>
              </a:buClr>
              <a:buSzPts val="1200"/>
              <a:buFont typeface="Montserrat Medium,sans-serif"/>
              <a:buChar char="●"/>
            </a:pPr>
            <a:r>
              <a:rPr lang="en-US">
                <a:solidFill>
                  <a:srgbClr val="C00000"/>
                </a:solidFill>
                <a:latin typeface="Montserrat Medium"/>
              </a:rPr>
              <a:t>@login_required </a:t>
            </a:r>
            <a:r>
              <a:rPr lang="en-US">
                <a:solidFill>
                  <a:schemeClr val="dk1"/>
                </a:solidFill>
                <a:latin typeface="Montserrat Medium"/>
              </a:rPr>
              <a:t>decorator restricts protected routes</a:t>
            </a:r>
          </a:p>
        </p:txBody>
      </p:sp>
      <p:pic>
        <p:nvPicPr>
          <p:cNvPr id="3" name="Picture 2">
            <a:extLst>
              <a:ext uri="{FF2B5EF4-FFF2-40B4-BE49-F238E27FC236}">
                <a16:creationId xmlns:a16="http://schemas.microsoft.com/office/drawing/2014/main" id="{D613D525-FBD2-7E2D-7D3F-921B71AD4D22}"/>
              </a:ext>
            </a:extLst>
          </p:cNvPr>
          <p:cNvPicPr>
            <a:picLocks noChangeAspect="1"/>
          </p:cNvPicPr>
          <p:nvPr/>
        </p:nvPicPr>
        <p:blipFill>
          <a:blip r:embed="rId4"/>
          <a:stretch>
            <a:fillRect/>
          </a:stretch>
        </p:blipFill>
        <p:spPr>
          <a:xfrm>
            <a:off x="4673083" y="312823"/>
            <a:ext cx="5143998" cy="4463715"/>
          </a:xfrm>
          <a:prstGeom prst="rect">
            <a:avLst/>
          </a:prstGeom>
        </p:spPr>
      </p:pic>
      <p:pic>
        <p:nvPicPr>
          <p:cNvPr id="4" name="Picture 3">
            <a:extLst>
              <a:ext uri="{FF2B5EF4-FFF2-40B4-BE49-F238E27FC236}">
                <a16:creationId xmlns:a16="http://schemas.microsoft.com/office/drawing/2014/main" id="{ED8681DC-7E00-AC38-4D0A-CB628004B4F3}"/>
              </a:ext>
            </a:extLst>
          </p:cNvPr>
          <p:cNvPicPr>
            <a:picLocks noChangeAspect="1"/>
          </p:cNvPicPr>
          <p:nvPr/>
        </p:nvPicPr>
        <p:blipFill>
          <a:blip r:embed="rId5"/>
          <a:stretch>
            <a:fillRect/>
          </a:stretch>
        </p:blipFill>
        <p:spPr>
          <a:xfrm>
            <a:off x="944479" y="3162683"/>
            <a:ext cx="4866774" cy="298015"/>
          </a:xfrm>
          <a:prstGeom prst="rect">
            <a:avLst/>
          </a:prstGeom>
        </p:spPr>
      </p:pic>
      <p:sp>
        <p:nvSpPr>
          <p:cNvPr id="5" name="Google Shape;181;p17">
            <a:extLst>
              <a:ext uri="{FF2B5EF4-FFF2-40B4-BE49-F238E27FC236}">
                <a16:creationId xmlns:a16="http://schemas.microsoft.com/office/drawing/2014/main" id="{FEA104D0-49B0-CA10-D4AA-A17E03031275}"/>
              </a:ext>
            </a:extLst>
          </p:cNvPr>
          <p:cNvSpPr txBox="1"/>
          <p:nvPr/>
        </p:nvSpPr>
        <p:spPr>
          <a:xfrm>
            <a:off x="944071" y="3456715"/>
            <a:ext cx="3871902" cy="340450"/>
          </a:xfrm>
          <a:prstGeom prst="rect">
            <a:avLst/>
          </a:prstGeom>
          <a:noFill/>
          <a:ln>
            <a:noFill/>
          </a:ln>
        </p:spPr>
        <p:txBody>
          <a:bodyPr spcFirstLastPara="1" wrap="square" lIns="91425" tIns="91425" rIns="91425" bIns="91425" anchor="t" anchorCtr="0">
            <a:noAutofit/>
          </a:bodyPr>
          <a:lstStyle/>
          <a:p>
            <a:pPr marL="15240">
              <a:buClr>
                <a:schemeClr val="dk1"/>
              </a:buClr>
              <a:buSzPts val="1200"/>
            </a:pPr>
            <a:r>
              <a:rPr lang="en-US" sz="1050" i="1"/>
              <a:t>Session cookie set after successful login.</a:t>
            </a:r>
            <a:endParaRPr lang="en-US" i="1"/>
          </a:p>
        </p:txBody>
      </p:sp>
    </p:spTree>
    <p:extLst>
      <p:ext uri="{BB962C8B-B14F-4D97-AF65-F5344CB8AC3E}">
        <p14:creationId xmlns:p14="http://schemas.microsoft.com/office/powerpoint/2010/main" val="3766215186"/>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40">
          <a:extLst>
            <a:ext uri="{FF2B5EF4-FFF2-40B4-BE49-F238E27FC236}">
              <a16:creationId xmlns:a16="http://schemas.microsoft.com/office/drawing/2014/main" id="{8FE207B4-EF86-6B54-8FE9-4EFA65280CC4}"/>
            </a:ext>
          </a:extLst>
        </p:cNvPr>
        <p:cNvGrpSpPr/>
        <p:nvPr/>
      </p:nvGrpSpPr>
      <p:grpSpPr>
        <a:xfrm>
          <a:off x="0" y="0"/>
          <a:ext cx="0" cy="0"/>
          <a:chOff x="0" y="0"/>
          <a:chExt cx="0" cy="0"/>
        </a:xfrm>
      </p:grpSpPr>
      <p:sp>
        <p:nvSpPr>
          <p:cNvPr id="441" name="Google Shape;441;p24">
            <a:extLst>
              <a:ext uri="{FF2B5EF4-FFF2-40B4-BE49-F238E27FC236}">
                <a16:creationId xmlns:a16="http://schemas.microsoft.com/office/drawing/2014/main" id="{33A69719-6181-DF38-C2FA-11203480D3C2}"/>
              </a:ext>
            </a:extLst>
          </p:cNvPr>
          <p:cNvSpPr/>
          <p:nvPr/>
        </p:nvSpPr>
        <p:spPr>
          <a:xfrm>
            <a:off x="713250" y="1098431"/>
            <a:ext cx="3696300" cy="3109197"/>
          </a:xfrm>
          <a:prstGeom prst="roundRect">
            <a:avLst>
              <a:gd name="adj" fmla="val 4415"/>
            </a:avLst>
          </a:prstGeom>
          <a:solidFill>
            <a:schemeClr val="accent4"/>
          </a:solidFill>
          <a:ln>
            <a:noFill/>
          </a:ln>
        </p:spPr>
        <p:txBody>
          <a:bodyPr spcFirstLastPara="1" wrap="square" lIns="91425" tIns="182875" rIns="91425" bIns="91425" anchor="t" anchorCtr="0">
            <a:noAutofit/>
          </a:bodyPr>
          <a:lstStyle/>
          <a:p>
            <a:pPr marL="0" lvl="0" indent="0" algn="ctr" rtl="0">
              <a:spcBef>
                <a:spcPts val="0"/>
              </a:spcBef>
              <a:spcAft>
                <a:spcPts val="0"/>
              </a:spcAft>
              <a:buNone/>
            </a:pPr>
            <a:endParaRPr sz="1200">
              <a:latin typeface="Montserrat Medium"/>
              <a:ea typeface="Montserrat Medium"/>
              <a:cs typeface="Montserrat Medium"/>
              <a:sym typeface="Montserrat Medium"/>
            </a:endParaRPr>
          </a:p>
        </p:txBody>
      </p:sp>
      <p:sp>
        <p:nvSpPr>
          <p:cNvPr id="442" name="Google Shape;442;p24">
            <a:extLst>
              <a:ext uri="{FF2B5EF4-FFF2-40B4-BE49-F238E27FC236}">
                <a16:creationId xmlns:a16="http://schemas.microsoft.com/office/drawing/2014/main" id="{4929B41D-C669-68C6-7892-CD3061B4AF9F}"/>
              </a:ext>
            </a:extLst>
          </p:cNvPr>
          <p:cNvSpPr/>
          <p:nvPr/>
        </p:nvSpPr>
        <p:spPr>
          <a:xfrm>
            <a:off x="713250" y="1098432"/>
            <a:ext cx="3696300" cy="436800"/>
          </a:xfrm>
          <a:prstGeom prst="round2SameRect">
            <a:avLst>
              <a:gd name="adj1" fmla="val 32269"/>
              <a:gd name="adj2" fmla="val 0"/>
            </a:avLst>
          </a:prstGeom>
          <a:solidFill>
            <a:schemeClr val="dk2"/>
          </a:solidFill>
          <a:ln>
            <a:noFill/>
          </a:ln>
        </p:spPr>
        <p:txBody>
          <a:bodyPr spcFirstLastPara="1" wrap="square" lIns="0" tIns="91425" rIns="0" bIns="91425" anchor="b"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Security</a:t>
            </a:r>
            <a:endParaRPr>
              <a:solidFill>
                <a:schemeClr val="lt1"/>
              </a:solidFill>
            </a:endParaRPr>
          </a:p>
        </p:txBody>
      </p:sp>
      <p:sp>
        <p:nvSpPr>
          <p:cNvPr id="443" name="Google Shape;443;p24">
            <a:extLst>
              <a:ext uri="{FF2B5EF4-FFF2-40B4-BE49-F238E27FC236}">
                <a16:creationId xmlns:a16="http://schemas.microsoft.com/office/drawing/2014/main" id="{3482C5EE-30A7-50C0-A6B8-0D4106C63528}"/>
              </a:ext>
            </a:extLst>
          </p:cNvPr>
          <p:cNvSpPr txBox="1">
            <a:spLocks noGrp="1"/>
          </p:cNvSpPr>
          <p:nvPr>
            <p:ph type="title"/>
          </p:nvPr>
        </p:nvSpPr>
        <p:spPr>
          <a:xfrm>
            <a:off x="713250" y="473328"/>
            <a:ext cx="7717500" cy="54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a:t>5. Future Work</a:t>
            </a:r>
            <a:endParaRPr sz="2000"/>
          </a:p>
        </p:txBody>
      </p:sp>
      <p:sp>
        <p:nvSpPr>
          <p:cNvPr id="445" name="Google Shape;445;p24">
            <a:extLst>
              <a:ext uri="{FF2B5EF4-FFF2-40B4-BE49-F238E27FC236}">
                <a16:creationId xmlns:a16="http://schemas.microsoft.com/office/drawing/2014/main" id="{BE6F558D-12AC-9713-465E-3239AEAA4EE0}"/>
              </a:ext>
            </a:extLst>
          </p:cNvPr>
          <p:cNvSpPr/>
          <p:nvPr/>
        </p:nvSpPr>
        <p:spPr>
          <a:xfrm>
            <a:off x="4734450" y="1098434"/>
            <a:ext cx="3696300" cy="3109194"/>
          </a:xfrm>
          <a:prstGeom prst="roundRect">
            <a:avLst>
              <a:gd name="adj" fmla="val 9451"/>
            </a:avLst>
          </a:prstGeom>
          <a:solidFill>
            <a:schemeClr val="accent4"/>
          </a:solidFill>
          <a:ln>
            <a:noFill/>
          </a:ln>
        </p:spPr>
        <p:txBody>
          <a:bodyPr spcFirstLastPara="1" wrap="square" lIns="91425" tIns="182875" rIns="91425" bIns="91425" anchor="t" anchorCtr="0">
            <a:noAutofit/>
          </a:bodyPr>
          <a:lstStyle/>
          <a:p>
            <a:pPr marL="0" lvl="0" indent="0" algn="ctr" rtl="0">
              <a:spcBef>
                <a:spcPts val="0"/>
              </a:spcBef>
              <a:spcAft>
                <a:spcPts val="0"/>
              </a:spcAft>
              <a:buNone/>
            </a:pPr>
            <a:endParaRPr sz="1200">
              <a:solidFill>
                <a:schemeClr val="dk1"/>
              </a:solidFill>
              <a:latin typeface="Montserrat Medium"/>
              <a:ea typeface="Montserrat Medium"/>
              <a:cs typeface="Montserrat Medium"/>
              <a:sym typeface="Montserrat Medium"/>
            </a:endParaRPr>
          </a:p>
        </p:txBody>
      </p:sp>
      <p:sp>
        <p:nvSpPr>
          <p:cNvPr id="446" name="Google Shape;446;p24">
            <a:extLst>
              <a:ext uri="{FF2B5EF4-FFF2-40B4-BE49-F238E27FC236}">
                <a16:creationId xmlns:a16="http://schemas.microsoft.com/office/drawing/2014/main" id="{8F52E41A-D145-E797-69C3-D5AE39CBB1EB}"/>
              </a:ext>
            </a:extLst>
          </p:cNvPr>
          <p:cNvSpPr/>
          <p:nvPr/>
        </p:nvSpPr>
        <p:spPr>
          <a:xfrm>
            <a:off x="4734450" y="1098432"/>
            <a:ext cx="3696300" cy="436800"/>
          </a:xfrm>
          <a:prstGeom prst="round2SameRect">
            <a:avLst>
              <a:gd name="adj1" fmla="val 32269"/>
              <a:gd name="adj2" fmla="val 0"/>
            </a:avLst>
          </a:prstGeom>
          <a:solidFill>
            <a:schemeClr val="lt2"/>
          </a:solidFill>
          <a:ln>
            <a:noFill/>
          </a:ln>
        </p:spPr>
        <p:txBody>
          <a:bodyPr spcFirstLastPara="1" wrap="square" lIns="0" tIns="91425" rIns="0" bIns="91425" anchor="b" anchorCtr="0">
            <a:noAutofit/>
          </a:bodyPr>
          <a:lstStyle/>
          <a:p>
            <a:pPr marL="0" lvl="0" indent="0" algn="ctr" rtl="0">
              <a:spcBef>
                <a:spcPts val="0"/>
              </a:spcBef>
              <a:spcAft>
                <a:spcPts val="0"/>
              </a:spcAft>
              <a:buNone/>
            </a:pPr>
            <a:r>
              <a:rPr lang="en" sz="1600">
                <a:solidFill>
                  <a:schemeClr val="lt1"/>
                </a:solidFill>
                <a:latin typeface="Montserrat SemiBold"/>
                <a:ea typeface="Montserrat SemiBold"/>
                <a:cs typeface="Montserrat SemiBold"/>
                <a:sym typeface="Montserrat SemiBold"/>
              </a:rPr>
              <a:t>Architecture</a:t>
            </a:r>
            <a:endParaRPr>
              <a:solidFill>
                <a:schemeClr val="lt1"/>
              </a:solidFill>
            </a:endParaRPr>
          </a:p>
        </p:txBody>
      </p:sp>
      <p:sp>
        <p:nvSpPr>
          <p:cNvPr id="4" name="Google Shape;181;p17">
            <a:extLst>
              <a:ext uri="{FF2B5EF4-FFF2-40B4-BE49-F238E27FC236}">
                <a16:creationId xmlns:a16="http://schemas.microsoft.com/office/drawing/2014/main" id="{129A3F29-7523-E313-FF20-8A496F8BA3CC}"/>
              </a:ext>
            </a:extLst>
          </p:cNvPr>
          <p:cNvSpPr txBox="1"/>
          <p:nvPr/>
        </p:nvSpPr>
        <p:spPr>
          <a:xfrm>
            <a:off x="830120" y="1663045"/>
            <a:ext cx="3462560" cy="2599075"/>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tx1"/>
                </a:solidFill>
                <a:latin typeface="Montserrat Medium"/>
                <a:ea typeface="Montserrat Medium"/>
                <a:cs typeface="Montserrat Medium"/>
                <a:sym typeface="Montserrat Medium"/>
              </a:rPr>
              <a:t>Password strength/complexity validation not yet enforced</a:t>
            </a:r>
            <a:br>
              <a:rPr lang="en-US">
                <a:solidFill>
                  <a:schemeClr val="tx1"/>
                </a:solidFill>
                <a:latin typeface="Montserrat Medium"/>
                <a:ea typeface="Montserrat Medium"/>
                <a:cs typeface="Montserrat Medium"/>
                <a:sym typeface="Montserrat Medium"/>
              </a:rPr>
            </a:br>
            <a:endParaRPr lang="en-US">
              <a:solidFill>
                <a:schemeClr val="tx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tx1"/>
                </a:solidFill>
                <a:latin typeface="Montserrat Medium"/>
                <a:ea typeface="Montserrat Medium"/>
                <a:cs typeface="Montserrat Medium"/>
                <a:sym typeface="Montserrat Medium"/>
              </a:rPr>
              <a:t>Secure cloud deployment (HTTPS, secrets manager vs. </a:t>
            </a:r>
            <a:r>
              <a:rPr lang="en-US">
                <a:solidFill>
                  <a:srgbClr val="C00000"/>
                </a:solidFill>
                <a:latin typeface="Montserrat Medium"/>
                <a:ea typeface="Montserrat Medium"/>
                <a:cs typeface="Montserrat Medium"/>
                <a:sym typeface="Montserrat Medium"/>
              </a:rPr>
              <a:t>.env</a:t>
            </a:r>
            <a:r>
              <a:rPr lang="en-US">
                <a:solidFill>
                  <a:schemeClr val="tx1"/>
                </a:solidFill>
                <a:latin typeface="Montserrat Medium"/>
                <a:ea typeface="Montserrat Medium"/>
                <a:cs typeface="Montserrat Medium"/>
                <a:sym typeface="Montserrat Medium"/>
              </a:rPr>
              <a:t>) not yet implemented</a:t>
            </a:r>
            <a:br>
              <a:rPr lang="en-US">
                <a:solidFill>
                  <a:schemeClr val="tx1"/>
                </a:solidFill>
                <a:latin typeface="Montserrat Medium"/>
                <a:ea typeface="Montserrat Medium"/>
                <a:cs typeface="Montserrat Medium"/>
                <a:sym typeface="Montserrat Medium"/>
              </a:rPr>
            </a:br>
            <a:endParaRPr lang="en-US">
              <a:solidFill>
                <a:schemeClr val="tx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tx1"/>
                </a:solidFill>
                <a:latin typeface="Montserrat Medium"/>
                <a:ea typeface="Montserrat Medium"/>
                <a:cs typeface="Montserrat Medium"/>
                <a:sym typeface="Montserrat Medium"/>
              </a:rPr>
              <a:t>Authentication as a standalone microservice, separated from the main app</a:t>
            </a:r>
          </a:p>
        </p:txBody>
      </p:sp>
      <p:sp>
        <p:nvSpPr>
          <p:cNvPr id="6" name="Google Shape;181;p17">
            <a:extLst>
              <a:ext uri="{FF2B5EF4-FFF2-40B4-BE49-F238E27FC236}">
                <a16:creationId xmlns:a16="http://schemas.microsoft.com/office/drawing/2014/main" id="{09E07E8D-F3DF-51C7-FDAF-8CAEA45444C7}"/>
              </a:ext>
            </a:extLst>
          </p:cNvPr>
          <p:cNvSpPr txBox="1"/>
          <p:nvPr/>
        </p:nvSpPr>
        <p:spPr>
          <a:xfrm>
            <a:off x="4851320" y="1688038"/>
            <a:ext cx="3462560" cy="2599075"/>
          </a:xfrm>
          <a:prstGeom prst="rect">
            <a:avLst/>
          </a:prstGeom>
          <a:noFill/>
          <a:ln>
            <a:noFill/>
          </a:ln>
        </p:spPr>
        <p:txBody>
          <a:bodyPr spcFirstLastPara="1" wrap="square" lIns="91425" tIns="91425" rIns="91425" bIns="91425" anchor="t" anchorCtr="0">
            <a:noAutofit/>
          </a:bodyPr>
          <a:lstStyle/>
          <a:p>
            <a:pPr marL="182880" lvl="0" indent="-167640" algn="l" rtl="0">
              <a:spcBef>
                <a:spcPts val="0"/>
              </a:spcBef>
              <a:spcAft>
                <a:spcPts val="0"/>
              </a:spcAft>
              <a:buClr>
                <a:schemeClr val="dk1"/>
              </a:buClr>
              <a:buSzPts val="1200"/>
              <a:buFont typeface="Montserrat Medium"/>
              <a:buChar char="●"/>
            </a:pPr>
            <a:r>
              <a:rPr lang="en-US">
                <a:solidFill>
                  <a:schemeClr val="tx1"/>
                </a:solidFill>
                <a:latin typeface="Montserrat Medium"/>
                <a:ea typeface="Montserrat Medium"/>
                <a:cs typeface="Montserrat Medium"/>
                <a:sym typeface="Montserrat Medium"/>
              </a:rPr>
              <a:t>UX improvements: Bootstrap styling, page navigation</a:t>
            </a:r>
            <a:br>
              <a:rPr lang="en-US">
                <a:solidFill>
                  <a:schemeClr val="tx1"/>
                </a:solidFill>
                <a:latin typeface="Montserrat Medium"/>
                <a:ea typeface="Montserrat Medium"/>
                <a:cs typeface="Montserrat Medium"/>
                <a:sym typeface="Montserrat Medium"/>
              </a:rPr>
            </a:br>
            <a:endParaRPr lang="en-US">
              <a:solidFill>
                <a:schemeClr val="tx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tx1"/>
                </a:solidFill>
                <a:latin typeface="Montserrat Medium"/>
                <a:ea typeface="Montserrat Medium"/>
                <a:cs typeface="Montserrat Medium"/>
                <a:sym typeface="Montserrat Medium"/>
              </a:rPr>
              <a:t>Scalability: containerization with Docker</a:t>
            </a:r>
            <a:br>
              <a:rPr lang="en-US">
                <a:solidFill>
                  <a:schemeClr val="tx1"/>
                </a:solidFill>
                <a:latin typeface="Montserrat Medium"/>
                <a:ea typeface="Montserrat Medium"/>
                <a:cs typeface="Montserrat Medium"/>
                <a:sym typeface="Montserrat Medium"/>
              </a:rPr>
            </a:br>
            <a:endParaRPr lang="en-US">
              <a:solidFill>
                <a:schemeClr val="tx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tx1"/>
                </a:solidFill>
                <a:latin typeface="Montserrat Medium"/>
                <a:ea typeface="Montserrat Medium"/>
                <a:cs typeface="Montserrat Medium"/>
                <a:sym typeface="Montserrat Medium"/>
              </a:rPr>
              <a:t>Testing orientation: expand </a:t>
            </a:r>
            <a:r>
              <a:rPr lang="en-US" err="1">
                <a:solidFill>
                  <a:srgbClr val="C00000"/>
                </a:solidFill>
                <a:latin typeface="Montserrat Medium"/>
                <a:ea typeface="Montserrat Medium"/>
                <a:cs typeface="Montserrat Medium"/>
                <a:sym typeface="Montserrat Medium"/>
              </a:rPr>
              <a:t>pytest</a:t>
            </a:r>
            <a:r>
              <a:rPr lang="en-US">
                <a:solidFill>
                  <a:schemeClr val="tx1"/>
                </a:solidFill>
                <a:latin typeface="Montserrat Medium"/>
                <a:ea typeface="Montserrat Medium"/>
                <a:cs typeface="Montserrat Medium"/>
                <a:sym typeface="Montserrat Medium"/>
              </a:rPr>
              <a:t> suite beyond initial tests</a:t>
            </a:r>
          </a:p>
        </p:txBody>
      </p:sp>
    </p:spTree>
    <p:extLst>
      <p:ext uri="{BB962C8B-B14F-4D97-AF65-F5344CB8AC3E}">
        <p14:creationId xmlns:p14="http://schemas.microsoft.com/office/powerpoint/2010/main" val="1993281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AAF8C7AC-D5B9-F0BB-863E-89FF5E08DAF2}"/>
            </a:ext>
          </a:extLst>
        </p:cNvPr>
        <p:cNvGrpSpPr/>
        <p:nvPr/>
      </p:nvGrpSpPr>
      <p:grpSpPr>
        <a:xfrm>
          <a:off x="0" y="0"/>
          <a:ext cx="0" cy="0"/>
          <a:chOff x="0" y="0"/>
          <a:chExt cx="0" cy="0"/>
        </a:xfrm>
      </p:grpSpPr>
      <p:sp>
        <p:nvSpPr>
          <p:cNvPr id="225" name="Google Shape;225;p18">
            <a:extLst>
              <a:ext uri="{FF2B5EF4-FFF2-40B4-BE49-F238E27FC236}">
                <a16:creationId xmlns:a16="http://schemas.microsoft.com/office/drawing/2014/main" id="{5BA9AA42-BBB1-7CA0-4534-A200454C4125}"/>
              </a:ext>
            </a:extLst>
          </p:cNvPr>
          <p:cNvSpPr txBox="1">
            <a:spLocks noGrp="1"/>
          </p:cNvSpPr>
          <p:nvPr>
            <p:ph type="title"/>
          </p:nvPr>
        </p:nvSpPr>
        <p:spPr>
          <a:xfrm>
            <a:off x="713250" y="1168401"/>
            <a:ext cx="7717500" cy="25867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6. Live Demo</a:t>
            </a:r>
            <a:endParaRPr/>
          </a:p>
        </p:txBody>
      </p:sp>
      <p:sp>
        <p:nvSpPr>
          <p:cNvPr id="11" name="Google Shape;181;p17">
            <a:extLst>
              <a:ext uri="{FF2B5EF4-FFF2-40B4-BE49-F238E27FC236}">
                <a16:creationId xmlns:a16="http://schemas.microsoft.com/office/drawing/2014/main" id="{8BC0EA84-75E0-4DDC-43A2-5632953374AB}"/>
              </a:ext>
            </a:extLst>
          </p:cNvPr>
          <p:cNvSpPr txBox="1"/>
          <p:nvPr/>
        </p:nvSpPr>
        <p:spPr>
          <a:xfrm>
            <a:off x="1676868" y="1767369"/>
            <a:ext cx="5790264" cy="1414888"/>
          </a:xfrm>
          <a:prstGeom prst="rect">
            <a:avLst/>
          </a:prstGeom>
          <a:noFill/>
          <a:ln>
            <a:noFill/>
          </a:ln>
        </p:spPr>
        <p:txBody>
          <a:bodyPr spcFirstLastPara="1" wrap="square" lIns="91425" tIns="91425" rIns="91425" bIns="91425" anchor="t" anchorCtr="0">
            <a:noAutofit/>
          </a:bodyPr>
          <a:lstStyle/>
          <a:p>
            <a:pPr marL="182880" indent="-167640">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Register → check email → verify account</a:t>
            </a:r>
            <a:br>
              <a:rPr lang="en-US">
                <a:latin typeface="Montserrat Medium"/>
                <a:ea typeface="Montserrat Medium"/>
                <a:cs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Login → check email for PIN → enter PIN → dashboard access</a:t>
            </a:r>
            <a:br>
              <a:rPr lang="en-US">
                <a:latin typeface="Montserrat Medium"/>
                <a:ea typeface="Montserrat Medium"/>
                <a:cs typeface="Montserrat Medium"/>
              </a:rPr>
            </a:br>
            <a:endParaRPr lang="en-US">
              <a:solidFill>
                <a:schemeClr val="dk1"/>
              </a:solidFill>
              <a:latin typeface="Montserrat Medium"/>
              <a:ea typeface="Montserrat Medium"/>
              <a:cs typeface="Montserrat Medium"/>
              <a:sym typeface="Montserrat Medium"/>
            </a:endParaRPr>
          </a:p>
          <a:p>
            <a:pPr marL="182880" lvl="0" indent="-167640" algn="l" rtl="0">
              <a:spcBef>
                <a:spcPts val="0"/>
              </a:spcBef>
              <a:spcAft>
                <a:spcPts val="0"/>
              </a:spcAft>
              <a:buClr>
                <a:schemeClr val="dk1"/>
              </a:buClr>
              <a:buSzPts val="1200"/>
              <a:buFont typeface="Montserrat Medium"/>
              <a:buChar char="●"/>
            </a:pPr>
            <a:r>
              <a:rPr lang="en-US">
                <a:solidFill>
                  <a:schemeClr val="dk1"/>
                </a:solidFill>
                <a:latin typeface="Montserrat Medium"/>
                <a:ea typeface="Montserrat Medium"/>
                <a:cs typeface="Montserrat Medium"/>
                <a:sym typeface="Montserrat Medium"/>
              </a:rPr>
              <a:t>Logout</a:t>
            </a:r>
            <a:endParaRPr lang="en-US">
              <a:solidFill>
                <a:schemeClr val="dk1"/>
              </a:solidFill>
              <a:latin typeface="Montserrat Medium"/>
              <a:ea typeface="Montserrat Medium"/>
              <a:cs typeface="Montserrat Medium"/>
            </a:endParaRPr>
          </a:p>
        </p:txBody>
      </p:sp>
    </p:spTree>
    <p:extLst>
      <p:ext uri="{BB962C8B-B14F-4D97-AF65-F5344CB8AC3E}">
        <p14:creationId xmlns:p14="http://schemas.microsoft.com/office/powerpoint/2010/main" val="4030446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5DAC0413-0BB8-94ED-A7A9-70D31E4779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854730-3480-D623-86C2-E8C012CB2B53}"/>
              </a:ext>
            </a:extLst>
          </p:cNvPr>
          <p:cNvPicPr>
            <a:picLocks noChangeAspect="1"/>
          </p:cNvPicPr>
          <p:nvPr/>
        </p:nvPicPr>
        <p:blipFill>
          <a:blip r:embed="rId3"/>
          <a:srcRect l="2632" t="2254" r="929" b="14549"/>
          <a:stretch>
            <a:fillRect/>
          </a:stretch>
        </p:blipFill>
        <p:spPr>
          <a:xfrm>
            <a:off x="3479838" y="3101046"/>
            <a:ext cx="2729875" cy="1788328"/>
          </a:xfrm>
          <a:prstGeom prst="rect">
            <a:avLst/>
          </a:prstGeom>
        </p:spPr>
      </p:pic>
      <p:sp>
        <p:nvSpPr>
          <p:cNvPr id="225" name="Google Shape;225;p18">
            <a:extLst>
              <a:ext uri="{FF2B5EF4-FFF2-40B4-BE49-F238E27FC236}">
                <a16:creationId xmlns:a16="http://schemas.microsoft.com/office/drawing/2014/main" id="{EC506F50-ABAD-D1FB-EA32-7E1A306A5FFC}"/>
              </a:ext>
            </a:extLst>
          </p:cNvPr>
          <p:cNvSpPr txBox="1">
            <a:spLocks noGrp="1"/>
          </p:cNvSpPr>
          <p:nvPr>
            <p:ph type="title"/>
          </p:nvPr>
        </p:nvSpPr>
        <p:spPr>
          <a:xfrm>
            <a:off x="712161" y="2725"/>
            <a:ext cx="7717500" cy="258671"/>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6. Results</a:t>
            </a:r>
            <a:endParaRPr/>
          </a:p>
        </p:txBody>
      </p:sp>
      <p:pic>
        <p:nvPicPr>
          <p:cNvPr id="3" name="Picture 2">
            <a:extLst>
              <a:ext uri="{FF2B5EF4-FFF2-40B4-BE49-F238E27FC236}">
                <a16:creationId xmlns:a16="http://schemas.microsoft.com/office/drawing/2014/main" id="{F1B01E06-7D8D-3D29-132B-6B20351297EA}"/>
              </a:ext>
            </a:extLst>
          </p:cNvPr>
          <p:cNvPicPr>
            <a:picLocks noChangeAspect="1"/>
          </p:cNvPicPr>
          <p:nvPr/>
        </p:nvPicPr>
        <p:blipFill>
          <a:blip r:embed="rId4"/>
          <a:stretch>
            <a:fillRect/>
          </a:stretch>
        </p:blipFill>
        <p:spPr>
          <a:xfrm>
            <a:off x="-368" y="490800"/>
            <a:ext cx="2113911" cy="2266901"/>
          </a:xfrm>
          <a:prstGeom prst="rect">
            <a:avLst/>
          </a:prstGeom>
        </p:spPr>
      </p:pic>
      <p:pic>
        <p:nvPicPr>
          <p:cNvPr id="2" name="Picture 1">
            <a:extLst>
              <a:ext uri="{FF2B5EF4-FFF2-40B4-BE49-F238E27FC236}">
                <a16:creationId xmlns:a16="http://schemas.microsoft.com/office/drawing/2014/main" id="{94A58116-F898-6881-CF9A-EDE2F2497257}"/>
              </a:ext>
            </a:extLst>
          </p:cNvPr>
          <p:cNvPicPr>
            <a:picLocks noChangeAspect="1"/>
          </p:cNvPicPr>
          <p:nvPr/>
        </p:nvPicPr>
        <p:blipFill>
          <a:blip r:embed="rId5"/>
          <a:srcRect l="4198" t="3509" r="2578" b="15789"/>
          <a:stretch>
            <a:fillRect/>
          </a:stretch>
        </p:blipFill>
        <p:spPr>
          <a:xfrm>
            <a:off x="6669503" y="3063047"/>
            <a:ext cx="2474693" cy="1797335"/>
          </a:xfrm>
          <a:prstGeom prst="rect">
            <a:avLst/>
          </a:prstGeom>
        </p:spPr>
      </p:pic>
      <p:pic>
        <p:nvPicPr>
          <p:cNvPr id="4" name="Picture 3">
            <a:extLst>
              <a:ext uri="{FF2B5EF4-FFF2-40B4-BE49-F238E27FC236}">
                <a16:creationId xmlns:a16="http://schemas.microsoft.com/office/drawing/2014/main" id="{78BC022D-B78C-8651-6201-67E086A4D4F7}"/>
              </a:ext>
            </a:extLst>
          </p:cNvPr>
          <p:cNvPicPr>
            <a:picLocks noChangeAspect="1"/>
          </p:cNvPicPr>
          <p:nvPr/>
        </p:nvPicPr>
        <p:blipFill>
          <a:blip r:embed="rId6"/>
          <a:stretch>
            <a:fillRect/>
          </a:stretch>
        </p:blipFill>
        <p:spPr>
          <a:xfrm>
            <a:off x="3947115" y="490227"/>
            <a:ext cx="4819731" cy="1016313"/>
          </a:xfrm>
          <a:prstGeom prst="rect">
            <a:avLst/>
          </a:prstGeom>
        </p:spPr>
      </p:pic>
      <p:pic>
        <p:nvPicPr>
          <p:cNvPr id="6" name="Picture 5">
            <a:extLst>
              <a:ext uri="{FF2B5EF4-FFF2-40B4-BE49-F238E27FC236}">
                <a16:creationId xmlns:a16="http://schemas.microsoft.com/office/drawing/2014/main" id="{6C44CEEE-5111-07BC-AD70-1C3B579ADA72}"/>
              </a:ext>
            </a:extLst>
          </p:cNvPr>
          <p:cNvPicPr>
            <a:picLocks noChangeAspect="1"/>
          </p:cNvPicPr>
          <p:nvPr/>
        </p:nvPicPr>
        <p:blipFill>
          <a:blip r:embed="rId7"/>
          <a:stretch>
            <a:fillRect/>
          </a:stretch>
        </p:blipFill>
        <p:spPr>
          <a:xfrm>
            <a:off x="2286000" y="1602386"/>
            <a:ext cx="4819500" cy="1029727"/>
          </a:xfrm>
          <a:prstGeom prst="rect">
            <a:avLst/>
          </a:prstGeom>
        </p:spPr>
      </p:pic>
      <p:pic>
        <p:nvPicPr>
          <p:cNvPr id="7" name="Picture 6">
            <a:extLst>
              <a:ext uri="{FF2B5EF4-FFF2-40B4-BE49-F238E27FC236}">
                <a16:creationId xmlns:a16="http://schemas.microsoft.com/office/drawing/2014/main" id="{4DF0D47B-1932-A5EF-356D-DCAA55670167}"/>
              </a:ext>
            </a:extLst>
          </p:cNvPr>
          <p:cNvPicPr>
            <a:picLocks noChangeAspect="1"/>
          </p:cNvPicPr>
          <p:nvPr/>
        </p:nvPicPr>
        <p:blipFill>
          <a:blip r:embed="rId8"/>
          <a:stretch>
            <a:fillRect/>
          </a:stretch>
        </p:blipFill>
        <p:spPr>
          <a:xfrm>
            <a:off x="20550" y="3077550"/>
            <a:ext cx="3423900" cy="1800900"/>
          </a:xfrm>
          <a:prstGeom prst="rect">
            <a:avLst/>
          </a:prstGeom>
        </p:spPr>
      </p:pic>
      <p:sp>
        <p:nvSpPr>
          <p:cNvPr id="8" name="Arrow: Right 7">
            <a:extLst>
              <a:ext uri="{FF2B5EF4-FFF2-40B4-BE49-F238E27FC236}">
                <a16:creationId xmlns:a16="http://schemas.microsoft.com/office/drawing/2014/main" id="{980CF518-27A7-BF19-631E-2231541A0174}"/>
              </a:ext>
            </a:extLst>
          </p:cNvPr>
          <p:cNvSpPr/>
          <p:nvPr/>
        </p:nvSpPr>
        <p:spPr>
          <a:xfrm>
            <a:off x="2285590" y="629107"/>
            <a:ext cx="1530985" cy="142363"/>
          </a:xfrm>
          <a:prstGeom prst="rightArrow">
            <a:avLst/>
          </a:prstGeom>
          <a:solidFill>
            <a:schemeClr val="bg2">
              <a:lumMod val="40000"/>
              <a:lumOff val="6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92181CE4-3758-2E5B-6D4D-9FA826D7DEDF}"/>
              </a:ext>
            </a:extLst>
          </p:cNvPr>
          <p:cNvSpPr/>
          <p:nvPr/>
        </p:nvSpPr>
        <p:spPr>
          <a:xfrm>
            <a:off x="6209590" y="3878107"/>
            <a:ext cx="446485" cy="182863"/>
          </a:xfrm>
          <a:prstGeom prst="leftArrow">
            <a:avLst/>
          </a:prstGeom>
          <a:solidFill>
            <a:schemeClr val="bg2">
              <a:lumMod val="40000"/>
              <a:lumOff val="6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1">
            <a:extLst>
              <a:ext uri="{FF2B5EF4-FFF2-40B4-BE49-F238E27FC236}">
                <a16:creationId xmlns:a16="http://schemas.microsoft.com/office/drawing/2014/main" id="{F1D1B223-71BF-0610-F996-A43827CC9D02}"/>
              </a:ext>
            </a:extLst>
          </p:cNvPr>
          <p:cNvSpPr/>
          <p:nvPr/>
        </p:nvSpPr>
        <p:spPr>
          <a:xfrm rot="5400000">
            <a:off x="4650340" y="2791357"/>
            <a:ext cx="383485" cy="155863"/>
          </a:xfrm>
          <a:prstGeom prst="leftArrow">
            <a:avLst/>
          </a:prstGeom>
          <a:solidFill>
            <a:schemeClr val="bg2">
              <a:lumMod val="40000"/>
              <a:lumOff val="6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1">
            <a:extLst>
              <a:ext uri="{FF2B5EF4-FFF2-40B4-BE49-F238E27FC236}">
                <a16:creationId xmlns:a16="http://schemas.microsoft.com/office/drawing/2014/main" id="{E531E022-F5FC-D93C-3532-1919BCCC2FD6}"/>
              </a:ext>
            </a:extLst>
          </p:cNvPr>
          <p:cNvSpPr/>
          <p:nvPr/>
        </p:nvSpPr>
        <p:spPr>
          <a:xfrm rot="-5400000">
            <a:off x="2310340" y="2791357"/>
            <a:ext cx="378985" cy="160363"/>
          </a:xfrm>
          <a:prstGeom prst="leftArrow">
            <a:avLst/>
          </a:prstGeom>
          <a:solidFill>
            <a:schemeClr val="bg2">
              <a:lumMod val="40000"/>
              <a:lumOff val="6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2262227-0E9B-DC1D-C938-D5258E05A134}"/>
              </a:ext>
            </a:extLst>
          </p:cNvPr>
          <p:cNvSpPr txBox="1"/>
          <p:nvPr/>
        </p:nvSpPr>
        <p:spPr>
          <a:xfrm>
            <a:off x="189371" y="2753944"/>
            <a:ext cx="192704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Fig1. Register Form</a:t>
            </a:r>
          </a:p>
        </p:txBody>
      </p:sp>
      <p:sp>
        <p:nvSpPr>
          <p:cNvPr id="17" name="TextBox 16">
            <a:extLst>
              <a:ext uri="{FF2B5EF4-FFF2-40B4-BE49-F238E27FC236}">
                <a16:creationId xmlns:a16="http://schemas.microsoft.com/office/drawing/2014/main" id="{047CC0C9-F797-6896-2403-3DA4861C213A}"/>
              </a:ext>
            </a:extLst>
          </p:cNvPr>
          <p:cNvSpPr txBox="1"/>
          <p:nvPr/>
        </p:nvSpPr>
        <p:spPr>
          <a:xfrm>
            <a:off x="2970370" y="769444"/>
            <a:ext cx="97754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t>Fig2. Activation Email</a:t>
            </a:r>
          </a:p>
        </p:txBody>
      </p:sp>
      <p:sp>
        <p:nvSpPr>
          <p:cNvPr id="18" name="TextBox 17">
            <a:extLst>
              <a:ext uri="{FF2B5EF4-FFF2-40B4-BE49-F238E27FC236}">
                <a16:creationId xmlns:a16="http://schemas.microsoft.com/office/drawing/2014/main" id="{0BB4DE27-876D-62C0-0F3E-F97B8A750EB6}"/>
              </a:ext>
            </a:extLst>
          </p:cNvPr>
          <p:cNvSpPr txBox="1"/>
          <p:nvPr/>
        </p:nvSpPr>
        <p:spPr>
          <a:xfrm>
            <a:off x="7105869" y="1750444"/>
            <a:ext cx="97754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Fig5. PIN Verify Email</a:t>
            </a:r>
          </a:p>
        </p:txBody>
      </p:sp>
      <p:sp>
        <p:nvSpPr>
          <p:cNvPr id="19" name="TextBox 18">
            <a:extLst>
              <a:ext uri="{FF2B5EF4-FFF2-40B4-BE49-F238E27FC236}">
                <a16:creationId xmlns:a16="http://schemas.microsoft.com/office/drawing/2014/main" id="{3C88AC1A-FDFC-84A7-F83A-B14DF0F74DD0}"/>
              </a:ext>
            </a:extLst>
          </p:cNvPr>
          <p:cNvSpPr txBox="1"/>
          <p:nvPr/>
        </p:nvSpPr>
        <p:spPr>
          <a:xfrm>
            <a:off x="7020370" y="4855444"/>
            <a:ext cx="192704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Fig3. Login Form</a:t>
            </a:r>
          </a:p>
        </p:txBody>
      </p:sp>
      <p:sp>
        <p:nvSpPr>
          <p:cNvPr id="20" name="TextBox 19">
            <a:extLst>
              <a:ext uri="{FF2B5EF4-FFF2-40B4-BE49-F238E27FC236}">
                <a16:creationId xmlns:a16="http://schemas.microsoft.com/office/drawing/2014/main" id="{1004C4B6-8690-EDAD-F05F-D2D69E42A6F6}"/>
              </a:ext>
            </a:extLst>
          </p:cNvPr>
          <p:cNvSpPr txBox="1"/>
          <p:nvPr/>
        </p:nvSpPr>
        <p:spPr>
          <a:xfrm>
            <a:off x="3883869" y="4855444"/>
            <a:ext cx="192704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Fig4. Verify PIN Form</a:t>
            </a:r>
          </a:p>
        </p:txBody>
      </p:sp>
      <p:sp>
        <p:nvSpPr>
          <p:cNvPr id="21" name="TextBox 20">
            <a:extLst>
              <a:ext uri="{FF2B5EF4-FFF2-40B4-BE49-F238E27FC236}">
                <a16:creationId xmlns:a16="http://schemas.microsoft.com/office/drawing/2014/main" id="{B7FCC432-83EF-1E32-082F-0225099EF88F}"/>
              </a:ext>
            </a:extLst>
          </p:cNvPr>
          <p:cNvSpPr txBox="1"/>
          <p:nvPr/>
        </p:nvSpPr>
        <p:spPr>
          <a:xfrm>
            <a:off x="823868" y="4837444"/>
            <a:ext cx="192704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Fig6. Main page</a:t>
            </a:r>
          </a:p>
        </p:txBody>
      </p:sp>
      <p:sp>
        <p:nvSpPr>
          <p:cNvPr id="22" name="Arrow: Right 11">
            <a:extLst>
              <a:ext uri="{FF2B5EF4-FFF2-40B4-BE49-F238E27FC236}">
                <a16:creationId xmlns:a16="http://schemas.microsoft.com/office/drawing/2014/main" id="{0BAC42A0-1E3A-3590-E2A5-E632DFA61C27}"/>
              </a:ext>
            </a:extLst>
          </p:cNvPr>
          <p:cNvSpPr/>
          <p:nvPr/>
        </p:nvSpPr>
        <p:spPr>
          <a:xfrm rot="-5400000">
            <a:off x="7840840" y="2003857"/>
            <a:ext cx="1305985" cy="547363"/>
          </a:xfrm>
          <a:prstGeom prst="leftArrow">
            <a:avLst/>
          </a:prstGeom>
          <a:solidFill>
            <a:schemeClr val="bg2">
              <a:lumMod val="40000"/>
              <a:lumOff val="6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5003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2432"/>
        <p:cNvGrpSpPr/>
        <p:nvPr/>
      </p:nvGrpSpPr>
      <p:grpSpPr>
        <a:xfrm>
          <a:off x="0" y="0"/>
          <a:ext cx="0" cy="0"/>
          <a:chOff x="0" y="0"/>
          <a:chExt cx="0" cy="0"/>
        </a:xfrm>
      </p:grpSpPr>
      <p:sp>
        <p:nvSpPr>
          <p:cNvPr id="2433" name="Google Shape;2433;p30"/>
          <p:cNvSpPr txBox="1">
            <a:spLocks noGrp="1"/>
          </p:cNvSpPr>
          <p:nvPr>
            <p:ph type="title" idx="4294967295"/>
          </p:nvPr>
        </p:nvSpPr>
        <p:spPr>
          <a:xfrm>
            <a:off x="1475184" y="1182282"/>
            <a:ext cx="5010016" cy="17670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5400" b="1">
                <a:latin typeface="Montserrat" panose="00000500000000000000" pitchFamily="2" charset="0"/>
                <a:ea typeface="Arial"/>
                <a:cs typeface="Arial"/>
                <a:sym typeface="Arial"/>
              </a:rPr>
              <a:t>Thank You for Listening!</a:t>
            </a:r>
            <a:endParaRPr sz="5400" b="1">
              <a:solidFill>
                <a:srgbClr val="FFFFFF"/>
              </a:solidFill>
              <a:latin typeface="Montserrat" panose="00000500000000000000" pitchFamily="2" charset="0"/>
              <a:ea typeface="Arial"/>
              <a:cs typeface="Arial"/>
              <a:sym typeface="Arial"/>
            </a:endParaRPr>
          </a:p>
        </p:txBody>
      </p:sp>
      <p:grpSp>
        <p:nvGrpSpPr>
          <p:cNvPr id="2436" name="Google Shape;2436;p30"/>
          <p:cNvGrpSpPr/>
          <p:nvPr/>
        </p:nvGrpSpPr>
        <p:grpSpPr>
          <a:xfrm>
            <a:off x="6874322" y="1571957"/>
            <a:ext cx="1446116" cy="2863897"/>
            <a:chOff x="6529419" y="1724307"/>
            <a:chExt cx="1480463" cy="2931917"/>
          </a:xfrm>
        </p:grpSpPr>
        <p:grpSp>
          <p:nvGrpSpPr>
            <p:cNvPr id="2437" name="Google Shape;2437;p30"/>
            <p:cNvGrpSpPr/>
            <p:nvPr/>
          </p:nvGrpSpPr>
          <p:grpSpPr>
            <a:xfrm>
              <a:off x="6556827" y="1724307"/>
              <a:ext cx="956596" cy="944294"/>
              <a:chOff x="3800349" y="1238762"/>
              <a:chExt cx="1098904" cy="1084772"/>
            </a:xfrm>
          </p:grpSpPr>
          <p:grpSp>
            <p:nvGrpSpPr>
              <p:cNvPr id="2438" name="Google Shape;2438;p30"/>
              <p:cNvGrpSpPr/>
              <p:nvPr/>
            </p:nvGrpSpPr>
            <p:grpSpPr>
              <a:xfrm>
                <a:off x="3800349" y="1238762"/>
                <a:ext cx="1098904" cy="1084772"/>
                <a:chOff x="3800349" y="1238762"/>
                <a:chExt cx="1098904" cy="1084772"/>
              </a:xfrm>
            </p:grpSpPr>
            <p:sp>
              <p:nvSpPr>
                <p:cNvPr id="2439" name="Google Shape;2439;p30"/>
                <p:cNvSpPr/>
                <p:nvPr/>
              </p:nvSpPr>
              <p:spPr>
                <a:xfrm>
                  <a:off x="3800349" y="1238762"/>
                  <a:ext cx="1098904" cy="1084772"/>
                </a:xfrm>
                <a:custGeom>
                  <a:avLst/>
                  <a:gdLst/>
                  <a:ahLst/>
                  <a:cxnLst/>
                  <a:rect l="l" t="t" r="r" b="b"/>
                  <a:pathLst>
                    <a:path w="45721" h="45133" extrusionOk="0">
                      <a:moveTo>
                        <a:pt x="22825" y="1"/>
                      </a:moveTo>
                      <a:cubicBezTo>
                        <a:pt x="22054" y="1"/>
                        <a:pt x="21283" y="295"/>
                        <a:pt x="20693" y="885"/>
                      </a:cubicBezTo>
                      <a:lnTo>
                        <a:pt x="1179" y="20482"/>
                      </a:lnTo>
                      <a:cubicBezTo>
                        <a:pt x="0" y="21661"/>
                        <a:pt x="0" y="23566"/>
                        <a:pt x="1179" y="24733"/>
                      </a:cubicBezTo>
                      <a:lnTo>
                        <a:pt x="20777" y="44259"/>
                      </a:lnTo>
                      <a:cubicBezTo>
                        <a:pt x="21364" y="44841"/>
                        <a:pt x="22133" y="45133"/>
                        <a:pt x="22900" y="45133"/>
                      </a:cubicBezTo>
                      <a:cubicBezTo>
                        <a:pt x="23672" y="45133"/>
                        <a:pt x="24442" y="44838"/>
                        <a:pt x="25027" y="44247"/>
                      </a:cubicBezTo>
                      <a:lnTo>
                        <a:pt x="32873" y="36377"/>
                      </a:lnTo>
                      <a:cubicBezTo>
                        <a:pt x="33053" y="36197"/>
                        <a:pt x="33283" y="36110"/>
                        <a:pt x="33511" y="36110"/>
                      </a:cubicBezTo>
                      <a:cubicBezTo>
                        <a:pt x="33810" y="36110"/>
                        <a:pt x="34108" y="36260"/>
                        <a:pt x="34290" y="36544"/>
                      </a:cubicBezTo>
                      <a:cubicBezTo>
                        <a:pt x="34743" y="37246"/>
                        <a:pt x="35112" y="38020"/>
                        <a:pt x="35409" y="38806"/>
                      </a:cubicBezTo>
                      <a:cubicBezTo>
                        <a:pt x="35588" y="39294"/>
                        <a:pt x="35909" y="39735"/>
                        <a:pt x="36362" y="40080"/>
                      </a:cubicBezTo>
                      <a:cubicBezTo>
                        <a:pt x="36890" y="40489"/>
                        <a:pt x="37508" y="40695"/>
                        <a:pt x="38128" y="40695"/>
                      </a:cubicBezTo>
                      <a:cubicBezTo>
                        <a:pt x="38682" y="40695"/>
                        <a:pt x="39237" y="40530"/>
                        <a:pt x="39731" y="40199"/>
                      </a:cubicBezTo>
                      <a:cubicBezTo>
                        <a:pt x="41303" y="39127"/>
                        <a:pt x="41446" y="36984"/>
                        <a:pt x="40172" y="35710"/>
                      </a:cubicBezTo>
                      <a:cubicBezTo>
                        <a:pt x="39862" y="35401"/>
                        <a:pt x="39505" y="35186"/>
                        <a:pt x="39112" y="35044"/>
                      </a:cubicBezTo>
                      <a:cubicBezTo>
                        <a:pt x="38326" y="34758"/>
                        <a:pt x="37564" y="34401"/>
                        <a:pt x="36862" y="33948"/>
                      </a:cubicBezTo>
                      <a:cubicBezTo>
                        <a:pt x="36374" y="33639"/>
                        <a:pt x="36279" y="32960"/>
                        <a:pt x="36695" y="32543"/>
                      </a:cubicBezTo>
                      <a:lnTo>
                        <a:pt x="44553" y="24661"/>
                      </a:lnTo>
                      <a:cubicBezTo>
                        <a:pt x="45720" y="23483"/>
                        <a:pt x="45720" y="21578"/>
                        <a:pt x="44542" y="20399"/>
                      </a:cubicBezTo>
                      <a:lnTo>
                        <a:pt x="24956" y="885"/>
                      </a:lnTo>
                      <a:cubicBezTo>
                        <a:pt x="24366" y="295"/>
                        <a:pt x="23595" y="1"/>
                        <a:pt x="22825"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30"/>
                <p:cNvSpPr/>
                <p:nvPr/>
              </p:nvSpPr>
              <p:spPr>
                <a:xfrm>
                  <a:off x="3884758" y="1311226"/>
                  <a:ext cx="287338" cy="287050"/>
                </a:xfrm>
                <a:custGeom>
                  <a:avLst/>
                  <a:gdLst/>
                  <a:ahLst/>
                  <a:cxnLst/>
                  <a:rect l="l" t="t" r="r" b="b"/>
                  <a:pathLst>
                    <a:path w="11955" h="11943" extrusionOk="0">
                      <a:moveTo>
                        <a:pt x="5978" y="1"/>
                      </a:moveTo>
                      <a:cubicBezTo>
                        <a:pt x="2679" y="1"/>
                        <a:pt x="1" y="2668"/>
                        <a:pt x="1" y="5966"/>
                      </a:cubicBezTo>
                      <a:cubicBezTo>
                        <a:pt x="1" y="9276"/>
                        <a:pt x="2679" y="11943"/>
                        <a:pt x="5978" y="11943"/>
                      </a:cubicBezTo>
                      <a:cubicBezTo>
                        <a:pt x="9276" y="11943"/>
                        <a:pt x="11954" y="9276"/>
                        <a:pt x="11954" y="5966"/>
                      </a:cubicBezTo>
                      <a:cubicBezTo>
                        <a:pt x="11954" y="2668"/>
                        <a:pt x="9276" y="1"/>
                        <a:pt x="5978" y="1"/>
                      </a:cubicBezTo>
                      <a:close/>
                    </a:path>
                  </a:pathLst>
                </a:custGeom>
                <a:solidFill>
                  <a:srgbClr val="5EB2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41" name="Google Shape;2441;p30"/>
              <p:cNvSpPr/>
              <p:nvPr/>
            </p:nvSpPr>
            <p:spPr>
              <a:xfrm>
                <a:off x="4162525" y="1593650"/>
                <a:ext cx="374561" cy="374975"/>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2" name="Google Shape;2442;p30"/>
            <p:cNvGrpSpPr/>
            <p:nvPr/>
          </p:nvGrpSpPr>
          <p:grpSpPr>
            <a:xfrm>
              <a:off x="7053286" y="2227254"/>
              <a:ext cx="956596" cy="944252"/>
              <a:chOff x="4370663" y="1816530"/>
              <a:chExt cx="1098904" cy="1084724"/>
            </a:xfrm>
          </p:grpSpPr>
          <p:grpSp>
            <p:nvGrpSpPr>
              <p:cNvPr id="2443" name="Google Shape;2443;p30"/>
              <p:cNvGrpSpPr/>
              <p:nvPr/>
            </p:nvGrpSpPr>
            <p:grpSpPr>
              <a:xfrm>
                <a:off x="4370663" y="1816530"/>
                <a:ext cx="1098904" cy="1084724"/>
                <a:chOff x="4370663" y="1816530"/>
                <a:chExt cx="1098904" cy="1084724"/>
              </a:xfrm>
            </p:grpSpPr>
            <p:sp>
              <p:nvSpPr>
                <p:cNvPr id="2444" name="Google Shape;2444;p30"/>
                <p:cNvSpPr/>
                <p:nvPr/>
              </p:nvSpPr>
              <p:spPr>
                <a:xfrm>
                  <a:off x="4370663" y="1816530"/>
                  <a:ext cx="1098904" cy="1084724"/>
                </a:xfrm>
                <a:custGeom>
                  <a:avLst/>
                  <a:gdLst/>
                  <a:ahLst/>
                  <a:cxnLst/>
                  <a:rect l="l" t="t" r="r" b="b"/>
                  <a:pathLst>
                    <a:path w="45721" h="45131" extrusionOk="0">
                      <a:moveTo>
                        <a:pt x="22862" y="0"/>
                      </a:moveTo>
                      <a:cubicBezTo>
                        <a:pt x="22092" y="0"/>
                        <a:pt x="21324" y="295"/>
                        <a:pt x="20741" y="884"/>
                      </a:cubicBezTo>
                      <a:lnTo>
                        <a:pt x="12871" y="8742"/>
                      </a:lnTo>
                      <a:cubicBezTo>
                        <a:pt x="12698" y="8921"/>
                        <a:pt x="12472" y="9005"/>
                        <a:pt x="12246" y="9005"/>
                      </a:cubicBezTo>
                      <a:cubicBezTo>
                        <a:pt x="11945" y="9005"/>
                        <a:pt x="11643" y="8855"/>
                        <a:pt x="11466" y="8576"/>
                      </a:cubicBezTo>
                      <a:cubicBezTo>
                        <a:pt x="11014" y="7861"/>
                        <a:pt x="10645" y="7099"/>
                        <a:pt x="10347" y="6302"/>
                      </a:cubicBezTo>
                      <a:cubicBezTo>
                        <a:pt x="10168" y="5813"/>
                        <a:pt x="9847" y="5373"/>
                        <a:pt x="9394" y="5028"/>
                      </a:cubicBezTo>
                      <a:cubicBezTo>
                        <a:pt x="8866" y="4619"/>
                        <a:pt x="8248" y="4413"/>
                        <a:pt x="7630" y="4413"/>
                      </a:cubicBezTo>
                      <a:cubicBezTo>
                        <a:pt x="7078" y="4413"/>
                        <a:pt x="6526" y="4577"/>
                        <a:pt x="6037" y="4909"/>
                      </a:cubicBezTo>
                      <a:cubicBezTo>
                        <a:pt x="4465" y="5968"/>
                        <a:pt x="4310" y="8123"/>
                        <a:pt x="5584" y="9385"/>
                      </a:cubicBezTo>
                      <a:cubicBezTo>
                        <a:pt x="5894" y="9695"/>
                        <a:pt x="6251" y="9921"/>
                        <a:pt x="6632" y="10064"/>
                      </a:cubicBezTo>
                      <a:cubicBezTo>
                        <a:pt x="7418" y="10350"/>
                        <a:pt x="8180" y="10707"/>
                        <a:pt x="8882" y="11159"/>
                      </a:cubicBezTo>
                      <a:cubicBezTo>
                        <a:pt x="9383"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30"/>
                <p:cNvSpPr/>
                <p:nvPr/>
              </p:nvSpPr>
              <p:spPr>
                <a:xfrm>
                  <a:off x="5055718" y="1904160"/>
                  <a:ext cx="287338" cy="287338"/>
                </a:xfrm>
                <a:custGeom>
                  <a:avLst/>
                  <a:gdLst/>
                  <a:ahLst/>
                  <a:cxnLst/>
                  <a:rect l="l" t="t" r="r" b="b"/>
                  <a:pathLst>
                    <a:path w="11955" h="11955" extrusionOk="0">
                      <a:moveTo>
                        <a:pt x="5978" y="0"/>
                      </a:moveTo>
                      <a:cubicBezTo>
                        <a:pt x="2680" y="0"/>
                        <a:pt x="1" y="2679"/>
                        <a:pt x="1" y="5977"/>
                      </a:cubicBezTo>
                      <a:cubicBezTo>
                        <a:pt x="1" y="9275"/>
                        <a:pt x="2680" y="11954"/>
                        <a:pt x="5978" y="11954"/>
                      </a:cubicBezTo>
                      <a:cubicBezTo>
                        <a:pt x="9276" y="11954"/>
                        <a:pt x="11955" y="9275"/>
                        <a:pt x="11955" y="5977"/>
                      </a:cubicBezTo>
                      <a:cubicBezTo>
                        <a:pt x="11955" y="2679"/>
                        <a:pt x="9276" y="0"/>
                        <a:pt x="5978" y="0"/>
                      </a:cubicBezTo>
                      <a:close/>
                    </a:path>
                  </a:pathLst>
                </a:custGeom>
                <a:solidFill>
                  <a:srgbClr val="69E7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6" name="Google Shape;2446;p30"/>
              <p:cNvGrpSpPr/>
              <p:nvPr/>
            </p:nvGrpSpPr>
            <p:grpSpPr>
              <a:xfrm>
                <a:off x="4732628" y="2171596"/>
                <a:ext cx="374986" cy="374572"/>
                <a:chOff x="3303268" y="3817349"/>
                <a:chExt cx="346056" cy="345674"/>
              </a:xfrm>
            </p:grpSpPr>
            <p:sp>
              <p:nvSpPr>
                <p:cNvPr id="2447" name="Google Shape;2447;p30"/>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30"/>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30"/>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30"/>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51" name="Google Shape;2451;p30"/>
            <p:cNvGrpSpPr/>
            <p:nvPr/>
          </p:nvGrpSpPr>
          <p:grpSpPr>
            <a:xfrm>
              <a:off x="6547098" y="2715744"/>
              <a:ext cx="956596" cy="944315"/>
              <a:chOff x="3789173" y="2377690"/>
              <a:chExt cx="1098904" cy="1084796"/>
            </a:xfrm>
          </p:grpSpPr>
          <p:grpSp>
            <p:nvGrpSpPr>
              <p:cNvPr id="2452" name="Google Shape;2452;p30"/>
              <p:cNvGrpSpPr/>
              <p:nvPr/>
            </p:nvGrpSpPr>
            <p:grpSpPr>
              <a:xfrm>
                <a:off x="3789173" y="2377690"/>
                <a:ext cx="1098904" cy="1084796"/>
                <a:chOff x="3789173" y="2377690"/>
                <a:chExt cx="1098904" cy="1084796"/>
              </a:xfrm>
            </p:grpSpPr>
            <p:sp>
              <p:nvSpPr>
                <p:cNvPr id="2453" name="Google Shape;2453;p30"/>
                <p:cNvSpPr/>
                <p:nvPr/>
              </p:nvSpPr>
              <p:spPr>
                <a:xfrm>
                  <a:off x="3789173" y="2377690"/>
                  <a:ext cx="1098904" cy="1084796"/>
                </a:xfrm>
                <a:custGeom>
                  <a:avLst/>
                  <a:gdLst/>
                  <a:ahLst/>
                  <a:cxnLst/>
                  <a:rect l="l" t="t" r="r" b="b"/>
                  <a:pathLst>
                    <a:path w="45721" h="45134" extrusionOk="0">
                      <a:moveTo>
                        <a:pt x="22861" y="0"/>
                      </a:moveTo>
                      <a:cubicBezTo>
                        <a:pt x="22090" y="0"/>
                        <a:pt x="21319" y="295"/>
                        <a:pt x="20730" y="884"/>
                      </a:cubicBezTo>
                      <a:lnTo>
                        <a:pt x="1180" y="20446"/>
                      </a:lnTo>
                      <a:cubicBezTo>
                        <a:pt x="1" y="21613"/>
                        <a:pt x="1" y="23518"/>
                        <a:pt x="1180" y="24697"/>
                      </a:cubicBezTo>
                      <a:lnTo>
                        <a:pt x="20730" y="44259"/>
                      </a:lnTo>
                      <a:cubicBezTo>
                        <a:pt x="21319" y="44842"/>
                        <a:pt x="22090" y="45134"/>
                        <a:pt x="22861" y="45134"/>
                      </a:cubicBezTo>
                      <a:cubicBezTo>
                        <a:pt x="23632" y="45134"/>
                        <a:pt x="24403" y="44842"/>
                        <a:pt x="24992" y="44259"/>
                      </a:cubicBezTo>
                      <a:lnTo>
                        <a:pt x="44542" y="24697"/>
                      </a:lnTo>
                      <a:cubicBezTo>
                        <a:pt x="45721" y="23518"/>
                        <a:pt x="45721" y="21613"/>
                        <a:pt x="44542" y="20446"/>
                      </a:cubicBezTo>
                      <a:lnTo>
                        <a:pt x="36684" y="12576"/>
                      </a:lnTo>
                      <a:cubicBezTo>
                        <a:pt x="36267" y="12171"/>
                        <a:pt x="36363" y="11481"/>
                        <a:pt x="36851" y="11171"/>
                      </a:cubicBezTo>
                      <a:cubicBezTo>
                        <a:pt x="37565" y="10719"/>
                        <a:pt x="38327" y="10350"/>
                        <a:pt x="39125" y="10052"/>
                      </a:cubicBezTo>
                      <a:cubicBezTo>
                        <a:pt x="39613" y="9874"/>
                        <a:pt x="40054" y="9552"/>
                        <a:pt x="40399" y="9100"/>
                      </a:cubicBezTo>
                      <a:cubicBezTo>
                        <a:pt x="41173" y="8099"/>
                        <a:pt x="41220" y="6778"/>
                        <a:pt x="40518" y="5730"/>
                      </a:cubicBezTo>
                      <a:cubicBezTo>
                        <a:pt x="39932" y="4868"/>
                        <a:pt x="39013" y="4436"/>
                        <a:pt x="38094" y="4436"/>
                      </a:cubicBezTo>
                      <a:cubicBezTo>
                        <a:pt x="37349" y="4436"/>
                        <a:pt x="36606" y="4720"/>
                        <a:pt x="36041" y="5290"/>
                      </a:cubicBezTo>
                      <a:cubicBezTo>
                        <a:pt x="35732" y="5587"/>
                        <a:pt x="35505" y="5956"/>
                        <a:pt x="35362" y="6337"/>
                      </a:cubicBezTo>
                      <a:cubicBezTo>
                        <a:pt x="35077" y="7123"/>
                        <a:pt x="34720" y="7885"/>
                        <a:pt x="34267" y="8588"/>
                      </a:cubicBezTo>
                      <a:cubicBezTo>
                        <a:pt x="34091" y="8872"/>
                        <a:pt x="33797" y="9021"/>
                        <a:pt x="33498" y="9021"/>
                      </a:cubicBezTo>
                      <a:cubicBezTo>
                        <a:pt x="33271" y="9021"/>
                        <a:pt x="33042" y="8934"/>
                        <a:pt x="32862" y="8754"/>
                      </a:cubicBezTo>
                      <a:lnTo>
                        <a:pt x="24992" y="884"/>
                      </a:lnTo>
                      <a:cubicBezTo>
                        <a:pt x="24403" y="295"/>
                        <a:pt x="23632" y="0"/>
                        <a:pt x="22861" y="0"/>
                      </a:cubicBez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30"/>
                <p:cNvSpPr/>
                <p:nvPr/>
              </p:nvSpPr>
              <p:spPr>
                <a:xfrm>
                  <a:off x="3885623" y="2465897"/>
                  <a:ext cx="287050" cy="287338"/>
                </a:xfrm>
                <a:custGeom>
                  <a:avLst/>
                  <a:gdLst/>
                  <a:ahLst/>
                  <a:cxnLst/>
                  <a:rect l="l" t="t" r="r" b="b"/>
                  <a:pathLst>
                    <a:path w="11943" h="11955" extrusionOk="0">
                      <a:moveTo>
                        <a:pt x="5977" y="0"/>
                      </a:moveTo>
                      <a:cubicBezTo>
                        <a:pt x="2679" y="0"/>
                        <a:pt x="0" y="2679"/>
                        <a:pt x="0" y="5977"/>
                      </a:cubicBezTo>
                      <a:cubicBezTo>
                        <a:pt x="0" y="9275"/>
                        <a:pt x="2679" y="11954"/>
                        <a:pt x="5977" y="11954"/>
                      </a:cubicBezTo>
                      <a:cubicBezTo>
                        <a:pt x="9275" y="11954"/>
                        <a:pt x="11942" y="9275"/>
                        <a:pt x="11942" y="5977"/>
                      </a:cubicBezTo>
                      <a:cubicBezTo>
                        <a:pt x="11942" y="2679"/>
                        <a:pt x="9275" y="0"/>
                        <a:pt x="5977" y="0"/>
                      </a:cubicBezTo>
                      <a:close/>
                    </a:path>
                  </a:pathLst>
                </a:custGeom>
                <a:solidFill>
                  <a:srgbClr val="4949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5" name="Google Shape;2455;p30"/>
              <p:cNvGrpSpPr/>
              <p:nvPr/>
            </p:nvGrpSpPr>
            <p:grpSpPr>
              <a:xfrm>
                <a:off x="4151137" y="2732796"/>
                <a:ext cx="374986" cy="374572"/>
                <a:chOff x="3752358" y="3817349"/>
                <a:chExt cx="346056" cy="345674"/>
              </a:xfrm>
            </p:grpSpPr>
            <p:sp>
              <p:nvSpPr>
                <p:cNvPr id="2456" name="Google Shape;2456;p30"/>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30"/>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30"/>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30"/>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60" name="Google Shape;2460;p30"/>
            <p:cNvGrpSpPr/>
            <p:nvPr/>
          </p:nvGrpSpPr>
          <p:grpSpPr>
            <a:xfrm>
              <a:off x="7034853" y="3222917"/>
              <a:ext cx="956596" cy="944252"/>
              <a:chOff x="4349489" y="2960313"/>
              <a:chExt cx="1098904" cy="1084724"/>
            </a:xfrm>
          </p:grpSpPr>
          <p:grpSp>
            <p:nvGrpSpPr>
              <p:cNvPr id="2461" name="Google Shape;2461;p30"/>
              <p:cNvGrpSpPr/>
              <p:nvPr/>
            </p:nvGrpSpPr>
            <p:grpSpPr>
              <a:xfrm>
                <a:off x="4349489" y="2960313"/>
                <a:ext cx="1098904" cy="1084724"/>
                <a:chOff x="4349489" y="2960313"/>
                <a:chExt cx="1098904" cy="1084724"/>
              </a:xfrm>
            </p:grpSpPr>
            <p:sp>
              <p:nvSpPr>
                <p:cNvPr id="2462" name="Google Shape;2462;p30"/>
                <p:cNvSpPr/>
                <p:nvPr/>
              </p:nvSpPr>
              <p:spPr>
                <a:xfrm>
                  <a:off x="4349489" y="2960313"/>
                  <a:ext cx="1098904" cy="1084724"/>
                </a:xfrm>
                <a:custGeom>
                  <a:avLst/>
                  <a:gdLst/>
                  <a:ahLst/>
                  <a:cxnLst/>
                  <a:rect l="l" t="t" r="r" b="b"/>
                  <a:pathLst>
                    <a:path w="45721" h="45131" extrusionOk="0">
                      <a:moveTo>
                        <a:pt x="22862" y="0"/>
                      </a:moveTo>
                      <a:cubicBezTo>
                        <a:pt x="22092" y="0"/>
                        <a:pt x="21324" y="295"/>
                        <a:pt x="20741" y="884"/>
                      </a:cubicBezTo>
                      <a:lnTo>
                        <a:pt x="12871" y="8743"/>
                      </a:lnTo>
                      <a:cubicBezTo>
                        <a:pt x="12697" y="8917"/>
                        <a:pt x="12470" y="9001"/>
                        <a:pt x="12243" y="9001"/>
                      </a:cubicBezTo>
                      <a:cubicBezTo>
                        <a:pt x="11942" y="9001"/>
                        <a:pt x="11642" y="8854"/>
                        <a:pt x="11466" y="8576"/>
                      </a:cubicBezTo>
                      <a:cubicBezTo>
                        <a:pt x="11014" y="7861"/>
                        <a:pt x="10645" y="7099"/>
                        <a:pt x="10347" y="6302"/>
                      </a:cubicBezTo>
                      <a:cubicBezTo>
                        <a:pt x="10168" y="5814"/>
                        <a:pt x="9847" y="5373"/>
                        <a:pt x="9394" y="5028"/>
                      </a:cubicBezTo>
                      <a:cubicBezTo>
                        <a:pt x="8866" y="4619"/>
                        <a:pt x="8248" y="4413"/>
                        <a:pt x="7630" y="4413"/>
                      </a:cubicBezTo>
                      <a:cubicBezTo>
                        <a:pt x="7078" y="4413"/>
                        <a:pt x="6525" y="4577"/>
                        <a:pt x="6037" y="4909"/>
                      </a:cubicBezTo>
                      <a:cubicBezTo>
                        <a:pt x="4465" y="5968"/>
                        <a:pt x="4310" y="8123"/>
                        <a:pt x="5584" y="9385"/>
                      </a:cubicBezTo>
                      <a:cubicBezTo>
                        <a:pt x="5894" y="9695"/>
                        <a:pt x="6251" y="9921"/>
                        <a:pt x="6632" y="10064"/>
                      </a:cubicBezTo>
                      <a:cubicBezTo>
                        <a:pt x="7418" y="10350"/>
                        <a:pt x="8180" y="10707"/>
                        <a:pt x="8882" y="11159"/>
                      </a:cubicBezTo>
                      <a:cubicBezTo>
                        <a:pt x="9382" y="11469"/>
                        <a:pt x="9466" y="12148"/>
                        <a:pt x="9049" y="12564"/>
                      </a:cubicBezTo>
                      <a:lnTo>
                        <a:pt x="1179" y="20434"/>
                      </a:lnTo>
                      <a:cubicBezTo>
                        <a:pt x="0" y="21613"/>
                        <a:pt x="0" y="23518"/>
                        <a:pt x="1179" y="24697"/>
                      </a:cubicBezTo>
                      <a:lnTo>
                        <a:pt x="20741" y="44247"/>
                      </a:lnTo>
                      <a:cubicBezTo>
                        <a:pt x="21324" y="44836"/>
                        <a:pt x="22092" y="45131"/>
                        <a:pt x="22862" y="45131"/>
                      </a:cubicBezTo>
                      <a:cubicBezTo>
                        <a:pt x="23631" y="45131"/>
                        <a:pt x="24402" y="44836"/>
                        <a:pt x="24992" y="44247"/>
                      </a:cubicBezTo>
                      <a:lnTo>
                        <a:pt x="44554" y="24697"/>
                      </a:lnTo>
                      <a:cubicBezTo>
                        <a:pt x="45720" y="23518"/>
                        <a:pt x="45720" y="21613"/>
                        <a:pt x="44554" y="20434"/>
                      </a:cubicBezTo>
                      <a:lnTo>
                        <a:pt x="24992" y="884"/>
                      </a:lnTo>
                      <a:cubicBezTo>
                        <a:pt x="24402" y="295"/>
                        <a:pt x="23631" y="0"/>
                        <a:pt x="22862" y="0"/>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30"/>
                <p:cNvSpPr/>
                <p:nvPr/>
              </p:nvSpPr>
              <p:spPr>
                <a:xfrm>
                  <a:off x="5065741" y="3026769"/>
                  <a:ext cx="287338" cy="287338"/>
                </a:xfrm>
                <a:custGeom>
                  <a:avLst/>
                  <a:gdLst/>
                  <a:ahLst/>
                  <a:cxnLst/>
                  <a:rect l="l" t="t" r="r" b="b"/>
                  <a:pathLst>
                    <a:path w="11955" h="11955" extrusionOk="0">
                      <a:moveTo>
                        <a:pt x="5978" y="1"/>
                      </a:moveTo>
                      <a:cubicBezTo>
                        <a:pt x="2680" y="1"/>
                        <a:pt x="1" y="2679"/>
                        <a:pt x="1" y="5978"/>
                      </a:cubicBezTo>
                      <a:cubicBezTo>
                        <a:pt x="1" y="9276"/>
                        <a:pt x="2680" y="11954"/>
                        <a:pt x="5978" y="11954"/>
                      </a:cubicBezTo>
                      <a:cubicBezTo>
                        <a:pt x="9276" y="11954"/>
                        <a:pt x="11955" y="9276"/>
                        <a:pt x="11955" y="5978"/>
                      </a:cubicBezTo>
                      <a:cubicBezTo>
                        <a:pt x="11955" y="2679"/>
                        <a:pt x="9276" y="1"/>
                        <a:pt x="5978" y="1"/>
                      </a:cubicBezTo>
                      <a:close/>
                    </a:path>
                  </a:pathLst>
                </a:custGeom>
                <a:solidFill>
                  <a:srgbClr val="FCBD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4" name="Google Shape;2464;p30"/>
              <p:cNvGrpSpPr/>
              <p:nvPr/>
            </p:nvGrpSpPr>
            <p:grpSpPr>
              <a:xfrm>
                <a:off x="4732657" y="3315384"/>
                <a:ext cx="374952" cy="374572"/>
                <a:chOff x="4201447" y="3817349"/>
                <a:chExt cx="346024" cy="345674"/>
              </a:xfrm>
            </p:grpSpPr>
            <p:sp>
              <p:nvSpPr>
                <p:cNvPr id="2465" name="Google Shape;2465;p30"/>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30"/>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67" name="Google Shape;2467;p30"/>
            <p:cNvGrpSpPr/>
            <p:nvPr/>
          </p:nvGrpSpPr>
          <p:grpSpPr>
            <a:xfrm>
              <a:off x="6529419" y="3711909"/>
              <a:ext cx="956596" cy="944315"/>
              <a:chOff x="3768864" y="3522050"/>
              <a:chExt cx="1098904" cy="1084796"/>
            </a:xfrm>
          </p:grpSpPr>
          <p:grpSp>
            <p:nvGrpSpPr>
              <p:cNvPr id="2468" name="Google Shape;2468;p30"/>
              <p:cNvGrpSpPr/>
              <p:nvPr/>
            </p:nvGrpSpPr>
            <p:grpSpPr>
              <a:xfrm>
                <a:off x="3768864" y="3522050"/>
                <a:ext cx="1098904" cy="1084796"/>
                <a:chOff x="3768864" y="3522050"/>
                <a:chExt cx="1098904" cy="1084796"/>
              </a:xfrm>
            </p:grpSpPr>
            <p:sp>
              <p:nvSpPr>
                <p:cNvPr id="2469" name="Google Shape;2469;p30"/>
                <p:cNvSpPr/>
                <p:nvPr/>
              </p:nvSpPr>
              <p:spPr>
                <a:xfrm>
                  <a:off x="3768864" y="3522050"/>
                  <a:ext cx="1098904" cy="1084796"/>
                </a:xfrm>
                <a:custGeom>
                  <a:avLst/>
                  <a:gdLst/>
                  <a:ahLst/>
                  <a:cxnLst/>
                  <a:rect l="l" t="t" r="r" b="b"/>
                  <a:pathLst>
                    <a:path w="45721" h="45134" extrusionOk="0">
                      <a:moveTo>
                        <a:pt x="22862" y="0"/>
                      </a:moveTo>
                      <a:cubicBezTo>
                        <a:pt x="22093" y="0"/>
                        <a:pt x="21325" y="295"/>
                        <a:pt x="20741" y="884"/>
                      </a:cubicBezTo>
                      <a:lnTo>
                        <a:pt x="1179" y="20446"/>
                      </a:lnTo>
                      <a:cubicBezTo>
                        <a:pt x="1" y="21613"/>
                        <a:pt x="1" y="23518"/>
                        <a:pt x="1179" y="24697"/>
                      </a:cubicBezTo>
                      <a:lnTo>
                        <a:pt x="20741" y="44259"/>
                      </a:lnTo>
                      <a:cubicBezTo>
                        <a:pt x="21325" y="44842"/>
                        <a:pt x="22093" y="45134"/>
                        <a:pt x="22862" y="45134"/>
                      </a:cubicBezTo>
                      <a:cubicBezTo>
                        <a:pt x="23631" y="45134"/>
                        <a:pt x="24402" y="44842"/>
                        <a:pt x="24992" y="44259"/>
                      </a:cubicBezTo>
                      <a:lnTo>
                        <a:pt x="44554" y="24697"/>
                      </a:lnTo>
                      <a:cubicBezTo>
                        <a:pt x="45721" y="23518"/>
                        <a:pt x="45721" y="21613"/>
                        <a:pt x="44554" y="20446"/>
                      </a:cubicBezTo>
                      <a:lnTo>
                        <a:pt x="36684" y="12576"/>
                      </a:lnTo>
                      <a:cubicBezTo>
                        <a:pt x="36279" y="12171"/>
                        <a:pt x="36362" y="11481"/>
                        <a:pt x="36850" y="11171"/>
                      </a:cubicBezTo>
                      <a:cubicBezTo>
                        <a:pt x="37565" y="10719"/>
                        <a:pt x="38327" y="10362"/>
                        <a:pt x="39124" y="10052"/>
                      </a:cubicBezTo>
                      <a:cubicBezTo>
                        <a:pt x="39613" y="9874"/>
                        <a:pt x="40053" y="9552"/>
                        <a:pt x="40410" y="9100"/>
                      </a:cubicBezTo>
                      <a:cubicBezTo>
                        <a:pt x="41172" y="8111"/>
                        <a:pt x="41220" y="6778"/>
                        <a:pt x="40518" y="5742"/>
                      </a:cubicBezTo>
                      <a:cubicBezTo>
                        <a:pt x="39931" y="4872"/>
                        <a:pt x="39013" y="4437"/>
                        <a:pt x="38094" y="4437"/>
                      </a:cubicBezTo>
                      <a:cubicBezTo>
                        <a:pt x="37352" y="4437"/>
                        <a:pt x="36610" y="4721"/>
                        <a:pt x="36041" y="5290"/>
                      </a:cubicBezTo>
                      <a:cubicBezTo>
                        <a:pt x="35731" y="5599"/>
                        <a:pt x="35505" y="5956"/>
                        <a:pt x="35362" y="6337"/>
                      </a:cubicBezTo>
                      <a:cubicBezTo>
                        <a:pt x="35076" y="7135"/>
                        <a:pt x="34719" y="7885"/>
                        <a:pt x="34267" y="8588"/>
                      </a:cubicBezTo>
                      <a:cubicBezTo>
                        <a:pt x="34091" y="8872"/>
                        <a:pt x="33796" y="9021"/>
                        <a:pt x="33498" y="9021"/>
                      </a:cubicBezTo>
                      <a:cubicBezTo>
                        <a:pt x="33271" y="9021"/>
                        <a:pt x="33042" y="8934"/>
                        <a:pt x="32862" y="8754"/>
                      </a:cubicBezTo>
                      <a:lnTo>
                        <a:pt x="24992" y="884"/>
                      </a:lnTo>
                      <a:cubicBezTo>
                        <a:pt x="24402" y="295"/>
                        <a:pt x="23631" y="0"/>
                        <a:pt x="22862" y="0"/>
                      </a:cubicBezTo>
                      <a:close/>
                    </a:path>
                  </a:pathLst>
                </a:custGeom>
                <a:solidFill>
                  <a:srgbClr val="EC3A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30"/>
                <p:cNvSpPr/>
                <p:nvPr/>
              </p:nvSpPr>
              <p:spPr>
                <a:xfrm>
                  <a:off x="3887041" y="3641743"/>
                  <a:ext cx="287338" cy="287026"/>
                </a:xfrm>
                <a:custGeom>
                  <a:avLst/>
                  <a:gdLst/>
                  <a:ahLst/>
                  <a:cxnLst/>
                  <a:rect l="l" t="t" r="r" b="b"/>
                  <a:pathLst>
                    <a:path w="11955" h="11942" extrusionOk="0">
                      <a:moveTo>
                        <a:pt x="5978" y="0"/>
                      </a:moveTo>
                      <a:cubicBezTo>
                        <a:pt x="2680" y="0"/>
                        <a:pt x="1" y="2667"/>
                        <a:pt x="1" y="5977"/>
                      </a:cubicBezTo>
                      <a:cubicBezTo>
                        <a:pt x="1" y="9275"/>
                        <a:pt x="2680" y="11942"/>
                        <a:pt x="5978" y="11942"/>
                      </a:cubicBezTo>
                      <a:cubicBezTo>
                        <a:pt x="9276" y="11942"/>
                        <a:pt x="11955" y="9275"/>
                        <a:pt x="11955" y="5977"/>
                      </a:cubicBezTo>
                      <a:cubicBezTo>
                        <a:pt x="11955" y="2667"/>
                        <a:pt x="9276" y="0"/>
                        <a:pt x="5978" y="0"/>
                      </a:cubicBezTo>
                      <a:close/>
                    </a:path>
                  </a:pathLst>
                </a:custGeom>
                <a:solidFill>
                  <a:srgbClr val="EC3A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1" name="Google Shape;2471;p30"/>
              <p:cNvGrpSpPr/>
              <p:nvPr/>
            </p:nvGrpSpPr>
            <p:grpSpPr>
              <a:xfrm>
                <a:off x="4139616" y="3871555"/>
                <a:ext cx="357419" cy="357005"/>
                <a:chOff x="7482229" y="3351230"/>
                <a:chExt cx="357419" cy="357005"/>
              </a:xfrm>
            </p:grpSpPr>
            <p:sp>
              <p:nvSpPr>
                <p:cNvPr id="2472" name="Google Shape;2472;p30"/>
                <p:cNvSpPr/>
                <p:nvPr/>
              </p:nvSpPr>
              <p:spPr>
                <a:xfrm>
                  <a:off x="7482229" y="3351230"/>
                  <a:ext cx="357419" cy="357005"/>
                </a:xfrm>
                <a:custGeom>
                  <a:avLst/>
                  <a:gdLst/>
                  <a:ahLst/>
                  <a:cxnLst/>
                  <a:rect l="l" t="t" r="r" b="b"/>
                  <a:pathLst>
                    <a:path w="11229" h="11216" extrusionOk="0">
                      <a:moveTo>
                        <a:pt x="5633" y="357"/>
                      </a:moveTo>
                      <a:cubicBezTo>
                        <a:pt x="8538" y="357"/>
                        <a:pt x="10883" y="2703"/>
                        <a:pt x="10883" y="5608"/>
                      </a:cubicBezTo>
                      <a:cubicBezTo>
                        <a:pt x="10883" y="8513"/>
                        <a:pt x="8538" y="10859"/>
                        <a:pt x="5633" y="10859"/>
                      </a:cubicBezTo>
                      <a:cubicBezTo>
                        <a:pt x="2728" y="10859"/>
                        <a:pt x="382" y="8513"/>
                        <a:pt x="382" y="5608"/>
                      </a:cubicBezTo>
                      <a:cubicBezTo>
                        <a:pt x="382" y="2703"/>
                        <a:pt x="2728" y="357"/>
                        <a:pt x="5633" y="357"/>
                      </a:cubicBezTo>
                      <a:close/>
                      <a:moveTo>
                        <a:pt x="5621" y="0"/>
                      </a:moveTo>
                      <a:cubicBezTo>
                        <a:pt x="4109" y="0"/>
                        <a:pt x="2716" y="572"/>
                        <a:pt x="1644" y="1631"/>
                      </a:cubicBezTo>
                      <a:cubicBezTo>
                        <a:pt x="584" y="2691"/>
                        <a:pt x="1" y="4108"/>
                        <a:pt x="1" y="5608"/>
                      </a:cubicBezTo>
                      <a:cubicBezTo>
                        <a:pt x="1" y="7108"/>
                        <a:pt x="584" y="8513"/>
                        <a:pt x="1644" y="9585"/>
                      </a:cubicBezTo>
                      <a:cubicBezTo>
                        <a:pt x="2704" y="10632"/>
                        <a:pt x="4109" y="11216"/>
                        <a:pt x="5621" y="11216"/>
                      </a:cubicBezTo>
                      <a:cubicBezTo>
                        <a:pt x="7121" y="11216"/>
                        <a:pt x="8526" y="10632"/>
                        <a:pt x="9597" y="9585"/>
                      </a:cubicBezTo>
                      <a:cubicBezTo>
                        <a:pt x="10645" y="8525"/>
                        <a:pt x="11229" y="7108"/>
                        <a:pt x="11229" y="5608"/>
                      </a:cubicBezTo>
                      <a:cubicBezTo>
                        <a:pt x="11229" y="4108"/>
                        <a:pt x="10669" y="2703"/>
                        <a:pt x="9597" y="1631"/>
                      </a:cubicBezTo>
                      <a:cubicBezTo>
                        <a:pt x="8538" y="572"/>
                        <a:pt x="7121" y="0"/>
                        <a:pt x="56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30"/>
                <p:cNvSpPr/>
                <p:nvPr/>
              </p:nvSpPr>
              <p:spPr>
                <a:xfrm>
                  <a:off x="7592138" y="3605616"/>
                  <a:ext cx="137983" cy="32530"/>
                </a:xfrm>
                <a:custGeom>
                  <a:avLst/>
                  <a:gdLst/>
                  <a:ahLst/>
                  <a:cxnLst/>
                  <a:rect l="l" t="t" r="r" b="b"/>
                  <a:pathLst>
                    <a:path w="4335" h="1022" extrusionOk="0">
                      <a:moveTo>
                        <a:pt x="202" y="1"/>
                      </a:moveTo>
                      <a:cubicBezTo>
                        <a:pt x="147" y="1"/>
                        <a:pt x="94" y="21"/>
                        <a:pt x="60" y="69"/>
                      </a:cubicBezTo>
                      <a:cubicBezTo>
                        <a:pt x="1" y="140"/>
                        <a:pt x="1" y="259"/>
                        <a:pt x="96" y="319"/>
                      </a:cubicBezTo>
                      <a:cubicBezTo>
                        <a:pt x="644" y="783"/>
                        <a:pt x="1370" y="1021"/>
                        <a:pt x="2168" y="1021"/>
                      </a:cubicBezTo>
                      <a:cubicBezTo>
                        <a:pt x="2954" y="1021"/>
                        <a:pt x="3680" y="771"/>
                        <a:pt x="4239" y="319"/>
                      </a:cubicBezTo>
                      <a:cubicBezTo>
                        <a:pt x="4323" y="259"/>
                        <a:pt x="4335" y="140"/>
                        <a:pt x="4263" y="69"/>
                      </a:cubicBezTo>
                      <a:cubicBezTo>
                        <a:pt x="4228" y="26"/>
                        <a:pt x="4170" y="4"/>
                        <a:pt x="4115" y="4"/>
                      </a:cubicBezTo>
                      <a:cubicBezTo>
                        <a:pt x="4078" y="4"/>
                        <a:pt x="4042" y="14"/>
                        <a:pt x="4013" y="33"/>
                      </a:cubicBezTo>
                      <a:cubicBezTo>
                        <a:pt x="3537" y="438"/>
                        <a:pt x="2882" y="664"/>
                        <a:pt x="2168" y="664"/>
                      </a:cubicBezTo>
                      <a:cubicBezTo>
                        <a:pt x="1465" y="664"/>
                        <a:pt x="810" y="438"/>
                        <a:pt x="322" y="33"/>
                      </a:cubicBezTo>
                      <a:cubicBezTo>
                        <a:pt x="286" y="12"/>
                        <a:pt x="244" y="1"/>
                        <a:pt x="2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30"/>
                <p:cNvSpPr/>
                <p:nvPr/>
              </p:nvSpPr>
              <p:spPr>
                <a:xfrm>
                  <a:off x="7513709" y="3387962"/>
                  <a:ext cx="295987" cy="282014"/>
                </a:xfrm>
                <a:custGeom>
                  <a:avLst/>
                  <a:gdLst/>
                  <a:ahLst/>
                  <a:cxnLst/>
                  <a:rect l="l" t="t" r="r" b="b"/>
                  <a:pathLst>
                    <a:path w="9299" h="8860" extrusionOk="0">
                      <a:moveTo>
                        <a:pt x="6060" y="370"/>
                      </a:moveTo>
                      <a:cubicBezTo>
                        <a:pt x="6358" y="370"/>
                        <a:pt x="6596" y="608"/>
                        <a:pt x="6596" y="906"/>
                      </a:cubicBezTo>
                      <a:cubicBezTo>
                        <a:pt x="6596" y="1204"/>
                        <a:pt x="6358" y="1442"/>
                        <a:pt x="6060" y="1442"/>
                      </a:cubicBezTo>
                      <a:cubicBezTo>
                        <a:pt x="5763" y="1442"/>
                        <a:pt x="5525" y="1204"/>
                        <a:pt x="5525" y="906"/>
                      </a:cubicBezTo>
                      <a:cubicBezTo>
                        <a:pt x="5525" y="608"/>
                        <a:pt x="5763" y="370"/>
                        <a:pt x="6060" y="370"/>
                      </a:cubicBezTo>
                      <a:close/>
                      <a:moveTo>
                        <a:pt x="1322" y="2989"/>
                      </a:moveTo>
                      <a:cubicBezTo>
                        <a:pt x="1596" y="2989"/>
                        <a:pt x="1834" y="3097"/>
                        <a:pt x="2012" y="3263"/>
                      </a:cubicBezTo>
                      <a:cubicBezTo>
                        <a:pt x="1477" y="3680"/>
                        <a:pt x="1072" y="4240"/>
                        <a:pt x="881" y="4883"/>
                      </a:cubicBezTo>
                      <a:cubicBezTo>
                        <a:pt x="548" y="4716"/>
                        <a:pt x="334" y="4359"/>
                        <a:pt x="334" y="3990"/>
                      </a:cubicBezTo>
                      <a:cubicBezTo>
                        <a:pt x="334" y="3442"/>
                        <a:pt x="774" y="2989"/>
                        <a:pt x="1322" y="2989"/>
                      </a:cubicBezTo>
                      <a:close/>
                      <a:moveTo>
                        <a:pt x="7954" y="2989"/>
                      </a:moveTo>
                      <a:cubicBezTo>
                        <a:pt x="8501" y="2989"/>
                        <a:pt x="8942" y="3442"/>
                        <a:pt x="8942" y="3990"/>
                      </a:cubicBezTo>
                      <a:cubicBezTo>
                        <a:pt x="8966" y="4359"/>
                        <a:pt x="8739" y="4704"/>
                        <a:pt x="8394" y="4883"/>
                      </a:cubicBezTo>
                      <a:cubicBezTo>
                        <a:pt x="8216" y="4240"/>
                        <a:pt x="7811" y="3680"/>
                        <a:pt x="7263" y="3263"/>
                      </a:cubicBezTo>
                      <a:cubicBezTo>
                        <a:pt x="7442" y="3085"/>
                        <a:pt x="7692" y="2989"/>
                        <a:pt x="7954" y="2989"/>
                      </a:cubicBezTo>
                      <a:close/>
                      <a:moveTo>
                        <a:pt x="6072" y="1"/>
                      </a:moveTo>
                      <a:cubicBezTo>
                        <a:pt x="5632" y="1"/>
                        <a:pt x="5251" y="334"/>
                        <a:pt x="5191" y="763"/>
                      </a:cubicBezTo>
                      <a:lnTo>
                        <a:pt x="4596" y="953"/>
                      </a:lnTo>
                      <a:cubicBezTo>
                        <a:pt x="4525" y="989"/>
                        <a:pt x="4477" y="1049"/>
                        <a:pt x="4477" y="1120"/>
                      </a:cubicBezTo>
                      <a:lnTo>
                        <a:pt x="4477" y="2370"/>
                      </a:lnTo>
                      <a:cubicBezTo>
                        <a:pt x="3679" y="2394"/>
                        <a:pt x="2929" y="2632"/>
                        <a:pt x="2334" y="3025"/>
                      </a:cubicBezTo>
                      <a:cubicBezTo>
                        <a:pt x="2084" y="2751"/>
                        <a:pt x="1727" y="2608"/>
                        <a:pt x="1358" y="2608"/>
                      </a:cubicBezTo>
                      <a:cubicBezTo>
                        <a:pt x="607" y="2608"/>
                        <a:pt x="0" y="3216"/>
                        <a:pt x="0" y="3966"/>
                      </a:cubicBezTo>
                      <a:cubicBezTo>
                        <a:pt x="0" y="4513"/>
                        <a:pt x="345" y="5002"/>
                        <a:pt x="834" y="5216"/>
                      </a:cubicBezTo>
                      <a:cubicBezTo>
                        <a:pt x="822" y="5347"/>
                        <a:pt x="798" y="5478"/>
                        <a:pt x="798" y="5609"/>
                      </a:cubicBezTo>
                      <a:cubicBezTo>
                        <a:pt x="798" y="7395"/>
                        <a:pt x="2524" y="8859"/>
                        <a:pt x="4667" y="8859"/>
                      </a:cubicBezTo>
                      <a:cubicBezTo>
                        <a:pt x="5763" y="8859"/>
                        <a:pt x="6739" y="8490"/>
                        <a:pt x="7442" y="7871"/>
                      </a:cubicBezTo>
                      <a:cubicBezTo>
                        <a:pt x="7513" y="7811"/>
                        <a:pt x="7513" y="7692"/>
                        <a:pt x="7454" y="7621"/>
                      </a:cubicBezTo>
                      <a:cubicBezTo>
                        <a:pt x="7421" y="7588"/>
                        <a:pt x="7374" y="7570"/>
                        <a:pt x="7326" y="7570"/>
                      </a:cubicBezTo>
                      <a:cubicBezTo>
                        <a:pt x="7287" y="7570"/>
                        <a:pt x="7248" y="7582"/>
                        <a:pt x="7215" y="7609"/>
                      </a:cubicBezTo>
                      <a:cubicBezTo>
                        <a:pt x="6572" y="8157"/>
                        <a:pt x="5668" y="8514"/>
                        <a:pt x="4667" y="8514"/>
                      </a:cubicBezTo>
                      <a:cubicBezTo>
                        <a:pt x="2739" y="8514"/>
                        <a:pt x="1167" y="7216"/>
                        <a:pt x="1167" y="5633"/>
                      </a:cubicBezTo>
                      <a:cubicBezTo>
                        <a:pt x="1167" y="4037"/>
                        <a:pt x="2739" y="2739"/>
                        <a:pt x="4667" y="2739"/>
                      </a:cubicBezTo>
                      <a:cubicBezTo>
                        <a:pt x="6608" y="2739"/>
                        <a:pt x="8180" y="4037"/>
                        <a:pt x="8180" y="5633"/>
                      </a:cubicBezTo>
                      <a:cubicBezTo>
                        <a:pt x="8180" y="6133"/>
                        <a:pt x="8037" y="6597"/>
                        <a:pt x="7751" y="7014"/>
                      </a:cubicBezTo>
                      <a:cubicBezTo>
                        <a:pt x="7704" y="7085"/>
                        <a:pt x="7727" y="7169"/>
                        <a:pt x="7787" y="7228"/>
                      </a:cubicBezTo>
                      <a:cubicBezTo>
                        <a:pt x="7818" y="7264"/>
                        <a:pt x="7859" y="7280"/>
                        <a:pt x="7902" y="7280"/>
                      </a:cubicBezTo>
                      <a:cubicBezTo>
                        <a:pt x="7958" y="7280"/>
                        <a:pt x="8015" y="7252"/>
                        <a:pt x="8049" y="7204"/>
                      </a:cubicBezTo>
                      <a:cubicBezTo>
                        <a:pt x="8358" y="6740"/>
                        <a:pt x="8537" y="6192"/>
                        <a:pt x="8537" y="5621"/>
                      </a:cubicBezTo>
                      <a:cubicBezTo>
                        <a:pt x="8537" y="5490"/>
                        <a:pt x="8525" y="5359"/>
                        <a:pt x="8513" y="5228"/>
                      </a:cubicBezTo>
                      <a:cubicBezTo>
                        <a:pt x="8978" y="5014"/>
                        <a:pt x="9299" y="4525"/>
                        <a:pt x="9299" y="3978"/>
                      </a:cubicBezTo>
                      <a:cubicBezTo>
                        <a:pt x="9299" y="3228"/>
                        <a:pt x="8692" y="2620"/>
                        <a:pt x="7954" y="2620"/>
                      </a:cubicBezTo>
                      <a:cubicBezTo>
                        <a:pt x="7573" y="2620"/>
                        <a:pt x="7215" y="2775"/>
                        <a:pt x="6965" y="3037"/>
                      </a:cubicBezTo>
                      <a:cubicBezTo>
                        <a:pt x="6358" y="2656"/>
                        <a:pt x="5632" y="2406"/>
                        <a:pt x="4822" y="2382"/>
                      </a:cubicBezTo>
                      <a:lnTo>
                        <a:pt x="4822" y="1263"/>
                      </a:lnTo>
                      <a:lnTo>
                        <a:pt x="5215" y="1132"/>
                      </a:lnTo>
                      <a:cubicBezTo>
                        <a:pt x="5303" y="1507"/>
                        <a:pt x="5647" y="1780"/>
                        <a:pt x="6048" y="1780"/>
                      </a:cubicBezTo>
                      <a:cubicBezTo>
                        <a:pt x="6080" y="1780"/>
                        <a:pt x="6112" y="1779"/>
                        <a:pt x="6144" y="1775"/>
                      </a:cubicBezTo>
                      <a:cubicBezTo>
                        <a:pt x="6584" y="1727"/>
                        <a:pt x="6918" y="1382"/>
                        <a:pt x="6953" y="953"/>
                      </a:cubicBezTo>
                      <a:cubicBezTo>
                        <a:pt x="6977" y="430"/>
                        <a:pt x="6584" y="1"/>
                        <a:pt x="60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30"/>
                <p:cNvSpPr/>
                <p:nvPr/>
              </p:nvSpPr>
              <p:spPr>
                <a:xfrm>
                  <a:off x="7580393" y="3516460"/>
                  <a:ext cx="56880" cy="56880"/>
                </a:xfrm>
                <a:custGeom>
                  <a:avLst/>
                  <a:gdLst/>
                  <a:ahLst/>
                  <a:cxnLst/>
                  <a:rect l="l" t="t" r="r" b="b"/>
                  <a:pathLst>
                    <a:path w="1787" h="1787" extrusionOk="0">
                      <a:moveTo>
                        <a:pt x="894" y="345"/>
                      </a:moveTo>
                      <a:cubicBezTo>
                        <a:pt x="1191" y="345"/>
                        <a:pt x="1429" y="584"/>
                        <a:pt x="1429" y="881"/>
                      </a:cubicBezTo>
                      <a:cubicBezTo>
                        <a:pt x="1418" y="1179"/>
                        <a:pt x="1179" y="1417"/>
                        <a:pt x="894" y="1417"/>
                      </a:cubicBezTo>
                      <a:cubicBezTo>
                        <a:pt x="596" y="1417"/>
                        <a:pt x="358" y="1179"/>
                        <a:pt x="358" y="881"/>
                      </a:cubicBezTo>
                      <a:cubicBezTo>
                        <a:pt x="358" y="584"/>
                        <a:pt x="596" y="345"/>
                        <a:pt x="894" y="345"/>
                      </a:cubicBezTo>
                      <a:close/>
                      <a:moveTo>
                        <a:pt x="894" y="0"/>
                      </a:moveTo>
                      <a:cubicBezTo>
                        <a:pt x="406" y="0"/>
                        <a:pt x="1" y="405"/>
                        <a:pt x="1" y="893"/>
                      </a:cubicBezTo>
                      <a:cubicBezTo>
                        <a:pt x="1" y="1381"/>
                        <a:pt x="406" y="1786"/>
                        <a:pt x="894" y="1786"/>
                      </a:cubicBezTo>
                      <a:cubicBezTo>
                        <a:pt x="1394" y="1786"/>
                        <a:pt x="1787" y="1381"/>
                        <a:pt x="1787" y="893"/>
                      </a:cubicBezTo>
                      <a:cubicBezTo>
                        <a:pt x="1775" y="405"/>
                        <a:pt x="1394" y="0"/>
                        <a:pt x="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30"/>
                <p:cNvSpPr/>
                <p:nvPr/>
              </p:nvSpPr>
              <p:spPr>
                <a:xfrm>
                  <a:off x="7685750" y="3516460"/>
                  <a:ext cx="56880" cy="56880"/>
                </a:xfrm>
                <a:custGeom>
                  <a:avLst/>
                  <a:gdLst/>
                  <a:ahLst/>
                  <a:cxnLst/>
                  <a:rect l="l" t="t" r="r" b="b"/>
                  <a:pathLst>
                    <a:path w="1787" h="1787" extrusionOk="0">
                      <a:moveTo>
                        <a:pt x="894" y="345"/>
                      </a:moveTo>
                      <a:cubicBezTo>
                        <a:pt x="1191" y="345"/>
                        <a:pt x="1429" y="584"/>
                        <a:pt x="1429" y="881"/>
                      </a:cubicBezTo>
                      <a:cubicBezTo>
                        <a:pt x="1429" y="1179"/>
                        <a:pt x="1191" y="1417"/>
                        <a:pt x="894" y="1417"/>
                      </a:cubicBezTo>
                      <a:cubicBezTo>
                        <a:pt x="596" y="1417"/>
                        <a:pt x="358" y="1179"/>
                        <a:pt x="358" y="881"/>
                      </a:cubicBezTo>
                      <a:cubicBezTo>
                        <a:pt x="358" y="584"/>
                        <a:pt x="596" y="345"/>
                        <a:pt x="894" y="345"/>
                      </a:cubicBezTo>
                      <a:close/>
                      <a:moveTo>
                        <a:pt x="894" y="0"/>
                      </a:moveTo>
                      <a:cubicBezTo>
                        <a:pt x="405" y="0"/>
                        <a:pt x="1" y="405"/>
                        <a:pt x="1" y="893"/>
                      </a:cubicBezTo>
                      <a:cubicBezTo>
                        <a:pt x="1" y="1381"/>
                        <a:pt x="405" y="1786"/>
                        <a:pt x="894" y="1786"/>
                      </a:cubicBezTo>
                      <a:cubicBezTo>
                        <a:pt x="1382" y="1786"/>
                        <a:pt x="1787" y="1381"/>
                        <a:pt x="1787" y="893"/>
                      </a:cubicBezTo>
                      <a:cubicBezTo>
                        <a:pt x="1775" y="405"/>
                        <a:pt x="1382" y="0"/>
                        <a:pt x="89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3" name="Google Shape;181;p17">
            <a:extLst>
              <a:ext uri="{FF2B5EF4-FFF2-40B4-BE49-F238E27FC236}">
                <a16:creationId xmlns:a16="http://schemas.microsoft.com/office/drawing/2014/main" id="{288679A5-E30A-D305-F944-E16A0B954C85}"/>
              </a:ext>
            </a:extLst>
          </p:cNvPr>
          <p:cNvSpPr txBox="1"/>
          <p:nvPr/>
        </p:nvSpPr>
        <p:spPr>
          <a:xfrm>
            <a:off x="1479791" y="2881996"/>
            <a:ext cx="5790264" cy="583294"/>
          </a:xfrm>
          <a:prstGeom prst="rect">
            <a:avLst/>
          </a:prstGeom>
          <a:noFill/>
          <a:ln>
            <a:noFill/>
          </a:ln>
        </p:spPr>
        <p:txBody>
          <a:bodyPr spcFirstLastPara="1" wrap="square" lIns="91425" tIns="91425" rIns="91425" bIns="91425" anchor="t" anchorCtr="0">
            <a:noAutofit/>
          </a:bodyPr>
          <a:lstStyle/>
          <a:p>
            <a:pPr marL="15240" lvl="0" algn="l" rtl="0">
              <a:spcBef>
                <a:spcPts val="0"/>
              </a:spcBef>
              <a:spcAft>
                <a:spcPts val="0"/>
              </a:spcAft>
              <a:buClr>
                <a:schemeClr val="dk1"/>
              </a:buClr>
              <a:buSzPts val="1200"/>
            </a:pPr>
            <a:r>
              <a:rPr lang="en-US">
                <a:solidFill>
                  <a:schemeClr val="bg1"/>
                </a:solidFill>
                <a:latin typeface="Montserrat Medium"/>
                <a:ea typeface="Montserrat Medium"/>
                <a:cs typeface="Montserrat Medium"/>
                <a:sym typeface="Montserrat Medium"/>
              </a:rPr>
              <a:t>CS504</a:t>
            </a:r>
          </a:p>
          <a:p>
            <a:pPr marL="15240" lvl="0" algn="l" rtl="0">
              <a:spcBef>
                <a:spcPts val="0"/>
              </a:spcBef>
              <a:spcAft>
                <a:spcPts val="0"/>
              </a:spcAft>
              <a:buClr>
                <a:schemeClr val="dk1"/>
              </a:buClr>
              <a:buSzPts val="1200"/>
            </a:pPr>
            <a:r>
              <a:rPr lang="en-US">
                <a:solidFill>
                  <a:schemeClr val="bg1"/>
                </a:solidFill>
                <a:latin typeface="Montserrat Medium"/>
                <a:ea typeface="Montserrat Medium"/>
                <a:cs typeface="Montserrat Medium"/>
                <a:sym typeface="Montserrat Medium"/>
              </a:rPr>
              <a:t>Thao - Duy</a:t>
            </a:r>
          </a:p>
        </p:txBody>
      </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ybersecurity Consulting Report Infographics by Slidesgo">
  <a:themeElements>
    <a:clrScheme name="Simple Light">
      <a:dk1>
        <a:srgbClr val="000000"/>
      </a:dk1>
      <a:lt1>
        <a:srgbClr val="FFFFFF"/>
      </a:lt1>
      <a:dk2>
        <a:srgbClr val="F7B800"/>
      </a:dk2>
      <a:lt2>
        <a:srgbClr val="00BE83"/>
      </a:lt2>
      <a:accent1>
        <a:srgbClr val="00ACF1"/>
      </a:accent1>
      <a:accent2>
        <a:srgbClr val="FC2929"/>
      </a:accent2>
      <a:accent3>
        <a:srgbClr val="0765A5"/>
      </a:accent3>
      <a:accent4>
        <a:srgbClr val="F3F3F3"/>
      </a:accent4>
      <a:accent5>
        <a:srgbClr val="7D37C5"/>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15</Slides>
  <Notes>15</Notes>
  <HiddenSlides>0</HiddenSlide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Cybersecurity Consulting Report Infographics by Slidesgo</vt:lpstr>
      <vt:lpstr>Slidesgo Final Pages</vt:lpstr>
      <vt:lpstr>Multi-Factor Authentication System  CS504_01_IN Software Engineering</vt:lpstr>
      <vt:lpstr>Table of Contents</vt:lpstr>
      <vt:lpstr>1. Architecture: Folder Structure </vt:lpstr>
      <vt:lpstr>1. Architecture: Application Overview</vt:lpstr>
      <vt:lpstr>2. Core Flow: Registration</vt:lpstr>
      <vt:lpstr>2. Core Flow: Login &amp; Logout</vt:lpstr>
      <vt:lpstr>PowerPoint Presentation</vt:lpstr>
      <vt:lpstr>PowerPoint Presentation</vt:lpstr>
      <vt:lpstr>4. Second Factor: Registration</vt:lpstr>
      <vt:lpstr>4. Second Factor: Login (PIN)</vt:lpstr>
      <vt:lpstr>5. Session Management</vt:lpstr>
      <vt:lpstr>5. Future Work</vt:lpstr>
      <vt:lpstr>6. Live Demo</vt:lpstr>
      <vt:lpstr>6. Results</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2026-09-08T19:25:16Z</dcterms:modified>
</cp:coreProperties>
</file>